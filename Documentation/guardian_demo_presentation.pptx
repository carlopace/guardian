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1"/>
  </p:notesMasterIdLst>
  <p:sldIdLst>
    <p:sldId id="306" r:id="rId5"/>
    <p:sldId id="329" r:id="rId6"/>
    <p:sldId id="455" r:id="rId7"/>
    <p:sldId id="456" r:id="rId8"/>
    <p:sldId id="469" r:id="rId9"/>
    <p:sldId id="457" r:id="rId10"/>
    <p:sldId id="477" r:id="rId11"/>
    <p:sldId id="478" r:id="rId12"/>
    <p:sldId id="486" r:id="rId13"/>
    <p:sldId id="479" r:id="rId14"/>
    <p:sldId id="481" r:id="rId15"/>
    <p:sldId id="468" r:id="rId16"/>
    <p:sldId id="458" r:id="rId17"/>
    <p:sldId id="460" r:id="rId18"/>
    <p:sldId id="459" r:id="rId19"/>
    <p:sldId id="461" r:id="rId20"/>
    <p:sldId id="463" r:id="rId21"/>
    <p:sldId id="464" r:id="rId22"/>
    <p:sldId id="491" r:id="rId23"/>
    <p:sldId id="492" r:id="rId24"/>
    <p:sldId id="465" r:id="rId25"/>
    <p:sldId id="485" r:id="rId26"/>
    <p:sldId id="487" r:id="rId27"/>
    <p:sldId id="473" r:id="rId28"/>
    <p:sldId id="484" r:id="rId29"/>
    <p:sldId id="475" r:id="rId30"/>
    <p:sldId id="482" r:id="rId31"/>
    <p:sldId id="476" r:id="rId32"/>
    <p:sldId id="483" r:id="rId33"/>
    <p:sldId id="472" r:id="rId34"/>
    <p:sldId id="466" r:id="rId35"/>
    <p:sldId id="489" r:id="rId36"/>
    <p:sldId id="490" r:id="rId37"/>
    <p:sldId id="470" r:id="rId38"/>
    <p:sldId id="493" r:id="rId39"/>
    <p:sldId id="474" r:id="rId40"/>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8C92DB0-7AB8-ECF6-FC8B-D1F2404AC073}" name="Carlo Pio Pace" initials="CP" userId="S::c.pace10@studenti.unipi.it::79049575-c06a-4924-a3e9-fcc7ed5445d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B03610"/>
    <a:srgbClr val="16A65E"/>
    <a:srgbClr val="1546D1"/>
    <a:srgbClr val="CD4603"/>
    <a:srgbClr val="714D13"/>
    <a:srgbClr val="45275D"/>
    <a:srgbClr val="151E6F"/>
    <a:srgbClr val="D67F00"/>
    <a:srgbClr val="6E1D8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4BFE51-75E2-4492-B733-6F1C3B82D43D}" v="180" dt="2026-02-22T00:15:31.832"/>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Stile chiaro 3 - Colore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D27102A9-8310-4765-A935-A1911B00CA55}" styleName="Stile chiaro 1 - Colore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7292A2E-F333-43FB-9621-5CBBE7FDCDCB}" styleName="Stile chiaro 2 - Colore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113A9D2-9D6B-4929-AA2D-F23B5EE8CBE7}" styleName="Stile con tema 2 - Colore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1E4AEA4-8DFA-4A89-87EB-49C32662AFE0}" styleName="Stile medio 2 - Color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75DCB02-9BB8-47FD-8907-85C794F793BA}" styleName="Stile con tema 1 - Colore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essuno stile, nessuna grigli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47"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ln>
                  <a:solidFill>
                    <a:schemeClr val="bg1"/>
                  </a:solidFill>
                </a:ln>
                <a:solidFill>
                  <a:schemeClr val="bg1"/>
                </a:solidFill>
                <a:latin typeface="Alata" pitchFamily="2" charset="0"/>
                <a:ea typeface="+mn-ea"/>
                <a:cs typeface="Alata" pitchFamily="2" charset="0"/>
              </a:defRPr>
            </a:pPr>
            <a:r>
              <a:rPr lang="en-US" dirty="0">
                <a:ln>
                  <a:solidFill>
                    <a:schemeClr val="bg1"/>
                  </a:solidFill>
                </a:ln>
                <a:solidFill>
                  <a:schemeClr val="bg1"/>
                </a:solidFill>
                <a:latin typeface="Alata" pitchFamily="2" charset="0"/>
                <a:cs typeface="Alata" pitchFamily="2" charset="0"/>
              </a:rPr>
              <a:t>Every 1000 Cases (Childs)</a:t>
            </a:r>
          </a:p>
        </c:rich>
      </c:tx>
      <c:overlay val="0"/>
      <c:spPr>
        <a:noFill/>
        <a:ln>
          <a:noFill/>
        </a:ln>
        <a:effectLst/>
      </c:spPr>
      <c:txPr>
        <a:bodyPr rot="0" spcFirstLastPara="1" vertOverflow="ellipsis" vert="horz" wrap="square" anchor="ctr" anchorCtr="1"/>
        <a:lstStyle/>
        <a:p>
          <a:pPr>
            <a:defRPr sz="2200" b="1" i="0" u="none" strike="noStrike" kern="1200" baseline="0">
              <a:ln>
                <a:solidFill>
                  <a:schemeClr val="bg1"/>
                </a:solidFill>
              </a:ln>
              <a:solidFill>
                <a:schemeClr val="bg1"/>
              </a:solidFill>
              <a:latin typeface="Alata" pitchFamily="2" charset="0"/>
              <a:ea typeface="+mn-ea"/>
              <a:cs typeface="Alata" pitchFamily="2" charset="0"/>
            </a:defRPr>
          </a:pPr>
          <a:endParaRPr lang="it-IT"/>
        </a:p>
      </c:txPr>
    </c:title>
    <c:autoTitleDeleted val="0"/>
    <c:plotArea>
      <c:layout/>
      <c:pieChart>
        <c:varyColors val="1"/>
        <c:dLbls>
          <c:dLblPos val="ctr"/>
          <c:showLegendKey val="0"/>
          <c:showVal val="0"/>
          <c:showCatName val="0"/>
          <c:showSerName val="0"/>
          <c:showPercent val="1"/>
          <c:showBubbleSize val="0"/>
          <c:showLeaderLines val="0"/>
        </c:dLbls>
        <c:firstSliceAng val="0"/>
      </c:pieChart>
      <c:spPr>
        <a:noFill/>
        <a:ln>
          <a:noFill/>
        </a:ln>
        <a:effectLst/>
      </c:spPr>
    </c:plotArea>
    <c:legend>
      <c:legendPos val="r"/>
      <c:overlay val="0"/>
      <c:spPr>
        <a:solidFill>
          <a:srgbClr val="0C394E">
            <a:alpha val="39000"/>
          </a:srgbClr>
        </a:solidFill>
        <a:ln>
          <a:noFill/>
        </a:ln>
        <a:effectLst/>
      </c:spPr>
      <c:txPr>
        <a:bodyPr rot="0" spcFirstLastPara="1" vertOverflow="ellipsis" vert="horz" wrap="square" anchor="ctr" anchorCtr="1"/>
        <a:lstStyle/>
        <a:p>
          <a:pPr>
            <a:defRPr sz="1600" b="0" i="0" u="none" strike="noStrike" kern="1200" baseline="0">
              <a:solidFill>
                <a:schemeClr val="bg1"/>
              </a:solidFill>
              <a:latin typeface="+mn-lt"/>
              <a:ea typeface="+mn-ea"/>
              <a:cs typeface="+mn-cs"/>
            </a:defRPr>
          </a:pPr>
          <a:endParaRPr lang="it-IT"/>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it-IT"/>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solidFill>
                  <a:schemeClr val="bg1"/>
                </a:solidFill>
              </a:rPr>
              <a:t>Yolo v26</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it-IT"/>
        </a:p>
      </c:txPr>
    </c:title>
    <c:autoTitleDeleted val="0"/>
    <c:plotArea>
      <c:layout>
        <c:manualLayout>
          <c:layoutTarget val="inner"/>
          <c:xMode val="edge"/>
          <c:yMode val="edge"/>
          <c:x val="8.6740853795486697E-2"/>
          <c:y val="0.15925647787635755"/>
          <c:w val="0.88983509691498086"/>
          <c:h val="0.74313062620933301"/>
        </c:manualLayout>
      </c:layout>
      <c:barChart>
        <c:barDir val="col"/>
        <c:grouping val="clustered"/>
        <c:varyColors val="0"/>
        <c:ser>
          <c:idx val="0"/>
          <c:order val="0"/>
          <c:tx>
            <c:strRef>
              <c:f>Foglio1!$B$1</c:f>
              <c:strCache>
                <c:ptCount val="1"/>
                <c:pt idx="0">
                  <c:v>Serie 1</c:v>
                </c:pt>
              </c:strCache>
            </c:strRef>
          </c:tx>
          <c:spPr>
            <a:solidFill>
              <a:schemeClr val="accent1"/>
            </a:solidFill>
            <a:ln>
              <a:noFill/>
            </a:ln>
            <a:effectLst/>
          </c:spPr>
          <c:invertIfNegative val="0"/>
          <c:dPt>
            <c:idx val="1"/>
            <c:invertIfNegative val="0"/>
            <c:bubble3D val="0"/>
            <c:spPr>
              <a:solidFill>
                <a:srgbClr val="16A65E"/>
              </a:solidFill>
              <a:ln>
                <a:noFill/>
              </a:ln>
              <a:effectLst/>
            </c:spPr>
            <c:extLst>
              <c:ext xmlns:c16="http://schemas.microsoft.com/office/drawing/2014/chart" uri="{C3380CC4-5D6E-409C-BE32-E72D297353CC}">
                <c16:uniqueId val="{00000003-8AF1-4FFB-87D9-97218444CB5A}"/>
              </c:ext>
            </c:extLst>
          </c:dPt>
          <c:dPt>
            <c:idx val="2"/>
            <c:invertIfNegative val="0"/>
            <c:bubble3D val="0"/>
            <c:spPr>
              <a:solidFill>
                <a:srgbClr val="FF9900"/>
              </a:solidFill>
              <a:ln>
                <a:noFill/>
              </a:ln>
              <a:effectLst/>
            </c:spPr>
            <c:extLst>
              <c:ext xmlns:c16="http://schemas.microsoft.com/office/drawing/2014/chart" uri="{C3380CC4-5D6E-409C-BE32-E72D297353CC}">
                <c16:uniqueId val="{00000004-8AF1-4FFB-87D9-97218444CB5A}"/>
              </c:ext>
            </c:extLst>
          </c:dPt>
          <c:dLbls>
            <c:dLbl>
              <c:idx val="0"/>
              <c:layout>
                <c:manualLayout>
                  <c:x val="-2.1455391875130295E-3"/>
                  <c:y val="-2.3653644656803974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AF1-4FFB-87D9-97218444CB5A}"/>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errBars>
            <c:errBarType val="both"/>
            <c:errValType val="cust"/>
            <c:noEndCap val="0"/>
            <c:plus>
              <c:numRef>
                <c:f>Foglio1!$C$2:$C$4</c:f>
                <c:numCache>
                  <c:formatCode>General</c:formatCode>
                  <c:ptCount val="3"/>
                  <c:pt idx="0">
                    <c:v>1.6000000000000001E-3</c:v>
                  </c:pt>
                  <c:pt idx="1">
                    <c:v>5.5999999999999999E-3</c:v>
                  </c:pt>
                  <c:pt idx="2">
                    <c:v>0.1177</c:v>
                  </c:pt>
                </c:numCache>
              </c:numRef>
            </c:plus>
            <c:minus>
              <c:numRef>
                <c:f>Foglio1!$C$2:$C$4</c:f>
                <c:numCache>
                  <c:formatCode>General</c:formatCode>
                  <c:ptCount val="3"/>
                  <c:pt idx="0">
                    <c:v>1.6000000000000001E-3</c:v>
                  </c:pt>
                  <c:pt idx="1">
                    <c:v>5.5999999999999999E-3</c:v>
                  </c:pt>
                  <c:pt idx="2">
                    <c:v>0.1177</c:v>
                  </c:pt>
                </c:numCache>
              </c:numRef>
            </c:minus>
            <c:spPr>
              <a:noFill/>
              <a:ln w="15875" cap="flat" cmpd="sng" algn="ctr">
                <a:solidFill>
                  <a:srgbClr val="FF0000"/>
                </a:solidFill>
                <a:round/>
              </a:ln>
              <a:effectLst/>
            </c:spPr>
          </c:errBars>
          <c:cat>
            <c:strRef>
              <c:f>Foglio1!$A$2:$A$4</c:f>
              <c:strCache>
                <c:ptCount val="3"/>
                <c:pt idx="0">
                  <c:v>Nano 480</c:v>
                </c:pt>
                <c:pt idx="1">
                  <c:v>Nano 640</c:v>
                </c:pt>
                <c:pt idx="2">
                  <c:v>Small 640</c:v>
                </c:pt>
              </c:strCache>
            </c:strRef>
          </c:cat>
          <c:val>
            <c:numRef>
              <c:f>Foglio1!$B$2:$B$4</c:f>
              <c:numCache>
                <c:formatCode>0.0000</c:formatCode>
                <c:ptCount val="3"/>
                <c:pt idx="0">
                  <c:v>0.80479999999999996</c:v>
                </c:pt>
                <c:pt idx="1">
                  <c:v>1.4342999999999999</c:v>
                </c:pt>
                <c:pt idx="2">
                  <c:v>5.2359</c:v>
                </c:pt>
              </c:numCache>
            </c:numRef>
          </c:val>
          <c:extLst>
            <c:ext xmlns:c16="http://schemas.microsoft.com/office/drawing/2014/chart" uri="{C3380CC4-5D6E-409C-BE32-E72D297353CC}">
              <c16:uniqueId val="{00000000-8AF1-4FFB-87D9-97218444CB5A}"/>
            </c:ext>
          </c:extLst>
        </c:ser>
        <c:dLbls>
          <c:showLegendKey val="0"/>
          <c:showVal val="0"/>
          <c:showCatName val="0"/>
          <c:showSerName val="0"/>
          <c:showPercent val="0"/>
          <c:showBubbleSize val="0"/>
        </c:dLbls>
        <c:gapWidth val="219"/>
        <c:overlap val="-27"/>
        <c:axId val="1335684384"/>
        <c:axId val="1335683904"/>
      </c:barChart>
      <c:catAx>
        <c:axId val="13356843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it-IT"/>
          </a:p>
        </c:txPr>
        <c:crossAx val="1335683904"/>
        <c:crosses val="autoZero"/>
        <c:auto val="1"/>
        <c:lblAlgn val="ctr"/>
        <c:lblOffset val="100"/>
        <c:noMultiLvlLbl val="0"/>
      </c:catAx>
      <c:valAx>
        <c:axId val="133568390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it-IT" sz="1400" dirty="0">
                    <a:solidFill>
                      <a:schemeClr val="bg1"/>
                    </a:solidFill>
                  </a:rPr>
                  <a:t>Time[s]</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it-IT"/>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it-IT"/>
          </a:p>
        </c:txPr>
        <c:crossAx val="13356843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it-IT"/>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6740853795486697E-2"/>
          <c:y val="0.15925647787635755"/>
          <c:w val="0.88983509691498086"/>
          <c:h val="0.74313062620933301"/>
        </c:manualLayout>
      </c:layout>
      <c:barChart>
        <c:barDir val="col"/>
        <c:grouping val="clustered"/>
        <c:varyColors val="0"/>
        <c:ser>
          <c:idx val="0"/>
          <c:order val="0"/>
          <c:tx>
            <c:strRef>
              <c:f>Foglio1!$B$1</c:f>
              <c:strCache>
                <c:ptCount val="1"/>
                <c:pt idx="0">
                  <c:v>Serie 1</c:v>
                </c:pt>
              </c:strCache>
            </c:strRef>
          </c:tx>
          <c:spPr>
            <a:solidFill>
              <a:schemeClr val="accent1"/>
            </a:solidFill>
            <a:ln>
              <a:noFill/>
            </a:ln>
            <a:effectLst/>
          </c:spPr>
          <c:invertIfNegative val="0"/>
          <c:dPt>
            <c:idx val="1"/>
            <c:invertIfNegative val="0"/>
            <c:bubble3D val="0"/>
            <c:spPr>
              <a:solidFill>
                <a:srgbClr val="16A65E"/>
              </a:solidFill>
              <a:ln>
                <a:noFill/>
              </a:ln>
              <a:effectLst/>
            </c:spPr>
            <c:extLst>
              <c:ext xmlns:c16="http://schemas.microsoft.com/office/drawing/2014/chart" uri="{C3380CC4-5D6E-409C-BE32-E72D297353CC}">
                <c16:uniqueId val="{00000001-EB63-418A-B8CE-C808DEF95F03}"/>
              </c:ext>
            </c:extLst>
          </c:dPt>
          <c:dPt>
            <c:idx val="2"/>
            <c:invertIfNegative val="0"/>
            <c:bubble3D val="0"/>
            <c:spPr>
              <a:solidFill>
                <a:srgbClr val="FF9900"/>
              </a:solidFill>
              <a:ln>
                <a:noFill/>
              </a:ln>
              <a:effectLst/>
            </c:spPr>
            <c:extLst>
              <c:ext xmlns:c16="http://schemas.microsoft.com/office/drawing/2014/chart" uri="{C3380CC4-5D6E-409C-BE32-E72D297353CC}">
                <c16:uniqueId val="{00000003-EB63-418A-B8CE-C808DEF95F03}"/>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errBars>
            <c:errBarType val="both"/>
            <c:errValType val="cust"/>
            <c:noEndCap val="0"/>
            <c:plus>
              <c:numRef>
                <c:f>Foglio1!$C$2:$C$4</c:f>
                <c:numCache>
                  <c:formatCode>General</c:formatCode>
                  <c:ptCount val="3"/>
                  <c:pt idx="0">
                    <c:v>3.0000000000000001E-3</c:v>
                  </c:pt>
                  <c:pt idx="1">
                    <c:v>5.0000000000000001E-3</c:v>
                  </c:pt>
                  <c:pt idx="2">
                    <c:v>1E-3</c:v>
                  </c:pt>
                </c:numCache>
              </c:numRef>
            </c:plus>
            <c:minus>
              <c:numRef>
                <c:f>Foglio1!$C$2:$C$4</c:f>
                <c:numCache>
                  <c:formatCode>General</c:formatCode>
                  <c:ptCount val="3"/>
                  <c:pt idx="0">
                    <c:v>3.0000000000000001E-3</c:v>
                  </c:pt>
                  <c:pt idx="1">
                    <c:v>5.0000000000000001E-3</c:v>
                  </c:pt>
                  <c:pt idx="2">
                    <c:v>1E-3</c:v>
                  </c:pt>
                </c:numCache>
              </c:numRef>
            </c:minus>
            <c:spPr>
              <a:noFill/>
              <a:ln w="15875" cap="flat" cmpd="sng" algn="ctr">
                <a:solidFill>
                  <a:srgbClr val="FF0000"/>
                </a:solidFill>
                <a:round/>
              </a:ln>
              <a:effectLst/>
            </c:spPr>
          </c:errBars>
          <c:cat>
            <c:strRef>
              <c:f>Foglio1!$A$2:$A$4</c:f>
              <c:strCache>
                <c:ptCount val="3"/>
                <c:pt idx="0">
                  <c:v>MFCC+SVM</c:v>
                </c:pt>
                <c:pt idx="1">
                  <c:v>CNN+Spectrogram</c:v>
                </c:pt>
                <c:pt idx="2">
                  <c:v>YAMNet</c:v>
                </c:pt>
              </c:strCache>
            </c:strRef>
          </c:cat>
          <c:val>
            <c:numRef>
              <c:f>Foglio1!$B$2:$B$4</c:f>
              <c:numCache>
                <c:formatCode>0.0000</c:formatCode>
                <c:ptCount val="3"/>
                <c:pt idx="0">
                  <c:v>1.7500000000000002E-2</c:v>
                </c:pt>
                <c:pt idx="1">
                  <c:v>2.06E-2</c:v>
                </c:pt>
                <c:pt idx="2">
                  <c:v>0.02</c:v>
                </c:pt>
              </c:numCache>
            </c:numRef>
          </c:val>
          <c:extLst>
            <c:ext xmlns:c16="http://schemas.microsoft.com/office/drawing/2014/chart" uri="{C3380CC4-5D6E-409C-BE32-E72D297353CC}">
              <c16:uniqueId val="{00000004-EB63-418A-B8CE-C808DEF95F03}"/>
            </c:ext>
          </c:extLst>
        </c:ser>
        <c:dLbls>
          <c:showLegendKey val="0"/>
          <c:showVal val="0"/>
          <c:showCatName val="0"/>
          <c:showSerName val="0"/>
          <c:showPercent val="0"/>
          <c:showBubbleSize val="0"/>
        </c:dLbls>
        <c:gapWidth val="219"/>
        <c:overlap val="-27"/>
        <c:axId val="1335684384"/>
        <c:axId val="1335683904"/>
      </c:barChart>
      <c:catAx>
        <c:axId val="13356843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it-IT"/>
          </a:p>
        </c:txPr>
        <c:crossAx val="1335683904"/>
        <c:crosses val="autoZero"/>
        <c:auto val="1"/>
        <c:lblAlgn val="ctr"/>
        <c:lblOffset val="100"/>
        <c:noMultiLvlLbl val="0"/>
      </c:catAx>
      <c:valAx>
        <c:axId val="133568390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it-IT" sz="1400" dirty="0">
                    <a:solidFill>
                      <a:schemeClr val="bg1"/>
                    </a:solidFill>
                  </a:rPr>
                  <a:t>Time[s]</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it-IT"/>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it-IT"/>
          </a:p>
        </c:txPr>
        <c:crossAx val="13356843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it-IT"/>
    </a:p>
  </c:txPr>
  <c:externalData r:id="rId3">
    <c:autoUpdate val="0"/>
  </c:externalData>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dirty="0"/>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A4167C-8FB5-4778-A652-FF57352FF4B3}" type="datetimeFigureOut">
              <a:rPr lang="it-IT" smtClean="0"/>
              <a:t>23/02/2026</a:t>
            </a:fld>
            <a:endParaRPr lang="it-IT" dirty="0"/>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dirty="0"/>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dirty="0"/>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818FBD-5721-459D-96E2-9D7F07CD3101}" type="slidenum">
              <a:rPr lang="it-IT" smtClean="0"/>
              <a:t>‹N›</a:t>
            </a:fld>
            <a:endParaRPr lang="it-IT" dirty="0"/>
          </a:p>
        </p:txBody>
      </p:sp>
    </p:spTree>
    <p:extLst>
      <p:ext uri="{BB962C8B-B14F-4D97-AF65-F5344CB8AC3E}">
        <p14:creationId xmlns:p14="http://schemas.microsoft.com/office/powerpoint/2010/main" val="2077108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96818FBD-5721-459D-96E2-9D7F07CD3101}" type="slidenum">
              <a:rPr lang="it-IT" smtClean="0"/>
              <a:t>32</a:t>
            </a:fld>
            <a:endParaRPr lang="it-IT" dirty="0"/>
          </a:p>
        </p:txBody>
      </p:sp>
    </p:spTree>
    <p:extLst>
      <p:ext uri="{BB962C8B-B14F-4D97-AF65-F5344CB8AC3E}">
        <p14:creationId xmlns:p14="http://schemas.microsoft.com/office/powerpoint/2010/main" val="35907350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bg>
      <p:bgPr>
        <a:solidFill>
          <a:srgbClr val="FFFFFF"/>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5EBE6FD-7CF7-EDF7-F0C4-A1FD4F6D3069}"/>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EC4EC7C1-D795-D942-274A-C725334558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4D6D4AA1-EB81-F4FC-6D1C-61DA06EEC3AC}"/>
              </a:ext>
            </a:extLst>
          </p:cNvPr>
          <p:cNvSpPr>
            <a:spLocks noGrp="1"/>
          </p:cNvSpPr>
          <p:nvPr>
            <p:ph type="dt" sz="half" idx="10"/>
          </p:nvPr>
        </p:nvSpPr>
        <p:spPr/>
        <p:txBody>
          <a:bodyPr/>
          <a:lstStyle/>
          <a:p>
            <a:fld id="{39547221-024F-431C-B18E-3D58212B95C4}" type="datetimeFigureOut">
              <a:rPr lang="it-IT" smtClean="0"/>
              <a:t>23/02/2026</a:t>
            </a:fld>
            <a:endParaRPr lang="it-IT" dirty="0"/>
          </a:p>
        </p:txBody>
      </p:sp>
      <p:sp>
        <p:nvSpPr>
          <p:cNvPr id="5" name="Segnaposto piè di pagina 4">
            <a:extLst>
              <a:ext uri="{FF2B5EF4-FFF2-40B4-BE49-F238E27FC236}">
                <a16:creationId xmlns:a16="http://schemas.microsoft.com/office/drawing/2014/main" id="{6EAED5CC-E819-3ED1-647D-168867829C1C}"/>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6EA40F0C-C527-56BE-93F4-FD5F02D654A3}"/>
              </a:ext>
            </a:extLst>
          </p:cNvPr>
          <p:cNvSpPr>
            <a:spLocks noGrp="1"/>
          </p:cNvSpPr>
          <p:nvPr>
            <p:ph type="sldNum" sz="quarter" idx="12"/>
          </p:nvPr>
        </p:nvSpPr>
        <p:spPr/>
        <p:txBody>
          <a:bodyPr/>
          <a:lstStyle/>
          <a:p>
            <a:fld id="{5D02EF7F-A04C-40CA-8D1F-1EB53543C8C4}" type="slidenum">
              <a:rPr lang="it-IT" smtClean="0"/>
              <a:t>‹N›</a:t>
            </a:fld>
            <a:endParaRPr lang="it-IT" dirty="0"/>
          </a:p>
        </p:txBody>
      </p:sp>
    </p:spTree>
    <p:extLst>
      <p:ext uri="{BB962C8B-B14F-4D97-AF65-F5344CB8AC3E}">
        <p14:creationId xmlns:p14="http://schemas.microsoft.com/office/powerpoint/2010/main" val="5206289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bg>
      <p:bgPr>
        <a:solidFill>
          <a:srgbClr val="FFFFFF"/>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C4DD8DC-2017-F728-CC73-9D62E1C3F635}"/>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AA48058D-E79E-948E-ABFD-BEEE3C7E1A1D}"/>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35D55DB-43FB-AD6F-30E9-A1A024B03AB6}"/>
              </a:ext>
            </a:extLst>
          </p:cNvPr>
          <p:cNvSpPr>
            <a:spLocks noGrp="1"/>
          </p:cNvSpPr>
          <p:nvPr>
            <p:ph type="dt" sz="half" idx="10"/>
          </p:nvPr>
        </p:nvSpPr>
        <p:spPr/>
        <p:txBody>
          <a:bodyPr/>
          <a:lstStyle/>
          <a:p>
            <a:fld id="{39547221-024F-431C-B18E-3D58212B95C4}" type="datetimeFigureOut">
              <a:rPr lang="it-IT" smtClean="0"/>
              <a:t>23/02/2026</a:t>
            </a:fld>
            <a:endParaRPr lang="it-IT" dirty="0"/>
          </a:p>
        </p:txBody>
      </p:sp>
      <p:sp>
        <p:nvSpPr>
          <p:cNvPr id="5" name="Segnaposto piè di pagina 4">
            <a:extLst>
              <a:ext uri="{FF2B5EF4-FFF2-40B4-BE49-F238E27FC236}">
                <a16:creationId xmlns:a16="http://schemas.microsoft.com/office/drawing/2014/main" id="{473C62D0-6D8E-34E4-AD92-9FD1DE2D2C62}"/>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CD2CCBBA-3BD4-1E20-B554-4B1DB1DBDB64}"/>
              </a:ext>
            </a:extLst>
          </p:cNvPr>
          <p:cNvSpPr>
            <a:spLocks noGrp="1"/>
          </p:cNvSpPr>
          <p:nvPr>
            <p:ph type="sldNum" sz="quarter" idx="12"/>
          </p:nvPr>
        </p:nvSpPr>
        <p:spPr/>
        <p:txBody>
          <a:bodyPr/>
          <a:lstStyle/>
          <a:p>
            <a:fld id="{5D02EF7F-A04C-40CA-8D1F-1EB53543C8C4}" type="slidenum">
              <a:rPr lang="it-IT" smtClean="0"/>
              <a:t>‹N›</a:t>
            </a:fld>
            <a:endParaRPr lang="it-IT" dirty="0"/>
          </a:p>
        </p:txBody>
      </p:sp>
    </p:spTree>
    <p:extLst>
      <p:ext uri="{BB962C8B-B14F-4D97-AF65-F5344CB8AC3E}">
        <p14:creationId xmlns:p14="http://schemas.microsoft.com/office/powerpoint/2010/main" val="3426021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bg>
      <p:bgPr>
        <a:solidFill>
          <a:srgbClr val="FFFFFF"/>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55A0E32-E9D9-F54F-5BDF-0A02F76FFED0}"/>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653E429A-47C7-6E7C-4E17-AEAB0603B2A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BF4DB83B-4B8A-650D-36CB-A0A8A037CF27}"/>
              </a:ext>
            </a:extLst>
          </p:cNvPr>
          <p:cNvSpPr>
            <a:spLocks noGrp="1"/>
          </p:cNvSpPr>
          <p:nvPr>
            <p:ph type="dt" sz="half" idx="10"/>
          </p:nvPr>
        </p:nvSpPr>
        <p:spPr/>
        <p:txBody>
          <a:bodyPr/>
          <a:lstStyle/>
          <a:p>
            <a:fld id="{39547221-024F-431C-B18E-3D58212B95C4}" type="datetimeFigureOut">
              <a:rPr lang="it-IT" smtClean="0"/>
              <a:t>23/02/2026</a:t>
            </a:fld>
            <a:endParaRPr lang="it-IT" dirty="0"/>
          </a:p>
        </p:txBody>
      </p:sp>
      <p:sp>
        <p:nvSpPr>
          <p:cNvPr id="5" name="Segnaposto piè di pagina 4">
            <a:extLst>
              <a:ext uri="{FF2B5EF4-FFF2-40B4-BE49-F238E27FC236}">
                <a16:creationId xmlns:a16="http://schemas.microsoft.com/office/drawing/2014/main" id="{4B503FF9-C41F-FA04-C45B-2C298731BB5D}"/>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BBEF6736-F757-9322-9454-71BD0BE7CB1C}"/>
              </a:ext>
            </a:extLst>
          </p:cNvPr>
          <p:cNvSpPr>
            <a:spLocks noGrp="1"/>
          </p:cNvSpPr>
          <p:nvPr>
            <p:ph type="sldNum" sz="quarter" idx="12"/>
          </p:nvPr>
        </p:nvSpPr>
        <p:spPr/>
        <p:txBody>
          <a:bodyPr/>
          <a:lstStyle/>
          <a:p>
            <a:fld id="{5D02EF7F-A04C-40CA-8D1F-1EB53543C8C4}" type="slidenum">
              <a:rPr lang="it-IT" smtClean="0"/>
              <a:t>‹N›</a:t>
            </a:fld>
            <a:endParaRPr lang="it-IT" dirty="0"/>
          </a:p>
        </p:txBody>
      </p:sp>
    </p:spTree>
    <p:extLst>
      <p:ext uri="{BB962C8B-B14F-4D97-AF65-F5344CB8AC3E}">
        <p14:creationId xmlns:p14="http://schemas.microsoft.com/office/powerpoint/2010/main" val="32821783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bg>
      <p:bgPr>
        <a:solidFill>
          <a:srgbClr val="FFFFFF"/>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2E04AA6-D17E-C556-0C4F-989EC1DF04BB}"/>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428C86E3-4D4B-0AC4-3921-14906DB19B70}"/>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715F6D00-9BB1-FAB7-B8A4-F024C32B00BA}"/>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397A46A7-7E59-1A6E-E004-D4171F550733}"/>
              </a:ext>
            </a:extLst>
          </p:cNvPr>
          <p:cNvSpPr>
            <a:spLocks noGrp="1"/>
          </p:cNvSpPr>
          <p:nvPr>
            <p:ph type="dt" sz="half" idx="10"/>
          </p:nvPr>
        </p:nvSpPr>
        <p:spPr/>
        <p:txBody>
          <a:bodyPr/>
          <a:lstStyle/>
          <a:p>
            <a:fld id="{39547221-024F-431C-B18E-3D58212B95C4}" type="datetimeFigureOut">
              <a:rPr lang="it-IT" smtClean="0"/>
              <a:t>23/02/2026</a:t>
            </a:fld>
            <a:endParaRPr lang="it-IT" dirty="0"/>
          </a:p>
        </p:txBody>
      </p:sp>
      <p:sp>
        <p:nvSpPr>
          <p:cNvPr id="6" name="Segnaposto piè di pagina 5">
            <a:extLst>
              <a:ext uri="{FF2B5EF4-FFF2-40B4-BE49-F238E27FC236}">
                <a16:creationId xmlns:a16="http://schemas.microsoft.com/office/drawing/2014/main" id="{CA9F9598-2B37-5A4E-6320-0768204D6998}"/>
              </a:ext>
            </a:extLst>
          </p:cNvPr>
          <p:cNvSpPr>
            <a:spLocks noGrp="1"/>
          </p:cNvSpPr>
          <p:nvPr>
            <p:ph type="ftr" sz="quarter" idx="11"/>
          </p:nvPr>
        </p:nvSpPr>
        <p:spPr/>
        <p:txBody>
          <a:bodyPr/>
          <a:lstStyle/>
          <a:p>
            <a:endParaRPr lang="it-IT" dirty="0"/>
          </a:p>
        </p:txBody>
      </p:sp>
      <p:sp>
        <p:nvSpPr>
          <p:cNvPr id="7" name="Segnaposto numero diapositiva 6">
            <a:extLst>
              <a:ext uri="{FF2B5EF4-FFF2-40B4-BE49-F238E27FC236}">
                <a16:creationId xmlns:a16="http://schemas.microsoft.com/office/drawing/2014/main" id="{107A6D2D-8A78-7BB1-44FF-7DD44F95CF47}"/>
              </a:ext>
            </a:extLst>
          </p:cNvPr>
          <p:cNvSpPr>
            <a:spLocks noGrp="1"/>
          </p:cNvSpPr>
          <p:nvPr>
            <p:ph type="sldNum" sz="quarter" idx="12"/>
          </p:nvPr>
        </p:nvSpPr>
        <p:spPr/>
        <p:txBody>
          <a:bodyPr/>
          <a:lstStyle/>
          <a:p>
            <a:fld id="{5D02EF7F-A04C-40CA-8D1F-1EB53543C8C4}" type="slidenum">
              <a:rPr lang="it-IT" smtClean="0"/>
              <a:t>‹N›</a:t>
            </a:fld>
            <a:endParaRPr lang="it-IT" dirty="0"/>
          </a:p>
        </p:txBody>
      </p:sp>
    </p:spTree>
    <p:extLst>
      <p:ext uri="{BB962C8B-B14F-4D97-AF65-F5344CB8AC3E}">
        <p14:creationId xmlns:p14="http://schemas.microsoft.com/office/powerpoint/2010/main" val="11413951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bg>
      <p:bgPr>
        <a:solidFill>
          <a:srgbClr val="FFFFFF"/>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59AE394-2057-1A23-C024-986F5354F4D0}"/>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3B80D6FB-63B1-1586-1315-4A9FD2C29C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FC0F4AF4-5602-7143-CE7B-34830DDBAC5C}"/>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225994EC-A37F-A74E-35DA-CE5AC3D0BC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C6B2A781-7F4A-954B-CFF1-FBAC41C2C73B}"/>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60F10764-701B-4E33-41E1-5783A739032D}"/>
              </a:ext>
            </a:extLst>
          </p:cNvPr>
          <p:cNvSpPr>
            <a:spLocks noGrp="1"/>
          </p:cNvSpPr>
          <p:nvPr>
            <p:ph type="dt" sz="half" idx="10"/>
          </p:nvPr>
        </p:nvSpPr>
        <p:spPr/>
        <p:txBody>
          <a:bodyPr/>
          <a:lstStyle/>
          <a:p>
            <a:fld id="{39547221-024F-431C-B18E-3D58212B95C4}" type="datetimeFigureOut">
              <a:rPr lang="it-IT" smtClean="0"/>
              <a:t>23/02/2026</a:t>
            </a:fld>
            <a:endParaRPr lang="it-IT" dirty="0"/>
          </a:p>
        </p:txBody>
      </p:sp>
      <p:sp>
        <p:nvSpPr>
          <p:cNvPr id="8" name="Segnaposto piè di pagina 7">
            <a:extLst>
              <a:ext uri="{FF2B5EF4-FFF2-40B4-BE49-F238E27FC236}">
                <a16:creationId xmlns:a16="http://schemas.microsoft.com/office/drawing/2014/main" id="{2FD7D01C-866B-4A1D-3046-3B666D7E1B05}"/>
              </a:ext>
            </a:extLst>
          </p:cNvPr>
          <p:cNvSpPr>
            <a:spLocks noGrp="1"/>
          </p:cNvSpPr>
          <p:nvPr>
            <p:ph type="ftr" sz="quarter" idx="11"/>
          </p:nvPr>
        </p:nvSpPr>
        <p:spPr/>
        <p:txBody>
          <a:bodyPr/>
          <a:lstStyle/>
          <a:p>
            <a:endParaRPr lang="it-IT" dirty="0"/>
          </a:p>
        </p:txBody>
      </p:sp>
      <p:sp>
        <p:nvSpPr>
          <p:cNvPr id="9" name="Segnaposto numero diapositiva 8">
            <a:extLst>
              <a:ext uri="{FF2B5EF4-FFF2-40B4-BE49-F238E27FC236}">
                <a16:creationId xmlns:a16="http://schemas.microsoft.com/office/drawing/2014/main" id="{D853DF37-C7D1-10AA-1773-A289C3B37032}"/>
              </a:ext>
            </a:extLst>
          </p:cNvPr>
          <p:cNvSpPr>
            <a:spLocks noGrp="1"/>
          </p:cNvSpPr>
          <p:nvPr>
            <p:ph type="sldNum" sz="quarter" idx="12"/>
          </p:nvPr>
        </p:nvSpPr>
        <p:spPr/>
        <p:txBody>
          <a:bodyPr/>
          <a:lstStyle/>
          <a:p>
            <a:fld id="{5D02EF7F-A04C-40CA-8D1F-1EB53543C8C4}" type="slidenum">
              <a:rPr lang="it-IT" smtClean="0"/>
              <a:t>‹N›</a:t>
            </a:fld>
            <a:endParaRPr lang="it-IT" dirty="0"/>
          </a:p>
        </p:txBody>
      </p:sp>
    </p:spTree>
    <p:extLst>
      <p:ext uri="{BB962C8B-B14F-4D97-AF65-F5344CB8AC3E}">
        <p14:creationId xmlns:p14="http://schemas.microsoft.com/office/powerpoint/2010/main" val="2096274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bg>
      <p:bgPr>
        <a:solidFill>
          <a:srgbClr val="FFFFFF"/>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2406DD1-9239-8F5E-D78B-764425D3AAAE}"/>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40AF33DA-2820-183D-8B61-21DFE0D57B11}"/>
              </a:ext>
            </a:extLst>
          </p:cNvPr>
          <p:cNvSpPr>
            <a:spLocks noGrp="1"/>
          </p:cNvSpPr>
          <p:nvPr>
            <p:ph type="dt" sz="half" idx="10"/>
          </p:nvPr>
        </p:nvSpPr>
        <p:spPr/>
        <p:txBody>
          <a:bodyPr/>
          <a:lstStyle/>
          <a:p>
            <a:fld id="{39547221-024F-431C-B18E-3D58212B95C4}" type="datetimeFigureOut">
              <a:rPr lang="it-IT" smtClean="0"/>
              <a:t>23/02/2026</a:t>
            </a:fld>
            <a:endParaRPr lang="it-IT" dirty="0"/>
          </a:p>
        </p:txBody>
      </p:sp>
      <p:sp>
        <p:nvSpPr>
          <p:cNvPr id="4" name="Segnaposto piè di pagina 3">
            <a:extLst>
              <a:ext uri="{FF2B5EF4-FFF2-40B4-BE49-F238E27FC236}">
                <a16:creationId xmlns:a16="http://schemas.microsoft.com/office/drawing/2014/main" id="{D5B7B90F-CA78-3CC6-0023-F1EAECF50922}"/>
              </a:ext>
            </a:extLst>
          </p:cNvPr>
          <p:cNvSpPr>
            <a:spLocks noGrp="1"/>
          </p:cNvSpPr>
          <p:nvPr>
            <p:ph type="ftr" sz="quarter" idx="11"/>
          </p:nvPr>
        </p:nvSpPr>
        <p:spPr/>
        <p:txBody>
          <a:bodyPr/>
          <a:lstStyle/>
          <a:p>
            <a:endParaRPr lang="it-IT" dirty="0"/>
          </a:p>
        </p:txBody>
      </p:sp>
      <p:sp>
        <p:nvSpPr>
          <p:cNvPr id="5" name="Segnaposto numero diapositiva 4">
            <a:extLst>
              <a:ext uri="{FF2B5EF4-FFF2-40B4-BE49-F238E27FC236}">
                <a16:creationId xmlns:a16="http://schemas.microsoft.com/office/drawing/2014/main" id="{AD0A8018-C549-7ACA-DB76-8608E9B18D65}"/>
              </a:ext>
            </a:extLst>
          </p:cNvPr>
          <p:cNvSpPr>
            <a:spLocks noGrp="1"/>
          </p:cNvSpPr>
          <p:nvPr>
            <p:ph type="sldNum" sz="quarter" idx="12"/>
          </p:nvPr>
        </p:nvSpPr>
        <p:spPr/>
        <p:txBody>
          <a:bodyPr/>
          <a:lstStyle/>
          <a:p>
            <a:fld id="{5D02EF7F-A04C-40CA-8D1F-1EB53543C8C4}" type="slidenum">
              <a:rPr lang="it-IT" smtClean="0"/>
              <a:t>‹N›</a:t>
            </a:fld>
            <a:endParaRPr lang="it-IT" dirty="0"/>
          </a:p>
        </p:txBody>
      </p:sp>
    </p:spTree>
    <p:extLst>
      <p:ext uri="{BB962C8B-B14F-4D97-AF65-F5344CB8AC3E}">
        <p14:creationId xmlns:p14="http://schemas.microsoft.com/office/powerpoint/2010/main" val="2066186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bg>
      <p:bgPr>
        <a:solidFill>
          <a:srgbClr val="FFFFFF"/>
        </a:solidFill>
        <a:effectLst/>
      </p:bgPr>
    </p:bg>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54C2FCF3-3AFC-D624-6163-1E57E5C46C5B}"/>
              </a:ext>
            </a:extLst>
          </p:cNvPr>
          <p:cNvSpPr>
            <a:spLocks noGrp="1"/>
          </p:cNvSpPr>
          <p:nvPr>
            <p:ph type="dt" sz="half" idx="10"/>
          </p:nvPr>
        </p:nvSpPr>
        <p:spPr/>
        <p:txBody>
          <a:bodyPr/>
          <a:lstStyle/>
          <a:p>
            <a:fld id="{39547221-024F-431C-B18E-3D58212B95C4}" type="datetimeFigureOut">
              <a:rPr lang="it-IT" smtClean="0"/>
              <a:t>23/02/2026</a:t>
            </a:fld>
            <a:endParaRPr lang="it-IT" dirty="0"/>
          </a:p>
        </p:txBody>
      </p:sp>
      <p:sp>
        <p:nvSpPr>
          <p:cNvPr id="3" name="Segnaposto piè di pagina 2">
            <a:extLst>
              <a:ext uri="{FF2B5EF4-FFF2-40B4-BE49-F238E27FC236}">
                <a16:creationId xmlns:a16="http://schemas.microsoft.com/office/drawing/2014/main" id="{3D898D11-5505-DCD0-D484-19646613583C}"/>
              </a:ext>
            </a:extLst>
          </p:cNvPr>
          <p:cNvSpPr>
            <a:spLocks noGrp="1"/>
          </p:cNvSpPr>
          <p:nvPr>
            <p:ph type="ftr" sz="quarter" idx="11"/>
          </p:nvPr>
        </p:nvSpPr>
        <p:spPr/>
        <p:txBody>
          <a:bodyPr/>
          <a:lstStyle/>
          <a:p>
            <a:endParaRPr lang="it-IT" dirty="0"/>
          </a:p>
        </p:txBody>
      </p:sp>
      <p:sp>
        <p:nvSpPr>
          <p:cNvPr id="4" name="Segnaposto numero diapositiva 3">
            <a:extLst>
              <a:ext uri="{FF2B5EF4-FFF2-40B4-BE49-F238E27FC236}">
                <a16:creationId xmlns:a16="http://schemas.microsoft.com/office/drawing/2014/main" id="{2B33255E-52F8-6106-F626-F2CEF2AA7505}"/>
              </a:ext>
            </a:extLst>
          </p:cNvPr>
          <p:cNvSpPr>
            <a:spLocks noGrp="1"/>
          </p:cNvSpPr>
          <p:nvPr>
            <p:ph type="sldNum" sz="quarter" idx="12"/>
          </p:nvPr>
        </p:nvSpPr>
        <p:spPr/>
        <p:txBody>
          <a:bodyPr/>
          <a:lstStyle/>
          <a:p>
            <a:fld id="{5D02EF7F-A04C-40CA-8D1F-1EB53543C8C4}" type="slidenum">
              <a:rPr lang="it-IT" smtClean="0"/>
              <a:t>‹N›</a:t>
            </a:fld>
            <a:endParaRPr lang="it-IT" dirty="0"/>
          </a:p>
        </p:txBody>
      </p:sp>
    </p:spTree>
    <p:extLst>
      <p:ext uri="{BB962C8B-B14F-4D97-AF65-F5344CB8AC3E}">
        <p14:creationId xmlns:p14="http://schemas.microsoft.com/office/powerpoint/2010/main" val="1895034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bg>
      <p:bgPr>
        <a:solidFill>
          <a:srgbClr val="FFFFFF"/>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FD4EE73-CC02-F5B6-10E0-6CE95EFAA793}"/>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9BB0DC73-BDAE-C15D-EFE1-BFE3BBF85D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456D2712-5712-84B4-A88E-D8B142F0F8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A1931094-D5A8-5D7A-4EE1-C72CAF8F7F02}"/>
              </a:ext>
            </a:extLst>
          </p:cNvPr>
          <p:cNvSpPr>
            <a:spLocks noGrp="1"/>
          </p:cNvSpPr>
          <p:nvPr>
            <p:ph type="dt" sz="half" idx="10"/>
          </p:nvPr>
        </p:nvSpPr>
        <p:spPr/>
        <p:txBody>
          <a:bodyPr/>
          <a:lstStyle/>
          <a:p>
            <a:fld id="{39547221-024F-431C-B18E-3D58212B95C4}" type="datetimeFigureOut">
              <a:rPr lang="it-IT" smtClean="0"/>
              <a:t>23/02/2026</a:t>
            </a:fld>
            <a:endParaRPr lang="it-IT" dirty="0"/>
          </a:p>
        </p:txBody>
      </p:sp>
      <p:sp>
        <p:nvSpPr>
          <p:cNvPr id="6" name="Segnaposto piè di pagina 5">
            <a:extLst>
              <a:ext uri="{FF2B5EF4-FFF2-40B4-BE49-F238E27FC236}">
                <a16:creationId xmlns:a16="http://schemas.microsoft.com/office/drawing/2014/main" id="{04C6D8AC-9B3B-4195-7E42-4408FFE19773}"/>
              </a:ext>
            </a:extLst>
          </p:cNvPr>
          <p:cNvSpPr>
            <a:spLocks noGrp="1"/>
          </p:cNvSpPr>
          <p:nvPr>
            <p:ph type="ftr" sz="quarter" idx="11"/>
          </p:nvPr>
        </p:nvSpPr>
        <p:spPr/>
        <p:txBody>
          <a:bodyPr/>
          <a:lstStyle/>
          <a:p>
            <a:endParaRPr lang="it-IT" dirty="0"/>
          </a:p>
        </p:txBody>
      </p:sp>
      <p:sp>
        <p:nvSpPr>
          <p:cNvPr id="7" name="Segnaposto numero diapositiva 6">
            <a:extLst>
              <a:ext uri="{FF2B5EF4-FFF2-40B4-BE49-F238E27FC236}">
                <a16:creationId xmlns:a16="http://schemas.microsoft.com/office/drawing/2014/main" id="{E7EC1248-4F0F-CEB7-F5BC-2CD860CD96C5}"/>
              </a:ext>
            </a:extLst>
          </p:cNvPr>
          <p:cNvSpPr>
            <a:spLocks noGrp="1"/>
          </p:cNvSpPr>
          <p:nvPr>
            <p:ph type="sldNum" sz="quarter" idx="12"/>
          </p:nvPr>
        </p:nvSpPr>
        <p:spPr/>
        <p:txBody>
          <a:bodyPr/>
          <a:lstStyle/>
          <a:p>
            <a:fld id="{5D02EF7F-A04C-40CA-8D1F-1EB53543C8C4}" type="slidenum">
              <a:rPr lang="it-IT" smtClean="0"/>
              <a:t>‹N›</a:t>
            </a:fld>
            <a:endParaRPr lang="it-IT" dirty="0"/>
          </a:p>
        </p:txBody>
      </p:sp>
    </p:spTree>
    <p:extLst>
      <p:ext uri="{BB962C8B-B14F-4D97-AF65-F5344CB8AC3E}">
        <p14:creationId xmlns:p14="http://schemas.microsoft.com/office/powerpoint/2010/main" val="3453794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bg>
      <p:bgPr>
        <a:solidFill>
          <a:srgbClr val="FFFFFF"/>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EBCD71A-19F9-A42B-22F4-B550A054C687}"/>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F3F8C0EE-445C-E788-217D-B4BBD31C85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dirty="0"/>
              <a:t>Fare clic sull'icona per inserire un'immagine</a:t>
            </a:r>
          </a:p>
        </p:txBody>
      </p:sp>
      <p:sp>
        <p:nvSpPr>
          <p:cNvPr id="4" name="Segnaposto testo 3">
            <a:extLst>
              <a:ext uri="{FF2B5EF4-FFF2-40B4-BE49-F238E27FC236}">
                <a16:creationId xmlns:a16="http://schemas.microsoft.com/office/drawing/2014/main" id="{78BB5D26-7559-3595-127C-D24459AC57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91682EBA-5591-E7F0-1768-76CB1F44A983}"/>
              </a:ext>
            </a:extLst>
          </p:cNvPr>
          <p:cNvSpPr>
            <a:spLocks noGrp="1"/>
          </p:cNvSpPr>
          <p:nvPr>
            <p:ph type="dt" sz="half" idx="10"/>
          </p:nvPr>
        </p:nvSpPr>
        <p:spPr/>
        <p:txBody>
          <a:bodyPr/>
          <a:lstStyle/>
          <a:p>
            <a:fld id="{39547221-024F-431C-B18E-3D58212B95C4}" type="datetimeFigureOut">
              <a:rPr lang="it-IT" smtClean="0"/>
              <a:t>23/02/2026</a:t>
            </a:fld>
            <a:endParaRPr lang="it-IT" dirty="0"/>
          </a:p>
        </p:txBody>
      </p:sp>
      <p:sp>
        <p:nvSpPr>
          <p:cNvPr id="6" name="Segnaposto piè di pagina 5">
            <a:extLst>
              <a:ext uri="{FF2B5EF4-FFF2-40B4-BE49-F238E27FC236}">
                <a16:creationId xmlns:a16="http://schemas.microsoft.com/office/drawing/2014/main" id="{D7345AB9-3610-038B-13AA-2A632768F28A}"/>
              </a:ext>
            </a:extLst>
          </p:cNvPr>
          <p:cNvSpPr>
            <a:spLocks noGrp="1"/>
          </p:cNvSpPr>
          <p:nvPr>
            <p:ph type="ftr" sz="quarter" idx="11"/>
          </p:nvPr>
        </p:nvSpPr>
        <p:spPr/>
        <p:txBody>
          <a:bodyPr/>
          <a:lstStyle/>
          <a:p>
            <a:endParaRPr lang="it-IT" dirty="0"/>
          </a:p>
        </p:txBody>
      </p:sp>
      <p:sp>
        <p:nvSpPr>
          <p:cNvPr id="7" name="Segnaposto numero diapositiva 6">
            <a:extLst>
              <a:ext uri="{FF2B5EF4-FFF2-40B4-BE49-F238E27FC236}">
                <a16:creationId xmlns:a16="http://schemas.microsoft.com/office/drawing/2014/main" id="{6B367B2D-F89A-DB59-CABD-51B50FCB4327}"/>
              </a:ext>
            </a:extLst>
          </p:cNvPr>
          <p:cNvSpPr>
            <a:spLocks noGrp="1"/>
          </p:cNvSpPr>
          <p:nvPr>
            <p:ph type="sldNum" sz="quarter" idx="12"/>
          </p:nvPr>
        </p:nvSpPr>
        <p:spPr/>
        <p:txBody>
          <a:bodyPr/>
          <a:lstStyle/>
          <a:p>
            <a:fld id="{5D02EF7F-A04C-40CA-8D1F-1EB53543C8C4}" type="slidenum">
              <a:rPr lang="it-IT" smtClean="0"/>
              <a:t>‹N›</a:t>
            </a:fld>
            <a:endParaRPr lang="it-IT" dirty="0"/>
          </a:p>
        </p:txBody>
      </p:sp>
    </p:spTree>
    <p:extLst>
      <p:ext uri="{BB962C8B-B14F-4D97-AF65-F5344CB8AC3E}">
        <p14:creationId xmlns:p14="http://schemas.microsoft.com/office/powerpoint/2010/main" val="39764433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bg>
      <p:bgPr>
        <a:solidFill>
          <a:srgbClr val="FFFFFF"/>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06102DD-DE98-B100-D543-2734646C4700}"/>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1D02382F-4F95-9B6F-5C75-644A90689023}"/>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7DE0130A-3E23-B48C-7E61-69F12AE1DD19}"/>
              </a:ext>
            </a:extLst>
          </p:cNvPr>
          <p:cNvSpPr>
            <a:spLocks noGrp="1"/>
          </p:cNvSpPr>
          <p:nvPr>
            <p:ph type="dt" sz="half" idx="10"/>
          </p:nvPr>
        </p:nvSpPr>
        <p:spPr/>
        <p:txBody>
          <a:bodyPr/>
          <a:lstStyle/>
          <a:p>
            <a:fld id="{39547221-024F-431C-B18E-3D58212B95C4}" type="datetimeFigureOut">
              <a:rPr lang="it-IT" smtClean="0"/>
              <a:t>23/02/2026</a:t>
            </a:fld>
            <a:endParaRPr lang="it-IT" dirty="0"/>
          </a:p>
        </p:txBody>
      </p:sp>
      <p:sp>
        <p:nvSpPr>
          <p:cNvPr id="5" name="Segnaposto piè di pagina 4">
            <a:extLst>
              <a:ext uri="{FF2B5EF4-FFF2-40B4-BE49-F238E27FC236}">
                <a16:creationId xmlns:a16="http://schemas.microsoft.com/office/drawing/2014/main" id="{48D3763B-01B5-4D9F-1496-16A3A184FD7C}"/>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7D9C95F6-0053-E64E-BC92-CD616C23AD77}"/>
              </a:ext>
            </a:extLst>
          </p:cNvPr>
          <p:cNvSpPr>
            <a:spLocks noGrp="1"/>
          </p:cNvSpPr>
          <p:nvPr>
            <p:ph type="sldNum" sz="quarter" idx="12"/>
          </p:nvPr>
        </p:nvSpPr>
        <p:spPr/>
        <p:txBody>
          <a:bodyPr/>
          <a:lstStyle/>
          <a:p>
            <a:fld id="{5D02EF7F-A04C-40CA-8D1F-1EB53543C8C4}" type="slidenum">
              <a:rPr lang="it-IT" smtClean="0"/>
              <a:t>‹N›</a:t>
            </a:fld>
            <a:endParaRPr lang="it-IT" dirty="0"/>
          </a:p>
        </p:txBody>
      </p:sp>
    </p:spTree>
    <p:extLst>
      <p:ext uri="{BB962C8B-B14F-4D97-AF65-F5344CB8AC3E}">
        <p14:creationId xmlns:p14="http://schemas.microsoft.com/office/powerpoint/2010/main" val="3239376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bg>
      <p:bgPr>
        <a:solidFill>
          <a:srgbClr val="FFFFFF"/>
        </a:solidFill>
        <a:effectLst/>
      </p:bgPr>
    </p:bg>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84DEDCCE-4EE0-B001-D604-3B77A287033F}"/>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064FDE56-C645-FF20-731E-511E5197DAF1}"/>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E948DB8F-6482-6455-EF39-7DAC4873DE7D}"/>
              </a:ext>
            </a:extLst>
          </p:cNvPr>
          <p:cNvSpPr>
            <a:spLocks noGrp="1"/>
          </p:cNvSpPr>
          <p:nvPr>
            <p:ph type="dt" sz="half" idx="10"/>
          </p:nvPr>
        </p:nvSpPr>
        <p:spPr/>
        <p:txBody>
          <a:bodyPr/>
          <a:lstStyle/>
          <a:p>
            <a:fld id="{39547221-024F-431C-B18E-3D58212B95C4}" type="datetimeFigureOut">
              <a:rPr lang="it-IT" smtClean="0"/>
              <a:t>23/02/2026</a:t>
            </a:fld>
            <a:endParaRPr lang="it-IT" dirty="0"/>
          </a:p>
        </p:txBody>
      </p:sp>
      <p:sp>
        <p:nvSpPr>
          <p:cNvPr id="5" name="Segnaposto piè di pagina 4">
            <a:extLst>
              <a:ext uri="{FF2B5EF4-FFF2-40B4-BE49-F238E27FC236}">
                <a16:creationId xmlns:a16="http://schemas.microsoft.com/office/drawing/2014/main" id="{4D818EAE-E8E6-7CCC-FA00-578F54BC5356}"/>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5BB2030F-0950-5329-CAB8-456E2A89BBFC}"/>
              </a:ext>
            </a:extLst>
          </p:cNvPr>
          <p:cNvSpPr>
            <a:spLocks noGrp="1"/>
          </p:cNvSpPr>
          <p:nvPr>
            <p:ph type="sldNum" sz="quarter" idx="12"/>
          </p:nvPr>
        </p:nvSpPr>
        <p:spPr/>
        <p:txBody>
          <a:bodyPr/>
          <a:lstStyle/>
          <a:p>
            <a:fld id="{5D02EF7F-A04C-40CA-8D1F-1EB53543C8C4}" type="slidenum">
              <a:rPr lang="it-IT" smtClean="0"/>
              <a:t>‹N›</a:t>
            </a:fld>
            <a:endParaRPr lang="it-IT" dirty="0"/>
          </a:p>
        </p:txBody>
      </p:sp>
    </p:spTree>
    <p:extLst>
      <p:ext uri="{BB962C8B-B14F-4D97-AF65-F5344CB8AC3E}">
        <p14:creationId xmlns:p14="http://schemas.microsoft.com/office/powerpoint/2010/main" val="1823944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BE25360E-E075-C126-80D2-78B740EB9E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4EB77765-7AA6-271A-E0EE-AD6F78ECAD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01730F29-FA7C-4703-123E-E29297ED37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9547221-024F-431C-B18E-3D58212B95C4}" type="datetimeFigureOut">
              <a:rPr lang="it-IT" smtClean="0"/>
              <a:t>23/02/2026</a:t>
            </a:fld>
            <a:endParaRPr lang="it-IT" dirty="0"/>
          </a:p>
        </p:txBody>
      </p:sp>
      <p:sp>
        <p:nvSpPr>
          <p:cNvPr id="5" name="Segnaposto piè di pagina 4">
            <a:extLst>
              <a:ext uri="{FF2B5EF4-FFF2-40B4-BE49-F238E27FC236}">
                <a16:creationId xmlns:a16="http://schemas.microsoft.com/office/drawing/2014/main" id="{8F06ED35-4BE8-4CDC-81BC-9812D00488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dirty="0"/>
          </a:p>
        </p:txBody>
      </p:sp>
      <p:sp>
        <p:nvSpPr>
          <p:cNvPr id="6" name="Segnaposto numero diapositiva 5">
            <a:extLst>
              <a:ext uri="{FF2B5EF4-FFF2-40B4-BE49-F238E27FC236}">
                <a16:creationId xmlns:a16="http://schemas.microsoft.com/office/drawing/2014/main" id="{60FED396-7980-A595-6A90-A282732399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D02EF7F-A04C-40CA-8D1F-1EB53543C8C4}" type="slidenum">
              <a:rPr lang="it-IT" smtClean="0"/>
              <a:t>‹N›</a:t>
            </a:fld>
            <a:endParaRPr lang="it-IT" dirty="0"/>
          </a:p>
        </p:txBody>
      </p:sp>
    </p:spTree>
    <p:extLst>
      <p:ext uri="{BB962C8B-B14F-4D97-AF65-F5344CB8AC3E}">
        <p14:creationId xmlns:p14="http://schemas.microsoft.com/office/powerpoint/2010/main" val="15393525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3.png"/><Relationship Id="rId7" Type="http://schemas.openxmlformats.org/officeDocument/2006/relationships/image" Target="../media/image18.png"/><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3.png"/><Relationship Id="rId9"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0.pn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28.png"/><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1.xml"/><Relationship Id="rId5" Type="http://schemas.openxmlformats.org/officeDocument/2006/relationships/image" Target="../media/image33.jpeg"/><Relationship Id="rId4" Type="http://schemas.openxmlformats.org/officeDocument/2006/relationships/image" Target="../media/image32.jpeg"/></Relationships>
</file>

<file path=ppt/slides/_rels/slide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1DFF054-D713-E5A8-F4D9-34CC43290C9B}"/>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29E7B62-AD8C-1E34-4255-26067A033B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B3E6CDD9-49CF-F6F2-0D47-FD1D6BD4A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182570E2-FA67-F4E0-127A-3F628F8658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67993DF8-4BA7-8A8A-D388-03ADACDEA6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7CCF71D5-5174-7A95-B430-CB03F57359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A7325A18-1ACD-0F2B-8B2E-D58FC6EFC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8ACACD8A-8977-557B-04C3-F39CF5BD77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6C793DEE-2B2A-C88D-BD30-781622E27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ttangolo 2">
            <a:extLst>
              <a:ext uri="{FF2B5EF4-FFF2-40B4-BE49-F238E27FC236}">
                <a16:creationId xmlns:a16="http://schemas.microsoft.com/office/drawing/2014/main" id="{002830EC-D480-F515-A12B-9342CA0AEBCA}"/>
              </a:ext>
            </a:extLst>
          </p:cNvPr>
          <p:cNvSpPr/>
          <p:nvPr/>
        </p:nvSpPr>
        <p:spPr>
          <a:xfrm>
            <a:off x="1188066" y="308516"/>
            <a:ext cx="2978701" cy="646331"/>
          </a:xfrm>
          <a:prstGeom prst="rect">
            <a:avLst/>
          </a:prstGeom>
          <a:noFill/>
        </p:spPr>
        <p:txBody>
          <a:bodyPr wrap="none" lIns="91440" tIns="45720" rIns="91440" bIns="45720">
            <a:spAutoFit/>
          </a:bodyPr>
          <a:lstStyle/>
          <a:p>
            <a:pPr algn="ctr"/>
            <a:r>
              <a:rPr lang="it-IT" cap="none" spc="0" dirty="0">
                <a:ln w="10160">
                  <a:solidFill>
                    <a:schemeClr val="bg1"/>
                  </a:solidFill>
                  <a:prstDash val="solid"/>
                </a:ln>
                <a:solidFill>
                  <a:srgbClr val="FFFFFF"/>
                </a:solidFill>
                <a:effectLst>
                  <a:outerShdw blurRad="38100" dist="22860" dir="5400000" algn="tl" rotWithShape="0">
                    <a:srgbClr val="000000">
                      <a:alpha val="30000"/>
                    </a:srgbClr>
                  </a:outerShdw>
                </a:effectLst>
                <a:latin typeface="Cormorant SC Light" pitchFamily="2" charset="0"/>
                <a:ea typeface="Cormorant SC Light" pitchFamily="2" charset="0"/>
                <a:cs typeface="Cormorant Infant Medium" pitchFamily="2" charset="0"/>
              </a:rPr>
              <a:t>COMPUTER ENGINEERING</a:t>
            </a:r>
          </a:p>
          <a:p>
            <a:pPr algn="ctr"/>
            <a:r>
              <a:rPr lang="it-IT" cap="none" spc="0" dirty="0">
                <a:ln w="10160">
                  <a:solidFill>
                    <a:schemeClr val="bg1"/>
                  </a:solidFill>
                  <a:prstDash val="solid"/>
                </a:ln>
                <a:solidFill>
                  <a:srgbClr val="FFFFFF"/>
                </a:solidFill>
                <a:effectLst>
                  <a:outerShdw blurRad="38100" dist="22860" dir="5400000" algn="tl" rotWithShape="0">
                    <a:srgbClr val="000000">
                      <a:alpha val="30000"/>
                    </a:srgbClr>
                  </a:outerShdw>
                </a:effectLst>
                <a:latin typeface="Cormorant SC Light" pitchFamily="2" charset="0"/>
                <a:ea typeface="Cormorant SC Light" pitchFamily="2" charset="0"/>
                <a:cs typeface="Cormorant Infant Medium" pitchFamily="2" charset="0"/>
              </a:rPr>
              <a:t>MASTER’S DEGREE</a:t>
            </a:r>
          </a:p>
        </p:txBody>
      </p:sp>
      <p:pic>
        <p:nvPicPr>
          <p:cNvPr id="4" name="Immagine 3" descr="Immagine che contiene testo, disegno, cerchio, arte&#10;&#10;Il contenuto generato dall'IA potrebbe non essere corretto.">
            <a:extLst>
              <a:ext uri="{FF2B5EF4-FFF2-40B4-BE49-F238E27FC236}">
                <a16:creationId xmlns:a16="http://schemas.microsoft.com/office/drawing/2014/main" id="{38397DEE-1307-55CC-86D4-E2822A7AA8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670" y="200867"/>
            <a:ext cx="834507" cy="861628"/>
          </a:xfrm>
          <a:prstGeom prst="rect">
            <a:avLst/>
          </a:prstGeom>
        </p:spPr>
      </p:pic>
      <p:sp>
        <p:nvSpPr>
          <p:cNvPr id="5" name="Rettangolo 4">
            <a:extLst>
              <a:ext uri="{FF2B5EF4-FFF2-40B4-BE49-F238E27FC236}">
                <a16:creationId xmlns:a16="http://schemas.microsoft.com/office/drawing/2014/main" id="{3B392C2F-0A49-AC39-DDA8-9F3A0E6B15FF}"/>
              </a:ext>
            </a:extLst>
          </p:cNvPr>
          <p:cNvSpPr/>
          <p:nvPr/>
        </p:nvSpPr>
        <p:spPr>
          <a:xfrm>
            <a:off x="7247505" y="400848"/>
            <a:ext cx="4981924" cy="461665"/>
          </a:xfrm>
          <a:prstGeom prst="rect">
            <a:avLst/>
          </a:prstGeom>
          <a:noFill/>
        </p:spPr>
        <p:txBody>
          <a:bodyPr wrap="square" lIns="91440" tIns="45720" rIns="91440" bIns="45720">
            <a:spAutoFit/>
          </a:bodyPr>
          <a:lstStyle/>
          <a:p>
            <a:pPr algn="ctr"/>
            <a:r>
              <a:rPr lang="en-US" sz="2400" dirty="0">
                <a:ln w="10160">
                  <a:solidFill>
                    <a:schemeClr val="bg1"/>
                  </a:solidFill>
                  <a:prstDash val="solid"/>
                </a:ln>
                <a:solidFill>
                  <a:srgbClr val="FFFFFF"/>
                </a:solidFill>
                <a:effectLst>
                  <a:outerShdw blurRad="38100" dist="22860" dir="5400000" algn="tl" rotWithShape="0">
                    <a:srgbClr val="000000">
                      <a:alpha val="30000"/>
                    </a:srgbClr>
                  </a:outerShdw>
                </a:effectLst>
                <a:latin typeface="Cormorant SC Light" pitchFamily="2" charset="0"/>
                <a:ea typeface="Cormorant SC Light" pitchFamily="2" charset="0"/>
                <a:cs typeface="Cormorant Infant Medium" pitchFamily="2" charset="0"/>
              </a:rPr>
              <a:t>PROTOTYPE PRESENTATION</a:t>
            </a:r>
            <a:endParaRPr lang="it-IT" sz="2400" cap="none" spc="0" dirty="0">
              <a:ln w="10160">
                <a:solidFill>
                  <a:schemeClr val="bg1"/>
                </a:solidFill>
                <a:prstDash val="solid"/>
              </a:ln>
              <a:solidFill>
                <a:srgbClr val="FFFFFF"/>
              </a:solidFill>
              <a:effectLst>
                <a:outerShdw blurRad="38100" dist="22860" dir="5400000" algn="tl" rotWithShape="0">
                  <a:srgbClr val="000000">
                    <a:alpha val="30000"/>
                  </a:srgbClr>
                </a:outerShdw>
              </a:effectLst>
              <a:latin typeface="Cormorant SC Light" pitchFamily="2" charset="0"/>
              <a:ea typeface="Cormorant SC Light" pitchFamily="2" charset="0"/>
              <a:cs typeface="Cormorant Infant Medium" pitchFamily="2" charset="0"/>
            </a:endParaRPr>
          </a:p>
        </p:txBody>
      </p:sp>
      <p:sp>
        <p:nvSpPr>
          <p:cNvPr id="7" name="Rettangolo 6">
            <a:extLst>
              <a:ext uri="{FF2B5EF4-FFF2-40B4-BE49-F238E27FC236}">
                <a16:creationId xmlns:a16="http://schemas.microsoft.com/office/drawing/2014/main" id="{26D51E52-759D-3ADD-DC69-2485752EE656}"/>
              </a:ext>
            </a:extLst>
          </p:cNvPr>
          <p:cNvSpPr/>
          <p:nvPr/>
        </p:nvSpPr>
        <p:spPr>
          <a:xfrm>
            <a:off x="8758706" y="5776974"/>
            <a:ext cx="4566495" cy="830997"/>
          </a:xfrm>
          <a:prstGeom prst="rect">
            <a:avLst/>
          </a:prstGeom>
          <a:noFill/>
        </p:spPr>
        <p:txBody>
          <a:bodyPr wrap="square" lIns="91440" tIns="45720" rIns="91440" bIns="45720">
            <a:spAutoFit/>
          </a:bodyPr>
          <a:lstStyle/>
          <a:p>
            <a:r>
              <a:rPr lang="en-US" sz="2400" cap="none" spc="0" dirty="0">
                <a:ln w="10160">
                  <a:solidFill>
                    <a:schemeClr val="bg1"/>
                  </a:solidFill>
                  <a:prstDash val="solid"/>
                </a:ln>
                <a:solidFill>
                  <a:srgbClr val="FFFFFF"/>
                </a:solidFill>
                <a:effectLst>
                  <a:outerShdw blurRad="38100" dist="22860" dir="5400000" algn="tl" rotWithShape="0">
                    <a:srgbClr val="000000">
                      <a:alpha val="30000"/>
                    </a:srgbClr>
                  </a:outerShdw>
                </a:effectLst>
                <a:latin typeface="Cormorant SC Light" pitchFamily="2" charset="0"/>
                <a:ea typeface="Cormorant SC Light" pitchFamily="2" charset="0"/>
                <a:cs typeface="Cormorant Infant Light" pitchFamily="2" charset="0"/>
              </a:rPr>
              <a:t>CARLO PIO PACE</a:t>
            </a:r>
          </a:p>
          <a:p>
            <a:r>
              <a:rPr lang="en-US" sz="2400" dirty="0">
                <a:ln w="10160">
                  <a:solidFill>
                    <a:schemeClr val="bg1"/>
                  </a:solidFill>
                  <a:prstDash val="solid"/>
                </a:ln>
                <a:solidFill>
                  <a:srgbClr val="FFFFFF"/>
                </a:solidFill>
                <a:effectLst>
                  <a:outerShdw blurRad="38100" dist="22860" dir="5400000" algn="tl" rotWithShape="0">
                    <a:srgbClr val="000000">
                      <a:alpha val="30000"/>
                    </a:srgbClr>
                  </a:outerShdw>
                </a:effectLst>
                <a:latin typeface="Cormorant SC Light" pitchFamily="2" charset="0"/>
                <a:ea typeface="Cormorant SC Light" pitchFamily="2" charset="0"/>
                <a:cs typeface="Cormorant Infant Light" pitchFamily="2" charset="0"/>
              </a:rPr>
              <a:t>PRAS</a:t>
            </a:r>
            <a:r>
              <a:rPr lang="en-US" sz="2400" dirty="0">
                <a:ln w="10160">
                  <a:solidFill>
                    <a:schemeClr val="bg1"/>
                  </a:solidFill>
                  <a:prstDash val="solid"/>
                </a:ln>
                <a:solidFill>
                  <a:srgbClr val="FFFFFF"/>
                </a:solidFill>
                <a:effectLst>
                  <a:outerShdw blurRad="38100" dist="22860" dir="5400000" algn="tl" rotWithShape="0">
                    <a:srgbClr val="000000">
                      <a:alpha val="30000"/>
                    </a:srgbClr>
                  </a:outerShdw>
                </a:effectLst>
                <a:latin typeface="Cormorant SC Light" pitchFamily="2" charset="0"/>
                <a:ea typeface="Cormorant SC Light" pitchFamily="2" charset="0"/>
                <a:cs typeface="Cormorant Infant Medium" pitchFamily="2" charset="0"/>
              </a:rPr>
              <a:t>H</a:t>
            </a:r>
            <a:r>
              <a:rPr lang="en-US" sz="2400" dirty="0">
                <a:ln w="10160">
                  <a:solidFill>
                    <a:schemeClr val="bg1"/>
                  </a:solidFill>
                  <a:prstDash val="solid"/>
                </a:ln>
                <a:solidFill>
                  <a:srgbClr val="FFFFFF"/>
                </a:solidFill>
                <a:effectLst>
                  <a:outerShdw blurRad="38100" dist="22860" dir="5400000" algn="tl" rotWithShape="0">
                    <a:srgbClr val="000000">
                      <a:alpha val="30000"/>
                    </a:srgbClr>
                  </a:outerShdw>
                </a:effectLst>
                <a:latin typeface="Cormorant SC Light" pitchFamily="2" charset="0"/>
                <a:ea typeface="Cormorant SC Light" pitchFamily="2" charset="0"/>
                <a:cs typeface="Cormorant Infant Light" pitchFamily="2" charset="0"/>
              </a:rPr>
              <a:t>ANT GAUTAM</a:t>
            </a:r>
            <a:endParaRPr lang="it-IT" sz="2400" cap="none" spc="0" dirty="0">
              <a:ln w="10160">
                <a:solidFill>
                  <a:schemeClr val="bg1"/>
                </a:solidFill>
                <a:prstDash val="solid"/>
              </a:ln>
              <a:solidFill>
                <a:srgbClr val="FFFFFF"/>
              </a:solidFill>
              <a:effectLst>
                <a:outerShdw blurRad="38100" dist="22860" dir="5400000" algn="tl" rotWithShape="0">
                  <a:srgbClr val="000000">
                    <a:alpha val="30000"/>
                  </a:srgbClr>
                </a:outerShdw>
              </a:effectLst>
              <a:latin typeface="Cormorant SC Light" pitchFamily="2" charset="0"/>
              <a:ea typeface="Cormorant SC Light" pitchFamily="2" charset="0"/>
              <a:cs typeface="Cormorant Infant Light" pitchFamily="2" charset="0"/>
            </a:endParaRPr>
          </a:p>
        </p:txBody>
      </p:sp>
      <p:grpSp>
        <p:nvGrpSpPr>
          <p:cNvPr id="10" name="Gruppo 9">
            <a:extLst>
              <a:ext uri="{FF2B5EF4-FFF2-40B4-BE49-F238E27FC236}">
                <a16:creationId xmlns:a16="http://schemas.microsoft.com/office/drawing/2014/main" id="{2E5B54CD-9A43-E853-9D5A-3032F271548A}"/>
              </a:ext>
            </a:extLst>
          </p:cNvPr>
          <p:cNvGrpSpPr/>
          <p:nvPr/>
        </p:nvGrpSpPr>
        <p:grpSpPr>
          <a:xfrm>
            <a:off x="4702028" y="1840361"/>
            <a:ext cx="2787943" cy="2732830"/>
            <a:chOff x="4426860" y="2675137"/>
            <a:chExt cx="2787943" cy="2732830"/>
          </a:xfrm>
        </p:grpSpPr>
        <p:grpSp>
          <p:nvGrpSpPr>
            <p:cNvPr id="21" name="Gruppo 20">
              <a:extLst>
                <a:ext uri="{FF2B5EF4-FFF2-40B4-BE49-F238E27FC236}">
                  <a16:creationId xmlns:a16="http://schemas.microsoft.com/office/drawing/2014/main" id="{CEA4720A-2623-49A6-A041-B94422C70FCD}"/>
                </a:ext>
              </a:extLst>
            </p:cNvPr>
            <p:cNvGrpSpPr/>
            <p:nvPr/>
          </p:nvGrpSpPr>
          <p:grpSpPr>
            <a:xfrm>
              <a:off x="4426860" y="4545645"/>
              <a:ext cx="2787943" cy="862322"/>
              <a:chOff x="4097093" y="4329592"/>
              <a:chExt cx="2787943" cy="862322"/>
            </a:xfrm>
          </p:grpSpPr>
          <p:sp>
            <p:nvSpPr>
              <p:cNvPr id="17" name="Rettangolo 16">
                <a:extLst>
                  <a:ext uri="{FF2B5EF4-FFF2-40B4-BE49-F238E27FC236}">
                    <a16:creationId xmlns:a16="http://schemas.microsoft.com/office/drawing/2014/main" id="{366D821D-3E1B-FB0F-E5DB-BC0FB94DD1C0}"/>
                  </a:ext>
                </a:extLst>
              </p:cNvPr>
              <p:cNvSpPr/>
              <p:nvPr/>
            </p:nvSpPr>
            <p:spPr>
              <a:xfrm>
                <a:off x="4097093" y="4329592"/>
                <a:ext cx="2787943" cy="584775"/>
              </a:xfrm>
              <a:prstGeom prst="rect">
                <a:avLst/>
              </a:prstGeom>
              <a:noFill/>
              <a:ln>
                <a:noFill/>
              </a:ln>
            </p:spPr>
            <p:txBody>
              <a:bodyPr wrap="square" lIns="91440" tIns="45720" rIns="91440" bIns="45720">
                <a:spAutoFit/>
              </a:bodyPr>
              <a:lstStyle/>
              <a:p>
                <a:pPr algn="ctr"/>
                <a:r>
                  <a:rPr lang="it-IT" sz="3200"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GUARDIAN</a:t>
                </a:r>
              </a:p>
            </p:txBody>
          </p:sp>
          <p:sp>
            <p:nvSpPr>
              <p:cNvPr id="19" name="CasellaDiTesto 18">
                <a:extLst>
                  <a:ext uri="{FF2B5EF4-FFF2-40B4-BE49-F238E27FC236}">
                    <a16:creationId xmlns:a16="http://schemas.microsoft.com/office/drawing/2014/main" id="{72BD15E6-FFAA-4A67-DC50-880B6CD56EE1}"/>
                  </a:ext>
                </a:extLst>
              </p:cNvPr>
              <p:cNvSpPr txBox="1"/>
              <p:nvPr/>
            </p:nvSpPr>
            <p:spPr>
              <a:xfrm>
                <a:off x="4138681" y="4822582"/>
                <a:ext cx="2704766" cy="369332"/>
              </a:xfrm>
              <a:prstGeom prst="rect">
                <a:avLst/>
              </a:prstGeom>
              <a:noFill/>
            </p:spPr>
            <p:txBody>
              <a:bodyPr wrap="square" rtlCol="0">
                <a:spAutoFit/>
              </a:bodyPr>
              <a:lstStyle/>
              <a:p>
                <a:pPr algn="ctr"/>
                <a:r>
                  <a:rPr lang="it-IT" dirty="0">
                    <a:solidFill>
                      <a:schemeClr val="bg1"/>
                    </a:solidFill>
                    <a:latin typeface="Alata" pitchFamily="2" charset="0"/>
                    <a:cs typeface="Alata" pitchFamily="2" charset="0"/>
                  </a:rPr>
                  <a:t>Child &amp; Pet Safety</a:t>
                </a:r>
              </a:p>
            </p:txBody>
          </p:sp>
        </p:grpSp>
        <p:pic>
          <p:nvPicPr>
            <p:cNvPr id="9" name="Immagine 8" descr="Immagine che contiene cartone animato, Elementi grafici&#10;&#10;Il contenuto generato dall'IA potrebbe non essere corretto.">
              <a:extLst>
                <a:ext uri="{FF2B5EF4-FFF2-40B4-BE49-F238E27FC236}">
                  <a16:creationId xmlns:a16="http://schemas.microsoft.com/office/drawing/2014/main" id="{A59F940A-9754-BCA0-7714-9E16B56E8B54}"/>
                </a:ext>
              </a:extLst>
            </p:cNvPr>
            <p:cNvPicPr>
              <a:picLocks noChangeAspect="1"/>
            </p:cNvPicPr>
            <p:nvPr/>
          </p:nvPicPr>
          <p:blipFill>
            <a:blip r:embed="rId3">
              <a:extLst>
                <a:ext uri="{28A0092B-C50C-407E-A947-70E740481C1C}">
                  <a14:useLocalDpi xmlns:a14="http://schemas.microsoft.com/office/drawing/2010/main" val="0"/>
                </a:ext>
              </a:extLst>
            </a:blip>
            <a:srcRect l="33885" t="27326" r="36134" b="38000"/>
            <a:stretch>
              <a:fillRect/>
            </a:stretch>
          </p:blipFill>
          <p:spPr>
            <a:xfrm>
              <a:off x="4858988" y="2675137"/>
              <a:ext cx="1923689" cy="1963082"/>
            </a:xfrm>
            <a:prstGeom prst="rect">
              <a:avLst/>
            </a:prstGeom>
          </p:spPr>
        </p:pic>
      </p:grpSp>
    </p:spTree>
    <p:extLst>
      <p:ext uri="{BB962C8B-B14F-4D97-AF65-F5344CB8AC3E}">
        <p14:creationId xmlns:p14="http://schemas.microsoft.com/office/powerpoint/2010/main" val="30763402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43F9503-9FD9-8782-DB2F-012CEDE96331}"/>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8AA0DD9-3A72-CEEA-DE45-AA0A72A97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FF09A248-1919-C2C9-0F6A-8764D64930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D6D8D688-A902-605D-C2E2-BF4667243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F391BDF9-A8FE-D78A-EB2D-5ED918767E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42082EDE-08DD-01A5-DB42-B1096316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1E9D66F5-BACE-AA7B-A994-5A2F9A476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04012536-A057-8E69-1AA2-61AAD7C40E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FB15EF79-42D1-077D-8CA3-0C39F03330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CasellaDiTesto 8">
            <a:extLst>
              <a:ext uri="{FF2B5EF4-FFF2-40B4-BE49-F238E27FC236}">
                <a16:creationId xmlns:a16="http://schemas.microsoft.com/office/drawing/2014/main" id="{2070180C-E307-2528-E4AB-C1C27CD90604}"/>
              </a:ext>
            </a:extLst>
          </p:cNvPr>
          <p:cNvSpPr txBox="1"/>
          <p:nvPr/>
        </p:nvSpPr>
        <p:spPr>
          <a:xfrm>
            <a:off x="678246" y="2151727"/>
            <a:ext cx="11071795" cy="2554545"/>
          </a:xfrm>
          <a:prstGeom prst="rect">
            <a:avLst/>
          </a:prstGeom>
          <a:noFill/>
          <a:ln>
            <a:noFill/>
          </a:ln>
        </p:spPr>
        <p:txBody>
          <a:bodyPr wrap="square" rtlCol="0">
            <a:spAutoFit/>
          </a:bodyPr>
          <a:lstStyle/>
          <a:p>
            <a:r>
              <a:rPr lang="en-US" sz="2000" dirty="0">
                <a:ln w="10160">
                  <a:solidFill>
                    <a:schemeClr val="bg1"/>
                  </a:solidFill>
                  <a:prstDash val="solid"/>
                </a:ln>
                <a:solidFill>
                  <a:schemeClr val="bg1"/>
                </a:solidFill>
                <a:effectLst>
                  <a:outerShdw blurRad="38100" dist="22860" dir="5400000" algn="tl" rotWithShape="0">
                    <a:srgbClr val="000000">
                      <a:alpha val="30000"/>
                    </a:srgbClr>
                  </a:outerShdw>
                </a:effectLst>
                <a:latin typeface="Alata" pitchFamily="2" charset="0"/>
                <a:cs typeface="Alata" pitchFamily="2" charset="0"/>
              </a:rPr>
              <a:t>Preventable fatalities from vehicular heatstroke continue to occur globally, resulting from instances where children or pets are inadvertently left by themselves or where children gain unsupervised access to vehicles. To address this safety challenge, this paper proposes a Child and Pet Presence Detection (CPPD) system, covering its architecture, deployment, and performance assessment</a:t>
            </a:r>
            <a:r>
              <a:rPr lang="en-GB" sz="2000" dirty="0">
                <a:ln w="10160">
                  <a:solidFill>
                    <a:schemeClr val="bg1"/>
                  </a:solidFill>
                  <a:prstDash val="solid"/>
                </a:ln>
                <a:solidFill>
                  <a:schemeClr val="bg1"/>
                </a:solidFill>
                <a:effectLst>
                  <a:outerShdw blurRad="38100" dist="22860" dir="5400000" algn="tl" rotWithShape="0">
                    <a:srgbClr val="000000">
                      <a:alpha val="30000"/>
                    </a:srgbClr>
                  </a:outerShdw>
                </a:effectLst>
                <a:latin typeface="Alata" pitchFamily="2" charset="0"/>
                <a:cs typeface="Alata" pitchFamily="2" charset="0"/>
              </a:rPr>
              <a:t>.</a:t>
            </a:r>
          </a:p>
          <a:p>
            <a:r>
              <a:rPr lang="en-US" sz="2000" dirty="0">
                <a:ln w="10160">
                  <a:solidFill>
                    <a:schemeClr val="bg1"/>
                  </a:solidFill>
                  <a:prstDash val="solid"/>
                </a:ln>
                <a:solidFill>
                  <a:schemeClr val="bg1"/>
                </a:solidFill>
                <a:effectLst>
                  <a:outerShdw blurRad="38100" dist="22860" dir="5400000" algn="tl" rotWithShape="0">
                    <a:srgbClr val="000000">
                      <a:alpha val="30000"/>
                    </a:srgbClr>
                  </a:outerShdw>
                </a:effectLst>
                <a:latin typeface="Alata" pitchFamily="2" charset="0"/>
                <a:cs typeface="Alata" pitchFamily="2" charset="0"/>
              </a:rPr>
              <a:t>This system employs visual and acoustic sensors, to acquire data processed by a Raspberry Pi 3B+ to actively monitor the cabin environment immediately after vehicle closure. Upon detecting a living occupant, the system sends alerts to a designated caregiver.</a:t>
            </a:r>
            <a:endParaRPr lang="it-IT" sz="2000" dirty="0">
              <a:ln w="10160">
                <a:solidFill>
                  <a:schemeClr val="bg1"/>
                </a:solidFill>
                <a:prstDash val="solid"/>
              </a:ln>
              <a:solidFill>
                <a:schemeClr val="bg1"/>
              </a:solidFill>
              <a:effectLst>
                <a:outerShdw blurRad="38100" dist="22860" dir="5400000" algn="tl" rotWithShape="0">
                  <a:srgbClr val="000000">
                    <a:alpha val="30000"/>
                  </a:srgbClr>
                </a:outerShdw>
              </a:effectLst>
              <a:latin typeface="Alata" pitchFamily="2" charset="0"/>
              <a:cs typeface="Alata" pitchFamily="2" charset="0"/>
            </a:endParaRPr>
          </a:p>
        </p:txBody>
      </p:sp>
      <p:sp>
        <p:nvSpPr>
          <p:cNvPr id="2" name="Rettangolo 1">
            <a:extLst>
              <a:ext uri="{FF2B5EF4-FFF2-40B4-BE49-F238E27FC236}">
                <a16:creationId xmlns:a16="http://schemas.microsoft.com/office/drawing/2014/main" id="{257B8DEA-6B26-E25E-AD2F-0667A14B8788}"/>
              </a:ext>
            </a:extLst>
          </p:cNvPr>
          <p:cNvSpPr/>
          <p:nvPr/>
        </p:nvSpPr>
        <p:spPr>
          <a:xfrm>
            <a:off x="8748282" y="91587"/>
            <a:ext cx="4127648" cy="461665"/>
          </a:xfrm>
          <a:prstGeom prst="rect">
            <a:avLst/>
          </a:prstGeom>
          <a:noFill/>
          <a:ln>
            <a:noFill/>
          </a:ln>
        </p:spPr>
        <p:txBody>
          <a:bodyPr wrap="square" lIns="91440" tIns="45720" rIns="91440" bIns="45720">
            <a:spAutoFit/>
          </a:bodyPr>
          <a:lstStyle/>
          <a:p>
            <a:pPr algn="ctr"/>
            <a:r>
              <a:rPr lang="it-IT" sz="2400"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ABSTRACT</a:t>
            </a:r>
          </a:p>
        </p:txBody>
      </p:sp>
    </p:spTree>
    <p:extLst>
      <p:ext uri="{BB962C8B-B14F-4D97-AF65-F5344CB8AC3E}">
        <p14:creationId xmlns:p14="http://schemas.microsoft.com/office/powerpoint/2010/main" val="11188169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F8D5F02-58DE-455C-FF44-8A592984E515}"/>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A49C75B-4A98-6688-8EB5-441E7A8427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896E7F79-D555-0C7F-37E6-BAB4B93268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3326C18E-95FD-7DBD-680A-428E1B0B3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A8AD93FD-C5EB-8844-3302-65EE21BBB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E06C9156-10E7-0D18-8B4A-127E773B4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5631721F-1F07-94F5-7B20-9A6359678C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A8588987-90A0-1697-1146-D73C8C64E5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514C00E8-0C5D-F308-9DE9-8608B395F9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ttangolo 1">
            <a:extLst>
              <a:ext uri="{FF2B5EF4-FFF2-40B4-BE49-F238E27FC236}">
                <a16:creationId xmlns:a16="http://schemas.microsoft.com/office/drawing/2014/main" id="{AB8140A4-2870-5BDD-EC23-AD3939979D18}"/>
              </a:ext>
            </a:extLst>
          </p:cNvPr>
          <p:cNvSpPr/>
          <p:nvPr/>
        </p:nvSpPr>
        <p:spPr>
          <a:xfrm>
            <a:off x="8354992" y="91587"/>
            <a:ext cx="4127648" cy="461665"/>
          </a:xfrm>
          <a:prstGeom prst="rect">
            <a:avLst/>
          </a:prstGeom>
          <a:noFill/>
          <a:ln>
            <a:noFill/>
          </a:ln>
        </p:spPr>
        <p:txBody>
          <a:bodyPr wrap="square" lIns="91440" tIns="45720" rIns="91440" bIns="45720">
            <a:spAutoFit/>
          </a:bodyPr>
          <a:lstStyle/>
          <a:p>
            <a:pPr algn="ctr"/>
            <a:r>
              <a:rPr lang="it-IT" sz="2400"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INTRODUCTION</a:t>
            </a:r>
          </a:p>
        </p:txBody>
      </p:sp>
      <p:sp>
        <p:nvSpPr>
          <p:cNvPr id="3" name="CasellaDiTesto 2">
            <a:extLst>
              <a:ext uri="{FF2B5EF4-FFF2-40B4-BE49-F238E27FC236}">
                <a16:creationId xmlns:a16="http://schemas.microsoft.com/office/drawing/2014/main" id="{60049A49-DA42-5809-EDA9-F7497E69323E}"/>
              </a:ext>
            </a:extLst>
          </p:cNvPr>
          <p:cNvSpPr txBox="1"/>
          <p:nvPr/>
        </p:nvSpPr>
        <p:spPr>
          <a:xfrm>
            <a:off x="678246" y="1903039"/>
            <a:ext cx="11071795" cy="3170099"/>
          </a:xfrm>
          <a:prstGeom prst="rect">
            <a:avLst/>
          </a:prstGeom>
          <a:noFill/>
          <a:ln>
            <a:noFill/>
          </a:ln>
        </p:spPr>
        <p:txBody>
          <a:bodyPr wrap="square" rtlCol="0">
            <a:spAutoFit/>
          </a:bodyPr>
          <a:lstStyle/>
          <a:p>
            <a:r>
              <a:rPr lang="en-US" sz="2000" dirty="0">
                <a:ln w="10160">
                  <a:solidFill>
                    <a:schemeClr val="bg1"/>
                  </a:solidFill>
                  <a:prstDash val="solid"/>
                </a:ln>
                <a:solidFill>
                  <a:schemeClr val="bg1"/>
                </a:solidFill>
                <a:effectLst>
                  <a:outerShdw blurRad="38100" dist="22860" dir="5400000" algn="tl" rotWithShape="0">
                    <a:srgbClr val="000000">
                      <a:alpha val="30000"/>
                    </a:srgbClr>
                  </a:outerShdw>
                </a:effectLst>
                <a:latin typeface="Alata" pitchFamily="2" charset="0"/>
                <a:cs typeface="Alata" pitchFamily="2" charset="0"/>
              </a:rPr>
              <a:t>The phenomenon of vehicular heatstroke, often referred to as "Hot Car Death“, is a critical safety issue that continues to claim the lives of vulnerable occupants, particularly young children and pets. When a vehicle is parked in direct sunlight, the interior temperature can rise rapidly due to the greenhouse effect.</a:t>
            </a:r>
          </a:p>
          <a:p>
            <a:endParaRPr lang="en-US" sz="2000" dirty="0">
              <a:ln w="10160">
                <a:solidFill>
                  <a:schemeClr val="bg1"/>
                </a:solidFill>
                <a:prstDash val="solid"/>
              </a:ln>
              <a:solidFill>
                <a:schemeClr val="bg1"/>
              </a:solidFill>
              <a:effectLst>
                <a:outerShdw blurRad="38100" dist="22860" dir="5400000" algn="tl" rotWithShape="0">
                  <a:srgbClr val="000000">
                    <a:alpha val="30000"/>
                  </a:srgbClr>
                </a:outerShdw>
              </a:effectLst>
              <a:latin typeface="Alata" pitchFamily="2" charset="0"/>
              <a:cs typeface="Alata" pitchFamily="2" charset="0"/>
            </a:endParaRPr>
          </a:p>
          <a:p>
            <a:r>
              <a:rPr lang="en-US" sz="2000" dirty="0">
                <a:ln w="10160">
                  <a:solidFill>
                    <a:schemeClr val="bg1"/>
                  </a:solidFill>
                  <a:prstDash val="solid"/>
                </a:ln>
                <a:solidFill>
                  <a:schemeClr val="bg1"/>
                </a:solidFill>
                <a:effectLst>
                  <a:outerShdw blurRad="38100" dist="22860" dir="5400000" algn="tl" rotWithShape="0">
                    <a:srgbClr val="000000">
                      <a:alpha val="30000"/>
                    </a:srgbClr>
                  </a:outerShdw>
                </a:effectLst>
                <a:latin typeface="Alata" pitchFamily="2" charset="0"/>
                <a:cs typeface="Alata" pitchFamily="2" charset="0"/>
              </a:rPr>
              <a:t>Despite public awareness campaigns, these incidents frequently occur due to "Forgotten Baby Syndrome," a psychological phenomenon where a parent or a caregiver inadvertently leaves a quiet in the rear seat due to a disruption in routine, fatigue, or distraction. As modern vehicles become increasingly soundproof and tinted, manual detection by passersby becomes difficult, necessitating an automated technological solution, which could totally prevent those fatalities.</a:t>
            </a:r>
            <a:endParaRPr lang="it-IT" sz="2000" dirty="0">
              <a:ln w="10160">
                <a:solidFill>
                  <a:schemeClr val="bg1"/>
                </a:solidFill>
                <a:prstDash val="solid"/>
              </a:ln>
              <a:solidFill>
                <a:schemeClr val="bg1"/>
              </a:solidFill>
              <a:effectLst>
                <a:outerShdw blurRad="38100" dist="22860" dir="5400000" algn="tl" rotWithShape="0">
                  <a:srgbClr val="000000">
                    <a:alpha val="30000"/>
                  </a:srgbClr>
                </a:outerShdw>
              </a:effectLst>
              <a:latin typeface="Alata" pitchFamily="2" charset="0"/>
              <a:cs typeface="Alata" pitchFamily="2" charset="0"/>
            </a:endParaRPr>
          </a:p>
        </p:txBody>
      </p:sp>
    </p:spTree>
    <p:extLst>
      <p:ext uri="{BB962C8B-B14F-4D97-AF65-F5344CB8AC3E}">
        <p14:creationId xmlns:p14="http://schemas.microsoft.com/office/powerpoint/2010/main" val="31206666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14C99B-251A-56D4-AB2B-16749F9F1865}"/>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D3074419-51D6-7D25-327C-9FC2D7D45F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29429AE7-CD99-46BF-CB93-A4E7547EB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3C9A97FE-E5DA-1B44-6B95-C97EC554F7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9A32BD30-FDDC-C96B-E57B-95F6BC4C19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64E4DF07-2721-52D0-5C20-894785724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671CDB74-7D75-5DFF-C9A3-6B1C4D6009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29BF949C-CA78-9ABE-48AD-183201DC05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D97BC391-3289-A117-EF63-5325FD8AC7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Grafico 5">
            <a:extLst>
              <a:ext uri="{FF2B5EF4-FFF2-40B4-BE49-F238E27FC236}">
                <a16:creationId xmlns:a16="http://schemas.microsoft.com/office/drawing/2014/main" id="{B3E99012-D59C-1456-ACE6-CF8595FF8BC7}"/>
              </a:ext>
            </a:extLst>
          </p:cNvPr>
          <p:cNvGraphicFramePr/>
          <p:nvPr>
            <p:extLst>
              <p:ext uri="{D42A27DB-BD31-4B8C-83A1-F6EECF244321}">
                <p14:modId xmlns:p14="http://schemas.microsoft.com/office/powerpoint/2010/main" val="3102889436"/>
              </p:ext>
            </p:extLst>
          </p:nvPr>
        </p:nvGraphicFramePr>
        <p:xfrm>
          <a:off x="396856" y="2295537"/>
          <a:ext cx="5912337" cy="3951362"/>
        </p:xfrm>
        <a:graphic>
          <a:graphicData uri="http://schemas.openxmlformats.org/drawingml/2006/chart">
            <c:chart xmlns:c="http://schemas.openxmlformats.org/drawingml/2006/chart" xmlns:r="http://schemas.openxmlformats.org/officeDocument/2006/relationships" r:id="rId2"/>
          </a:graphicData>
        </a:graphic>
      </p:graphicFrame>
      <p:sp>
        <p:nvSpPr>
          <p:cNvPr id="3" name="CasellaDiTesto 2">
            <a:extLst>
              <a:ext uri="{FF2B5EF4-FFF2-40B4-BE49-F238E27FC236}">
                <a16:creationId xmlns:a16="http://schemas.microsoft.com/office/drawing/2014/main" id="{3CA92E4D-CEF1-64F6-C68C-D47521E26813}"/>
              </a:ext>
            </a:extLst>
          </p:cNvPr>
          <p:cNvSpPr txBox="1"/>
          <p:nvPr/>
        </p:nvSpPr>
        <p:spPr>
          <a:xfrm>
            <a:off x="459018" y="932926"/>
            <a:ext cx="11299667" cy="923330"/>
          </a:xfrm>
          <a:prstGeom prst="rect">
            <a:avLst/>
          </a:prstGeom>
          <a:noFill/>
        </p:spPr>
        <p:txBody>
          <a:bodyPr wrap="square">
            <a:spAutoFit/>
          </a:bodyPr>
          <a:lstStyle/>
          <a:p>
            <a:pPr algn="just"/>
            <a:r>
              <a:rPr lang="it-IT" sz="1800" dirty="0">
                <a:solidFill>
                  <a:schemeClr val="bg1"/>
                </a:solidFill>
              </a:rPr>
              <a:t>[1] </a:t>
            </a:r>
            <a:r>
              <a:rPr lang="it-IT" dirty="0">
                <a:solidFill>
                  <a:schemeClr val="bg1"/>
                </a:solidFill>
              </a:rPr>
              <a:t>C.-H. Choi, S. Hong, E. J. Jeong, and J. Han, “Infrared thermal imaging for embedded child presence detection system: Feasibility and performanceevaluation,” in Proceedings of the IEEE International Conference on ConsumerElectronics Asia (ICCE-Asia), Danang, Vietnam, 2024.</a:t>
            </a:r>
            <a:endParaRPr lang="it-IT" sz="1800" dirty="0">
              <a:solidFill>
                <a:schemeClr val="bg1"/>
              </a:solidFill>
            </a:endParaRPr>
          </a:p>
        </p:txBody>
      </p:sp>
      <p:sp>
        <p:nvSpPr>
          <p:cNvPr id="10" name="CasellaDiTesto 9">
            <a:extLst>
              <a:ext uri="{FF2B5EF4-FFF2-40B4-BE49-F238E27FC236}">
                <a16:creationId xmlns:a16="http://schemas.microsoft.com/office/drawing/2014/main" id="{4AE4E969-5C8D-20B4-1E80-C6E23657CA76}"/>
              </a:ext>
            </a:extLst>
          </p:cNvPr>
          <p:cNvSpPr txBox="1"/>
          <p:nvPr/>
        </p:nvSpPr>
        <p:spPr>
          <a:xfrm>
            <a:off x="426199" y="2018515"/>
            <a:ext cx="11339601" cy="923330"/>
          </a:xfrm>
          <a:prstGeom prst="rect">
            <a:avLst/>
          </a:prstGeom>
          <a:noFill/>
        </p:spPr>
        <p:txBody>
          <a:bodyPr wrap="square">
            <a:spAutoFit/>
          </a:bodyPr>
          <a:lstStyle/>
          <a:p>
            <a:pPr algn="just"/>
            <a:r>
              <a:rPr lang="en-US" sz="1800" dirty="0">
                <a:solidFill>
                  <a:schemeClr val="bg1"/>
                </a:solidFill>
              </a:rPr>
              <a:t>[2] C. -H. Choi, S. Hong, E. J. Jeong and J. Han, "Infrared Thermal Imaging for Embedded Child Presence Detection System: Feasibility and Performance Evaluation," 2024 IEEE International Conference on Consumer Electronics-Asia (ICCE-Asia), Danang, Vietnam, 2024</a:t>
            </a:r>
            <a:endParaRPr lang="it-IT" sz="1800" dirty="0">
              <a:solidFill>
                <a:schemeClr val="bg1"/>
              </a:solidFill>
            </a:endParaRPr>
          </a:p>
        </p:txBody>
      </p:sp>
      <p:sp>
        <p:nvSpPr>
          <p:cNvPr id="12" name="CasellaDiTesto 11">
            <a:extLst>
              <a:ext uri="{FF2B5EF4-FFF2-40B4-BE49-F238E27FC236}">
                <a16:creationId xmlns:a16="http://schemas.microsoft.com/office/drawing/2014/main" id="{C4F74863-2FFB-70BB-6852-AA979276D6FD}"/>
              </a:ext>
            </a:extLst>
          </p:cNvPr>
          <p:cNvSpPr txBox="1"/>
          <p:nvPr/>
        </p:nvSpPr>
        <p:spPr>
          <a:xfrm>
            <a:off x="419084" y="3047807"/>
            <a:ext cx="11339601" cy="923330"/>
          </a:xfrm>
          <a:prstGeom prst="rect">
            <a:avLst/>
          </a:prstGeom>
          <a:noFill/>
        </p:spPr>
        <p:txBody>
          <a:bodyPr wrap="square">
            <a:spAutoFit/>
          </a:bodyPr>
          <a:lstStyle/>
          <a:p>
            <a:pPr algn="just"/>
            <a:r>
              <a:rPr lang="it-IT" sz="1800" dirty="0">
                <a:solidFill>
                  <a:schemeClr val="bg1"/>
                </a:solidFill>
              </a:rPr>
              <a:t>[3] </a:t>
            </a:r>
            <a:r>
              <a:rPr lang="it-IT" dirty="0">
                <a:solidFill>
                  <a:schemeClr val="bg1"/>
                </a:solidFill>
              </a:rPr>
              <a:t>J. Gillner, R. Taylor, and K. Thelen, “Radar-based breathing sensor for child presence detection in automotive applications,” in 2024 IEEE 67th International Midwest Symposium on Circuits and Systems (MWSCAS). IEEE, 2024,pp. 104–107</a:t>
            </a:r>
            <a:r>
              <a:rPr lang="it-IT" sz="1800" dirty="0">
                <a:solidFill>
                  <a:schemeClr val="bg1"/>
                </a:solidFill>
              </a:rPr>
              <a:t>.</a:t>
            </a:r>
          </a:p>
        </p:txBody>
      </p:sp>
      <p:sp>
        <p:nvSpPr>
          <p:cNvPr id="2" name="Rettangolo 1">
            <a:extLst>
              <a:ext uri="{FF2B5EF4-FFF2-40B4-BE49-F238E27FC236}">
                <a16:creationId xmlns:a16="http://schemas.microsoft.com/office/drawing/2014/main" id="{0BBDF684-C165-FDBE-B508-6630C024357C}"/>
              </a:ext>
            </a:extLst>
          </p:cNvPr>
          <p:cNvSpPr/>
          <p:nvPr/>
        </p:nvSpPr>
        <p:spPr>
          <a:xfrm>
            <a:off x="8354992" y="91587"/>
            <a:ext cx="4127648" cy="461665"/>
          </a:xfrm>
          <a:prstGeom prst="rect">
            <a:avLst/>
          </a:prstGeom>
          <a:noFill/>
          <a:ln>
            <a:noFill/>
          </a:ln>
        </p:spPr>
        <p:txBody>
          <a:bodyPr wrap="square" lIns="91440" tIns="45720" rIns="91440" bIns="45720">
            <a:spAutoFit/>
          </a:bodyPr>
          <a:lstStyle/>
          <a:p>
            <a:pPr algn="ctr"/>
            <a:r>
              <a:rPr lang="it-IT" sz="2400"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STATE OF THE ART</a:t>
            </a:r>
          </a:p>
        </p:txBody>
      </p:sp>
      <p:sp>
        <p:nvSpPr>
          <p:cNvPr id="4" name="CasellaDiTesto 3">
            <a:extLst>
              <a:ext uri="{FF2B5EF4-FFF2-40B4-BE49-F238E27FC236}">
                <a16:creationId xmlns:a16="http://schemas.microsoft.com/office/drawing/2014/main" id="{351A0AB2-CA67-470D-BC81-C9F772DABE82}"/>
              </a:ext>
            </a:extLst>
          </p:cNvPr>
          <p:cNvSpPr txBox="1"/>
          <p:nvPr/>
        </p:nvSpPr>
        <p:spPr>
          <a:xfrm>
            <a:off x="410440" y="4160125"/>
            <a:ext cx="11339601" cy="923330"/>
          </a:xfrm>
          <a:prstGeom prst="rect">
            <a:avLst/>
          </a:prstGeom>
          <a:noFill/>
        </p:spPr>
        <p:txBody>
          <a:bodyPr wrap="square">
            <a:spAutoFit/>
          </a:bodyPr>
          <a:lstStyle/>
          <a:p>
            <a:pPr algn="just"/>
            <a:r>
              <a:rPr lang="it-IT" sz="1800" dirty="0">
                <a:solidFill>
                  <a:schemeClr val="bg1"/>
                </a:solidFill>
              </a:rPr>
              <a:t>[4] </a:t>
            </a:r>
            <a:r>
              <a:rPr lang="it-IT" dirty="0">
                <a:solidFill>
                  <a:schemeClr val="bg1"/>
                </a:solidFill>
              </a:rPr>
              <a:t>M. A. H. M. Nazri, S. A. B. C. Abdullah, A. Ahmad, F. H. K. Zaman, N. K.Mun, and M. F. M. Salleh, “In vehicle child presence detection using 60ghz radar,” in 2025 IEEE 8th International Conference on Electrical, Electronics,and System Engineering (ICEESE). IEEE, 2025, pp. 42–47</a:t>
            </a:r>
            <a:r>
              <a:rPr lang="it-IT" sz="1800" dirty="0">
                <a:solidFill>
                  <a:schemeClr val="bg1"/>
                </a:solidFill>
              </a:rPr>
              <a:t>.</a:t>
            </a:r>
          </a:p>
        </p:txBody>
      </p:sp>
      <p:sp>
        <p:nvSpPr>
          <p:cNvPr id="5" name="CasellaDiTesto 4">
            <a:extLst>
              <a:ext uri="{FF2B5EF4-FFF2-40B4-BE49-F238E27FC236}">
                <a16:creationId xmlns:a16="http://schemas.microsoft.com/office/drawing/2014/main" id="{0BB3AD81-485F-6224-589B-FE202A62FA4B}"/>
              </a:ext>
            </a:extLst>
          </p:cNvPr>
          <p:cNvSpPr txBox="1"/>
          <p:nvPr/>
        </p:nvSpPr>
        <p:spPr>
          <a:xfrm>
            <a:off x="439050" y="5323570"/>
            <a:ext cx="11339601" cy="923330"/>
          </a:xfrm>
          <a:prstGeom prst="rect">
            <a:avLst/>
          </a:prstGeom>
          <a:noFill/>
        </p:spPr>
        <p:txBody>
          <a:bodyPr wrap="square">
            <a:spAutoFit/>
          </a:bodyPr>
          <a:lstStyle/>
          <a:p>
            <a:pPr algn="just"/>
            <a:r>
              <a:rPr lang="it-IT" sz="1800" dirty="0">
                <a:solidFill>
                  <a:schemeClr val="bg1"/>
                </a:solidFill>
              </a:rPr>
              <a:t>[4]</a:t>
            </a:r>
            <a:r>
              <a:rPr lang="it-IT" dirty="0">
                <a:solidFill>
                  <a:schemeClr val="bg1"/>
                </a:solidFill>
              </a:rPr>
              <a:t> Y. Su, F. Zhang, K. Niu, T. Wang, B. Jin, Z. Wang, Y. Jiang, D. Zhang,L. Qiu, and J. Xiong, “Embracing distributed acoustic sensing in car cabin forchildren presence detection,” Proceedings of the ACM on Interactive, Mobile,Wearable and Ubiquitous Technologies, vol. 8, no. 1, Mar. 2024</a:t>
            </a:r>
            <a:r>
              <a:rPr lang="it-IT" sz="1800" dirty="0">
                <a:solidFill>
                  <a:schemeClr val="bg1"/>
                </a:solidFill>
              </a:rPr>
              <a:t>.</a:t>
            </a:r>
          </a:p>
        </p:txBody>
      </p:sp>
    </p:spTree>
    <p:extLst>
      <p:ext uri="{BB962C8B-B14F-4D97-AF65-F5344CB8AC3E}">
        <p14:creationId xmlns:p14="http://schemas.microsoft.com/office/powerpoint/2010/main" val="34977395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018301-D31B-166C-0974-8D7484D16528}"/>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D29C207-899D-80FE-32DF-CFB0FDDCE0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292F025-0A82-9A1B-56C5-4C9A4895E6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86425D8A-5C81-8E35-3E16-1CEF41F67E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8DD6B6FA-61F4-19E3-3C18-8C8E1BFCD2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C9FEFBA2-67F3-1AD1-46B8-67ECE20282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A48CC834-E141-974D-4BF0-9B7CF1E673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45BA847B-9D58-7BE9-0866-0CA6893B96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322FFCA9-3A2C-8163-40E3-90ABDB8D1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CasellaDiTesto 8">
            <a:extLst>
              <a:ext uri="{FF2B5EF4-FFF2-40B4-BE49-F238E27FC236}">
                <a16:creationId xmlns:a16="http://schemas.microsoft.com/office/drawing/2014/main" id="{0C6FF999-7B03-2F1F-118E-F2395CDAE471}"/>
              </a:ext>
            </a:extLst>
          </p:cNvPr>
          <p:cNvSpPr txBox="1"/>
          <p:nvPr/>
        </p:nvSpPr>
        <p:spPr>
          <a:xfrm>
            <a:off x="1718325" y="2579944"/>
            <a:ext cx="8876485" cy="1323439"/>
          </a:xfrm>
          <a:prstGeom prst="rect">
            <a:avLst/>
          </a:prstGeom>
          <a:noFill/>
          <a:ln>
            <a:noFill/>
          </a:ln>
        </p:spPr>
        <p:txBody>
          <a:bodyPr wrap="square" rtlCol="0">
            <a:spAutoFit/>
          </a:bodyPr>
          <a:lstStyle/>
          <a:p>
            <a:pPr algn="just"/>
            <a:r>
              <a:rPr lang="it-IT" sz="2000" dirty="0">
                <a:ln w="10160">
                  <a:solidFill>
                    <a:schemeClr val="bg1"/>
                  </a:solidFill>
                  <a:prstDash val="solid"/>
                </a:ln>
                <a:solidFill>
                  <a:schemeClr val="bg1"/>
                </a:solidFill>
                <a:effectLst>
                  <a:outerShdw blurRad="38100" dist="22860" dir="5400000" algn="tl" rotWithShape="0">
                    <a:srgbClr val="000000">
                      <a:alpha val="30000"/>
                    </a:srgbClr>
                  </a:outerShdw>
                </a:effectLst>
                <a:latin typeface="Alata" pitchFamily="2" charset="0"/>
                <a:cs typeface="Alata" pitchFamily="2" charset="0"/>
              </a:rPr>
              <a:t>THE SYSTEM USE A COMBINATION OF SENSORS AND AI MODELS TO DETECT THE PRESENCE OF A CHILD OR PET , UNACOMPAINED INSIDE A CAR.</a:t>
            </a:r>
          </a:p>
          <a:p>
            <a:pPr algn="just"/>
            <a:endParaRPr lang="it-IT" sz="2000" dirty="0">
              <a:ln w="10160">
                <a:solidFill>
                  <a:schemeClr val="bg1"/>
                </a:solidFill>
                <a:prstDash val="solid"/>
              </a:ln>
              <a:solidFill>
                <a:schemeClr val="bg1"/>
              </a:solidFill>
              <a:effectLst>
                <a:outerShdw blurRad="38100" dist="22860" dir="5400000" algn="tl" rotWithShape="0">
                  <a:srgbClr val="000000">
                    <a:alpha val="30000"/>
                  </a:srgbClr>
                </a:outerShdw>
              </a:effectLst>
              <a:latin typeface="Alata" pitchFamily="2" charset="0"/>
              <a:cs typeface="Alata" pitchFamily="2" charset="0"/>
            </a:endParaRPr>
          </a:p>
          <a:p>
            <a:pPr algn="just"/>
            <a:r>
              <a:rPr lang="it-IT" sz="2000" dirty="0">
                <a:ln w="10160">
                  <a:solidFill>
                    <a:schemeClr val="bg1"/>
                  </a:solidFill>
                  <a:prstDash val="solid"/>
                </a:ln>
                <a:solidFill>
                  <a:schemeClr val="bg1"/>
                </a:solidFill>
                <a:effectLst>
                  <a:outerShdw blurRad="38100" dist="22860" dir="5400000" algn="tl" rotWithShape="0">
                    <a:srgbClr val="000000">
                      <a:alpha val="30000"/>
                    </a:srgbClr>
                  </a:outerShdw>
                </a:effectLst>
                <a:latin typeface="Alata" pitchFamily="2" charset="0"/>
                <a:cs typeface="Alata" pitchFamily="2" charset="0"/>
              </a:rPr>
              <a:t>IN SUCH CASE SEND AN ALERT TO THE USER.</a:t>
            </a:r>
          </a:p>
        </p:txBody>
      </p:sp>
      <p:sp>
        <p:nvSpPr>
          <p:cNvPr id="2" name="Rettangolo 1">
            <a:extLst>
              <a:ext uri="{FF2B5EF4-FFF2-40B4-BE49-F238E27FC236}">
                <a16:creationId xmlns:a16="http://schemas.microsoft.com/office/drawing/2014/main" id="{FED5E73E-99E0-584E-5CF8-016DCF8848E3}"/>
              </a:ext>
            </a:extLst>
          </p:cNvPr>
          <p:cNvSpPr/>
          <p:nvPr/>
        </p:nvSpPr>
        <p:spPr>
          <a:xfrm>
            <a:off x="7915299" y="101635"/>
            <a:ext cx="4127648" cy="461665"/>
          </a:xfrm>
          <a:prstGeom prst="rect">
            <a:avLst/>
          </a:prstGeom>
          <a:noFill/>
          <a:ln>
            <a:noFill/>
          </a:ln>
        </p:spPr>
        <p:txBody>
          <a:bodyPr wrap="square" lIns="91440" tIns="45720" rIns="91440" bIns="45720">
            <a:spAutoFit/>
          </a:bodyPr>
          <a:lstStyle/>
          <a:p>
            <a:pPr algn="ctr"/>
            <a:r>
              <a:rPr lang="it-IT" sz="2400"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SYSTEM FUNCTIONALITIES</a:t>
            </a:r>
          </a:p>
        </p:txBody>
      </p:sp>
    </p:spTree>
    <p:extLst>
      <p:ext uri="{BB962C8B-B14F-4D97-AF65-F5344CB8AC3E}">
        <p14:creationId xmlns:p14="http://schemas.microsoft.com/office/powerpoint/2010/main" val="23062439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C3A978-1766-C729-500A-1CA49C57F15C}"/>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74FAA4DC-79C2-52A6-6E84-41393E8168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CD6FCDE2-9A90-A744-9106-96B651005A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28DAF05D-D0E6-F59B-78EF-95CEB56258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FB7BE61E-5C0C-7F5D-001C-AA5EE19455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3A0FF6C3-EBCD-A6FC-40C7-7B876796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63417D27-FD8D-A2E2-40E0-C72159442A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FA501428-D8DF-8A18-E823-E3454F4901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B9B7B650-55B5-9B04-C1ED-57787F80A1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6" name="Group 21">
            <a:extLst>
              <a:ext uri="{FF2B5EF4-FFF2-40B4-BE49-F238E27FC236}">
                <a16:creationId xmlns:a16="http://schemas.microsoft.com/office/drawing/2014/main" id="{77598C0E-1FA5-0137-6EF1-F74FD8190517}"/>
              </a:ext>
            </a:extLst>
          </p:cNvPr>
          <p:cNvGrpSpPr/>
          <p:nvPr/>
        </p:nvGrpSpPr>
        <p:grpSpPr>
          <a:xfrm>
            <a:off x="8002009" y="3947441"/>
            <a:ext cx="3857809" cy="1240727"/>
            <a:chOff x="-496230" y="4386278"/>
            <a:chExt cx="4017656" cy="1240727"/>
          </a:xfrm>
        </p:grpSpPr>
        <p:sp>
          <p:nvSpPr>
            <p:cNvPr id="127" name="TextBox 22">
              <a:extLst>
                <a:ext uri="{FF2B5EF4-FFF2-40B4-BE49-F238E27FC236}">
                  <a16:creationId xmlns:a16="http://schemas.microsoft.com/office/drawing/2014/main" id="{A3EB1304-C07B-E7CC-28A2-B3E4D25F4D5A}"/>
                </a:ext>
              </a:extLst>
            </p:cNvPr>
            <p:cNvSpPr txBox="1"/>
            <p:nvPr/>
          </p:nvSpPr>
          <p:spPr>
            <a:xfrm>
              <a:off x="-492607" y="4386278"/>
              <a:ext cx="3646939" cy="338554"/>
            </a:xfrm>
            <a:prstGeom prst="rect">
              <a:avLst/>
            </a:prstGeom>
            <a:noFill/>
          </p:spPr>
          <p:txBody>
            <a:bodyPr wrap="square" l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altLang="ko-KR" sz="1600" b="1" dirty="0">
                  <a:solidFill>
                    <a:schemeClr val="bg1"/>
                  </a:solidFill>
                  <a:latin typeface="Alata" pitchFamily="2" charset="0"/>
                  <a:cs typeface="Alata" pitchFamily="2" charset="0"/>
                </a:rPr>
                <a:t>BRAIN MODULE</a:t>
              </a:r>
              <a:endParaRPr lang="ko-KR" altLang="en-US" sz="1600" b="1">
                <a:solidFill>
                  <a:schemeClr val="bg1"/>
                </a:solidFill>
                <a:latin typeface="Alata" pitchFamily="2" charset="0"/>
                <a:cs typeface="Alata" pitchFamily="2" charset="0"/>
              </a:endParaRPr>
            </a:p>
          </p:txBody>
        </p:sp>
        <p:sp>
          <p:nvSpPr>
            <p:cNvPr id="128" name="TextBox 23">
              <a:extLst>
                <a:ext uri="{FF2B5EF4-FFF2-40B4-BE49-F238E27FC236}">
                  <a16:creationId xmlns:a16="http://schemas.microsoft.com/office/drawing/2014/main" id="{94C28350-322F-CC3E-AA64-B67EB1CAF3E9}"/>
                </a:ext>
              </a:extLst>
            </p:cNvPr>
            <p:cNvSpPr txBox="1"/>
            <p:nvPr/>
          </p:nvSpPr>
          <p:spPr>
            <a:xfrm>
              <a:off x="-496230" y="4672898"/>
              <a:ext cx="4017656" cy="954107"/>
            </a:xfrm>
            <a:prstGeom prst="rect">
              <a:avLst/>
            </a:prstGeom>
            <a:noFill/>
          </p:spPr>
          <p:txBody>
            <a:bodyPr wrap="square" l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400" dirty="0">
                  <a:solidFill>
                    <a:schemeClr val="bg1"/>
                  </a:solidFill>
                  <a:latin typeface="Alata" pitchFamily="2" charset="0"/>
                  <a:cs typeface="Alata" pitchFamily="2" charset="0"/>
                </a:rPr>
                <a:t>Coordinates eye and ear, and classification modules, process their output, evaluate the state and if necessary trigger the communications module.</a:t>
              </a:r>
              <a:endParaRPr lang="ko-KR" altLang="en-US" sz="1400">
                <a:solidFill>
                  <a:schemeClr val="bg1"/>
                </a:solidFill>
                <a:latin typeface="Alata" pitchFamily="2" charset="0"/>
                <a:cs typeface="Alata" pitchFamily="2" charset="0"/>
              </a:endParaRPr>
            </a:p>
          </p:txBody>
        </p:sp>
      </p:grpSp>
      <p:grpSp>
        <p:nvGrpSpPr>
          <p:cNvPr id="138" name="Group 21">
            <a:extLst>
              <a:ext uri="{FF2B5EF4-FFF2-40B4-BE49-F238E27FC236}">
                <a16:creationId xmlns:a16="http://schemas.microsoft.com/office/drawing/2014/main" id="{30A08680-63A4-1AEB-70CC-44BE25E5A6AC}"/>
              </a:ext>
            </a:extLst>
          </p:cNvPr>
          <p:cNvGrpSpPr/>
          <p:nvPr/>
        </p:nvGrpSpPr>
        <p:grpSpPr>
          <a:xfrm>
            <a:off x="216794" y="1522234"/>
            <a:ext cx="3736547" cy="1021857"/>
            <a:chOff x="-367749" y="4388814"/>
            <a:chExt cx="3891370" cy="1021857"/>
          </a:xfrm>
        </p:grpSpPr>
        <p:sp>
          <p:nvSpPr>
            <p:cNvPr id="139" name="TextBox 22">
              <a:extLst>
                <a:ext uri="{FF2B5EF4-FFF2-40B4-BE49-F238E27FC236}">
                  <a16:creationId xmlns:a16="http://schemas.microsoft.com/office/drawing/2014/main" id="{69370399-1F6B-36D9-208D-3481C8F86FF6}"/>
                </a:ext>
              </a:extLst>
            </p:cNvPr>
            <p:cNvSpPr txBox="1"/>
            <p:nvPr/>
          </p:nvSpPr>
          <p:spPr>
            <a:xfrm>
              <a:off x="-367749" y="4388814"/>
              <a:ext cx="3646939" cy="338554"/>
            </a:xfrm>
            <a:prstGeom prst="rect">
              <a:avLst/>
            </a:prstGeom>
            <a:noFill/>
          </p:spPr>
          <p:txBody>
            <a:bodyPr wrap="square" l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600" b="1" dirty="0">
                  <a:solidFill>
                    <a:schemeClr val="bg1"/>
                  </a:solidFill>
                  <a:latin typeface="Alata" pitchFamily="2" charset="0"/>
                  <a:cs typeface="Alata" pitchFamily="2" charset="0"/>
                </a:rPr>
                <a:t>EYE MODULE</a:t>
              </a:r>
              <a:endParaRPr lang="ko-KR" altLang="en-US" sz="1600" b="1">
                <a:solidFill>
                  <a:schemeClr val="bg1"/>
                </a:solidFill>
                <a:latin typeface="Alata" pitchFamily="2" charset="0"/>
                <a:cs typeface="Alata" pitchFamily="2" charset="0"/>
              </a:endParaRPr>
            </a:p>
          </p:txBody>
        </p:sp>
        <p:sp>
          <p:nvSpPr>
            <p:cNvPr id="140" name="TextBox 23">
              <a:extLst>
                <a:ext uri="{FF2B5EF4-FFF2-40B4-BE49-F238E27FC236}">
                  <a16:creationId xmlns:a16="http://schemas.microsoft.com/office/drawing/2014/main" id="{EB0521E8-B7D3-CBB8-F8C0-32243D7B3220}"/>
                </a:ext>
              </a:extLst>
            </p:cNvPr>
            <p:cNvSpPr txBox="1"/>
            <p:nvPr/>
          </p:nvSpPr>
          <p:spPr>
            <a:xfrm>
              <a:off x="-364127" y="4672007"/>
              <a:ext cx="3887748" cy="738664"/>
            </a:xfrm>
            <a:prstGeom prst="rect">
              <a:avLst/>
            </a:prstGeom>
            <a:noFill/>
          </p:spPr>
          <p:txBody>
            <a:bodyPr wrap="square" l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altLang="ko-KR" sz="1400" dirty="0">
                  <a:solidFill>
                    <a:schemeClr val="bg1"/>
                  </a:solidFill>
                  <a:latin typeface="Alata" pitchFamily="2" charset="0"/>
                  <a:cs typeface="Alata" pitchFamily="2" charset="0"/>
                </a:rPr>
                <a:t>Acquires images from the camera,</a:t>
              </a:r>
            </a:p>
            <a:p>
              <a:r>
                <a:rPr lang="it-IT" altLang="ko-KR" sz="1400" dirty="0">
                  <a:solidFill>
                    <a:schemeClr val="bg1"/>
                  </a:solidFill>
                  <a:latin typeface="Alata" pitchFamily="2" charset="0"/>
                  <a:cs typeface="Alata" pitchFamily="2" charset="0"/>
                </a:rPr>
                <a:t>pre-process them, then send the result</a:t>
              </a:r>
            </a:p>
            <a:p>
              <a:r>
                <a:rPr lang="it-IT" altLang="ko-KR" sz="1400" dirty="0">
                  <a:solidFill>
                    <a:schemeClr val="bg1"/>
                  </a:solidFill>
                  <a:latin typeface="Alata" pitchFamily="2" charset="0"/>
                  <a:cs typeface="Alata" pitchFamily="2" charset="0"/>
                </a:rPr>
                <a:t>to the image classification module</a:t>
              </a:r>
              <a:r>
                <a:rPr lang="it-IT" altLang="ko-KR" sz="1200" dirty="0">
                  <a:solidFill>
                    <a:schemeClr val="bg1"/>
                  </a:solidFill>
                  <a:latin typeface="Alata" pitchFamily="2" charset="0"/>
                  <a:cs typeface="Alata" pitchFamily="2" charset="0"/>
                </a:rPr>
                <a:t>.</a:t>
              </a:r>
              <a:endParaRPr lang="ko-KR" altLang="en-US" sz="1200" dirty="0">
                <a:solidFill>
                  <a:schemeClr val="bg1"/>
                </a:solidFill>
                <a:latin typeface="Alata" pitchFamily="2" charset="0"/>
                <a:cs typeface="Alata" pitchFamily="2" charset="0"/>
              </a:endParaRPr>
            </a:p>
          </p:txBody>
        </p:sp>
      </p:grpSp>
      <p:cxnSp>
        <p:nvCxnSpPr>
          <p:cNvPr id="25" name="Connettore a gomito 24">
            <a:extLst>
              <a:ext uri="{FF2B5EF4-FFF2-40B4-BE49-F238E27FC236}">
                <a16:creationId xmlns:a16="http://schemas.microsoft.com/office/drawing/2014/main" id="{5FAC54F2-6027-9FF6-025C-CC00800EFCB6}"/>
              </a:ext>
            </a:extLst>
          </p:cNvPr>
          <p:cNvCxnSpPr>
            <a:cxnSpLocks/>
          </p:cNvCxnSpPr>
          <p:nvPr/>
        </p:nvCxnSpPr>
        <p:spPr>
          <a:xfrm>
            <a:off x="2048964" y="2728424"/>
            <a:ext cx="924980" cy="327863"/>
          </a:xfrm>
          <a:prstGeom prst="bentConnector3">
            <a:avLst>
              <a:gd name="adj1" fmla="val 40"/>
            </a:avLst>
          </a:prstGeom>
          <a:ln>
            <a:solidFill>
              <a:schemeClr val="bg2"/>
            </a:solidFill>
            <a:headEnd type="oval"/>
            <a:tailEnd type="oval"/>
          </a:ln>
        </p:spPr>
        <p:style>
          <a:lnRef idx="2">
            <a:schemeClr val="accent1"/>
          </a:lnRef>
          <a:fillRef idx="0">
            <a:schemeClr val="accent1"/>
          </a:fillRef>
          <a:effectRef idx="1">
            <a:schemeClr val="accent1"/>
          </a:effectRef>
          <a:fontRef idx="minor">
            <a:schemeClr val="tx1"/>
          </a:fontRef>
        </p:style>
      </p:cxnSp>
      <p:grpSp>
        <p:nvGrpSpPr>
          <p:cNvPr id="79" name="Group 21">
            <a:extLst>
              <a:ext uri="{FF2B5EF4-FFF2-40B4-BE49-F238E27FC236}">
                <a16:creationId xmlns:a16="http://schemas.microsoft.com/office/drawing/2014/main" id="{4D373B19-E373-DE70-DEAA-0282CC836814}"/>
              </a:ext>
            </a:extLst>
          </p:cNvPr>
          <p:cNvGrpSpPr/>
          <p:nvPr/>
        </p:nvGrpSpPr>
        <p:grpSpPr>
          <a:xfrm>
            <a:off x="243362" y="5034808"/>
            <a:ext cx="3517387" cy="1025284"/>
            <a:chOff x="-496230" y="4386278"/>
            <a:chExt cx="5280167" cy="1025284"/>
          </a:xfrm>
        </p:grpSpPr>
        <p:sp>
          <p:nvSpPr>
            <p:cNvPr id="80" name="TextBox 22">
              <a:extLst>
                <a:ext uri="{FF2B5EF4-FFF2-40B4-BE49-F238E27FC236}">
                  <a16:creationId xmlns:a16="http://schemas.microsoft.com/office/drawing/2014/main" id="{868E58B9-3384-4AD9-0D25-84C486B21628}"/>
                </a:ext>
              </a:extLst>
            </p:cNvPr>
            <p:cNvSpPr txBox="1"/>
            <p:nvPr/>
          </p:nvSpPr>
          <p:spPr>
            <a:xfrm>
              <a:off x="-492607" y="4386278"/>
              <a:ext cx="3646939" cy="338554"/>
            </a:xfrm>
            <a:prstGeom prst="rect">
              <a:avLst/>
            </a:prstGeom>
            <a:noFill/>
          </p:spPr>
          <p:txBody>
            <a:bodyPr wrap="square" l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altLang="ko-KR" sz="1600" b="1" dirty="0">
                  <a:solidFill>
                    <a:schemeClr val="bg1"/>
                  </a:solidFill>
                  <a:latin typeface="Alata" pitchFamily="2" charset="0"/>
                  <a:cs typeface="Alata" pitchFamily="2" charset="0"/>
                </a:rPr>
                <a:t>EAR MODULE</a:t>
              </a:r>
              <a:endParaRPr lang="ko-KR" altLang="en-US" sz="1600" b="1">
                <a:solidFill>
                  <a:schemeClr val="bg1"/>
                </a:solidFill>
                <a:latin typeface="Alata" pitchFamily="2" charset="0"/>
                <a:cs typeface="Alata" pitchFamily="2" charset="0"/>
              </a:endParaRPr>
            </a:p>
          </p:txBody>
        </p:sp>
        <p:sp>
          <p:nvSpPr>
            <p:cNvPr id="81" name="TextBox 23">
              <a:extLst>
                <a:ext uri="{FF2B5EF4-FFF2-40B4-BE49-F238E27FC236}">
                  <a16:creationId xmlns:a16="http://schemas.microsoft.com/office/drawing/2014/main" id="{F2A240B5-56FB-13A4-9104-C797F7707E64}"/>
                </a:ext>
              </a:extLst>
            </p:cNvPr>
            <p:cNvSpPr txBox="1"/>
            <p:nvPr/>
          </p:nvSpPr>
          <p:spPr>
            <a:xfrm>
              <a:off x="-496230" y="4672898"/>
              <a:ext cx="5280167" cy="738664"/>
            </a:xfrm>
            <a:prstGeom prst="rect">
              <a:avLst/>
            </a:prstGeom>
            <a:noFill/>
          </p:spPr>
          <p:txBody>
            <a:bodyPr wrap="square" l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400" dirty="0">
                  <a:solidFill>
                    <a:schemeClr val="bg1"/>
                  </a:solidFill>
                  <a:latin typeface="Alata" pitchFamily="2" charset="0"/>
                  <a:cs typeface="Alata" pitchFamily="2" charset="0"/>
                </a:rPr>
                <a:t>Acquire the sound, and the pre-process it, provide the output to the audio classification module</a:t>
              </a:r>
              <a:endParaRPr lang="ko-KR" altLang="en-US" sz="1400">
                <a:solidFill>
                  <a:schemeClr val="bg1"/>
                </a:solidFill>
                <a:latin typeface="Alata" pitchFamily="2" charset="0"/>
                <a:cs typeface="Alata" pitchFamily="2" charset="0"/>
              </a:endParaRPr>
            </a:p>
          </p:txBody>
        </p:sp>
      </p:grpSp>
      <p:cxnSp>
        <p:nvCxnSpPr>
          <p:cNvPr id="121" name="Connettore a gomito 120">
            <a:extLst>
              <a:ext uri="{FF2B5EF4-FFF2-40B4-BE49-F238E27FC236}">
                <a16:creationId xmlns:a16="http://schemas.microsoft.com/office/drawing/2014/main" id="{6C438F53-058D-5526-F517-400F723BB49C}"/>
              </a:ext>
            </a:extLst>
          </p:cNvPr>
          <p:cNvCxnSpPr>
            <a:cxnSpLocks/>
          </p:cNvCxnSpPr>
          <p:nvPr/>
        </p:nvCxnSpPr>
        <p:spPr>
          <a:xfrm>
            <a:off x="5923992" y="5022430"/>
            <a:ext cx="785907" cy="611879"/>
          </a:xfrm>
          <a:prstGeom prst="bentConnector3">
            <a:avLst>
              <a:gd name="adj1" fmla="val 98792"/>
            </a:avLst>
          </a:prstGeom>
          <a:ln>
            <a:solidFill>
              <a:schemeClr val="bg2"/>
            </a:solidFill>
            <a:headEnd type="oval"/>
            <a:tailEnd type="oval"/>
          </a:ln>
        </p:spPr>
        <p:style>
          <a:lnRef idx="2">
            <a:schemeClr val="accent1"/>
          </a:lnRef>
          <a:fillRef idx="0">
            <a:schemeClr val="accent1"/>
          </a:fillRef>
          <a:effectRef idx="1">
            <a:schemeClr val="accent1"/>
          </a:effectRef>
          <a:fontRef idx="minor">
            <a:schemeClr val="tx1"/>
          </a:fontRef>
        </p:style>
      </p:cxnSp>
      <p:sp>
        <p:nvSpPr>
          <p:cNvPr id="2" name="Rettangolo 1">
            <a:extLst>
              <a:ext uri="{FF2B5EF4-FFF2-40B4-BE49-F238E27FC236}">
                <a16:creationId xmlns:a16="http://schemas.microsoft.com/office/drawing/2014/main" id="{404138AF-3354-7DA3-8112-AFFD07CE0E9E}"/>
              </a:ext>
            </a:extLst>
          </p:cNvPr>
          <p:cNvSpPr/>
          <p:nvPr/>
        </p:nvSpPr>
        <p:spPr>
          <a:xfrm>
            <a:off x="7867090" y="95308"/>
            <a:ext cx="4127648" cy="461665"/>
          </a:xfrm>
          <a:prstGeom prst="rect">
            <a:avLst/>
          </a:prstGeom>
          <a:noFill/>
          <a:ln>
            <a:noFill/>
          </a:ln>
        </p:spPr>
        <p:txBody>
          <a:bodyPr wrap="square" lIns="91440" tIns="45720" rIns="91440" bIns="45720">
            <a:spAutoFit/>
          </a:bodyPr>
          <a:lstStyle/>
          <a:p>
            <a:pPr algn="ctr"/>
            <a:r>
              <a:rPr lang="it-IT" sz="2400"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PROTOTYPE ARCHITECTURE</a:t>
            </a:r>
          </a:p>
        </p:txBody>
      </p:sp>
      <p:grpSp>
        <p:nvGrpSpPr>
          <p:cNvPr id="51" name="Group 21">
            <a:extLst>
              <a:ext uri="{FF2B5EF4-FFF2-40B4-BE49-F238E27FC236}">
                <a16:creationId xmlns:a16="http://schemas.microsoft.com/office/drawing/2014/main" id="{B1D3A337-F53C-3DFE-B586-943975AAB14F}"/>
              </a:ext>
            </a:extLst>
          </p:cNvPr>
          <p:cNvGrpSpPr/>
          <p:nvPr/>
        </p:nvGrpSpPr>
        <p:grpSpPr>
          <a:xfrm>
            <a:off x="8580617" y="1520107"/>
            <a:ext cx="3501842" cy="1025284"/>
            <a:chOff x="-496229" y="4386278"/>
            <a:chExt cx="3869813" cy="1025284"/>
          </a:xfrm>
        </p:grpSpPr>
        <p:sp>
          <p:nvSpPr>
            <p:cNvPr id="52" name="TextBox 22">
              <a:extLst>
                <a:ext uri="{FF2B5EF4-FFF2-40B4-BE49-F238E27FC236}">
                  <a16:creationId xmlns:a16="http://schemas.microsoft.com/office/drawing/2014/main" id="{367DFE92-5C74-A52A-65AB-AE863FC02927}"/>
                </a:ext>
              </a:extLst>
            </p:cNvPr>
            <p:cNvSpPr txBox="1"/>
            <p:nvPr/>
          </p:nvSpPr>
          <p:spPr>
            <a:xfrm>
              <a:off x="-492607" y="4386278"/>
              <a:ext cx="3646939" cy="338554"/>
            </a:xfrm>
            <a:prstGeom prst="rect">
              <a:avLst/>
            </a:prstGeom>
            <a:noFill/>
          </p:spPr>
          <p:txBody>
            <a:bodyPr wrap="square" l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altLang="ko-KR" sz="1600" b="1" dirty="0">
                  <a:solidFill>
                    <a:schemeClr val="bg1"/>
                  </a:solidFill>
                  <a:latin typeface="Alata" pitchFamily="2" charset="0"/>
                  <a:cs typeface="Alata" pitchFamily="2" charset="0"/>
                </a:rPr>
                <a:t>COMMUNICATIONS MODULE</a:t>
              </a:r>
              <a:endParaRPr lang="ko-KR" altLang="en-US" sz="1600" b="1">
                <a:solidFill>
                  <a:schemeClr val="bg1"/>
                </a:solidFill>
                <a:latin typeface="Alata" pitchFamily="2" charset="0"/>
                <a:cs typeface="Alata" pitchFamily="2" charset="0"/>
              </a:endParaRPr>
            </a:p>
          </p:txBody>
        </p:sp>
        <p:sp>
          <p:nvSpPr>
            <p:cNvPr id="53" name="TextBox 23">
              <a:extLst>
                <a:ext uri="{FF2B5EF4-FFF2-40B4-BE49-F238E27FC236}">
                  <a16:creationId xmlns:a16="http://schemas.microsoft.com/office/drawing/2014/main" id="{1E268A4D-5354-73CF-7EF9-8680FB1D6E62}"/>
                </a:ext>
              </a:extLst>
            </p:cNvPr>
            <p:cNvSpPr txBox="1"/>
            <p:nvPr/>
          </p:nvSpPr>
          <p:spPr>
            <a:xfrm>
              <a:off x="-496229" y="4672898"/>
              <a:ext cx="3869813" cy="738664"/>
            </a:xfrm>
            <a:prstGeom prst="rect">
              <a:avLst/>
            </a:prstGeom>
            <a:noFill/>
          </p:spPr>
          <p:txBody>
            <a:bodyPr wrap="square" l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400" dirty="0">
                  <a:solidFill>
                    <a:schemeClr val="bg1"/>
                  </a:solidFill>
                  <a:latin typeface="Alata" pitchFamily="2" charset="0"/>
                  <a:cs typeface="Alata" pitchFamily="2" charset="0"/>
                </a:rPr>
                <a:t>Once triggered, sends the alert to a designated caregiver, leveraging the Telegram APIs.</a:t>
              </a:r>
              <a:endParaRPr lang="ko-KR" altLang="en-US" sz="1400">
                <a:solidFill>
                  <a:schemeClr val="bg1"/>
                </a:solidFill>
                <a:latin typeface="Alata" pitchFamily="2" charset="0"/>
                <a:cs typeface="Alata" pitchFamily="2" charset="0"/>
              </a:endParaRPr>
            </a:p>
          </p:txBody>
        </p:sp>
      </p:grpSp>
      <p:grpSp>
        <p:nvGrpSpPr>
          <p:cNvPr id="34" name="Gruppo 33">
            <a:extLst>
              <a:ext uri="{FF2B5EF4-FFF2-40B4-BE49-F238E27FC236}">
                <a16:creationId xmlns:a16="http://schemas.microsoft.com/office/drawing/2014/main" id="{5A43C0DA-61A2-9C5B-FD75-BD790E0A2007}"/>
              </a:ext>
            </a:extLst>
          </p:cNvPr>
          <p:cNvGrpSpPr/>
          <p:nvPr/>
        </p:nvGrpSpPr>
        <p:grpSpPr>
          <a:xfrm>
            <a:off x="3067418" y="1785847"/>
            <a:ext cx="4997466" cy="4058801"/>
            <a:chOff x="2654981" y="1861208"/>
            <a:chExt cx="4997466" cy="4058801"/>
          </a:xfrm>
        </p:grpSpPr>
        <p:grpSp>
          <p:nvGrpSpPr>
            <p:cNvPr id="10" name="Gruppo 9">
              <a:extLst>
                <a:ext uri="{FF2B5EF4-FFF2-40B4-BE49-F238E27FC236}">
                  <a16:creationId xmlns:a16="http://schemas.microsoft.com/office/drawing/2014/main" id="{4A1A26D4-A4D4-5B47-CCCF-1B9D1F36DEB8}"/>
                </a:ext>
              </a:extLst>
            </p:cNvPr>
            <p:cNvGrpSpPr/>
            <p:nvPr/>
          </p:nvGrpSpPr>
          <p:grpSpPr>
            <a:xfrm>
              <a:off x="2718034" y="2287136"/>
              <a:ext cx="1543595" cy="1547238"/>
              <a:chOff x="3822123" y="1961917"/>
              <a:chExt cx="1543595" cy="1547238"/>
            </a:xfrm>
          </p:grpSpPr>
          <p:sp>
            <p:nvSpPr>
              <p:cNvPr id="12" name="자유형: 도형 114">
                <a:extLst>
                  <a:ext uri="{FF2B5EF4-FFF2-40B4-BE49-F238E27FC236}">
                    <a16:creationId xmlns:a16="http://schemas.microsoft.com/office/drawing/2014/main" id="{257DE4D5-3A0B-2549-56C7-124F3FA3A83B}"/>
                  </a:ext>
                </a:extLst>
              </p:cNvPr>
              <p:cNvSpPr/>
              <p:nvPr/>
            </p:nvSpPr>
            <p:spPr>
              <a:xfrm>
                <a:off x="3822123" y="1961917"/>
                <a:ext cx="1543595" cy="1547238"/>
              </a:xfrm>
              <a:custGeom>
                <a:avLst/>
                <a:gdLst>
                  <a:gd name="connsiteX0" fmla="*/ 1702614 w 1792010"/>
                  <a:gd name="connsiteY0" fmla="*/ 878442 h 1796239"/>
                  <a:gd name="connsiteX1" fmla="*/ 1710060 w 1792010"/>
                  <a:gd name="connsiteY1" fmla="*/ 883022 h 1796239"/>
                  <a:gd name="connsiteX2" fmla="*/ 1702614 w 1792010"/>
                  <a:gd name="connsiteY2" fmla="*/ 881183 h 1796239"/>
                  <a:gd name="connsiteX3" fmla="*/ 896004 w 1792010"/>
                  <a:gd name="connsiteY3" fmla="*/ 384279 h 1796239"/>
                  <a:gd name="connsiteX4" fmla="*/ 379479 w 1792010"/>
                  <a:gd name="connsiteY4" fmla="*/ 900804 h 1796239"/>
                  <a:gd name="connsiteX5" fmla="*/ 896004 w 1792010"/>
                  <a:gd name="connsiteY5" fmla="*/ 1417329 h 1796239"/>
                  <a:gd name="connsiteX6" fmla="*/ 1412529 w 1792010"/>
                  <a:gd name="connsiteY6" fmla="*/ 900804 h 1796239"/>
                  <a:gd name="connsiteX7" fmla="*/ 896004 w 1792010"/>
                  <a:gd name="connsiteY7" fmla="*/ 384279 h 1796239"/>
                  <a:gd name="connsiteX8" fmla="*/ 998892 w 1792010"/>
                  <a:gd name="connsiteY8" fmla="*/ 0 h 1796239"/>
                  <a:gd name="connsiteX9" fmla="*/ 1263685 w 1792010"/>
                  <a:gd name="connsiteY9" fmla="*/ 70112 h 1796239"/>
                  <a:gd name="connsiteX10" fmla="*/ 1259890 w 1792010"/>
                  <a:gd name="connsiteY10" fmla="*/ 292970 h 1796239"/>
                  <a:gd name="connsiteX11" fmla="*/ 1252964 w 1792010"/>
                  <a:gd name="connsiteY11" fmla="*/ 291136 h 1796239"/>
                  <a:gd name="connsiteX12" fmla="*/ 1403555 w 1792010"/>
                  <a:gd name="connsiteY12" fmla="*/ 406648 h 1796239"/>
                  <a:gd name="connsiteX13" fmla="*/ 1604328 w 1792010"/>
                  <a:gd name="connsiteY13" fmla="*/ 357315 h 1796239"/>
                  <a:gd name="connsiteX14" fmla="*/ 1733027 w 1792010"/>
                  <a:gd name="connsiteY14" fmla="*/ 596499 h 1796239"/>
                  <a:gd name="connsiteX15" fmla="*/ 1589970 w 1792010"/>
                  <a:gd name="connsiteY15" fmla="*/ 723947 h 1796239"/>
                  <a:gd name="connsiteX16" fmla="*/ 1613321 w 1792010"/>
                  <a:gd name="connsiteY16" fmla="*/ 924788 h 1796239"/>
                  <a:gd name="connsiteX17" fmla="*/ 1792010 w 1792010"/>
                  <a:gd name="connsiteY17" fmla="*/ 1022811 h 1796239"/>
                  <a:gd name="connsiteX18" fmla="*/ 1721058 w 1792010"/>
                  <a:gd name="connsiteY18" fmla="*/ 1284473 h 1796239"/>
                  <a:gd name="connsiteX19" fmla="*/ 1504230 w 1792010"/>
                  <a:gd name="connsiteY19" fmla="*/ 1280870 h 1796239"/>
                  <a:gd name="connsiteX20" fmla="*/ 1406384 w 1792010"/>
                  <a:gd name="connsiteY20" fmla="*/ 1403402 h 1796239"/>
                  <a:gd name="connsiteX21" fmla="*/ 1477592 w 1792010"/>
                  <a:gd name="connsiteY21" fmla="*/ 1587057 h 1796239"/>
                  <a:gd name="connsiteX22" fmla="*/ 1253035 w 1792010"/>
                  <a:gd name="connsiteY22" fmla="*/ 1742435 h 1796239"/>
                  <a:gd name="connsiteX23" fmla="*/ 1163834 w 1792010"/>
                  <a:gd name="connsiteY23" fmla="*/ 1665910 h 1796239"/>
                  <a:gd name="connsiteX24" fmla="*/ 1163667 w 1792010"/>
                  <a:gd name="connsiteY24" fmla="*/ 1666097 h 1796239"/>
                  <a:gd name="connsiteX25" fmla="*/ 1144343 w 1792010"/>
                  <a:gd name="connsiteY25" fmla="*/ 1649188 h 1796239"/>
                  <a:gd name="connsiteX26" fmla="*/ 1082710 w 1792010"/>
                  <a:gd name="connsiteY26" fmla="*/ 1596313 h 1796239"/>
                  <a:gd name="connsiteX27" fmla="*/ 1083384 w 1792010"/>
                  <a:gd name="connsiteY27" fmla="*/ 1595846 h 1796239"/>
                  <a:gd name="connsiteX28" fmla="*/ 1076108 w 1792010"/>
                  <a:gd name="connsiteY28" fmla="*/ 1589478 h 1796239"/>
                  <a:gd name="connsiteX29" fmla="*/ 898869 w 1792010"/>
                  <a:gd name="connsiteY29" fmla="*/ 1612479 h 1796239"/>
                  <a:gd name="connsiteX30" fmla="*/ 795635 w 1792010"/>
                  <a:gd name="connsiteY30" fmla="*/ 1796239 h 1796239"/>
                  <a:gd name="connsiteX31" fmla="*/ 530840 w 1792010"/>
                  <a:gd name="connsiteY31" fmla="*/ 1726127 h 1796239"/>
                  <a:gd name="connsiteX32" fmla="*/ 534419 w 1792010"/>
                  <a:gd name="connsiteY32" fmla="*/ 1515981 h 1796239"/>
                  <a:gd name="connsiteX33" fmla="*/ 384791 w 1792010"/>
                  <a:gd name="connsiteY33" fmla="*/ 1400008 h 1796239"/>
                  <a:gd name="connsiteX34" fmla="*/ 388223 w 1792010"/>
                  <a:gd name="connsiteY34" fmla="*/ 1407281 h 1796239"/>
                  <a:gd name="connsiteX35" fmla="*/ 166784 w 1792010"/>
                  <a:gd name="connsiteY35" fmla="*/ 1449671 h 1796239"/>
                  <a:gd name="connsiteX36" fmla="*/ 50929 w 1792010"/>
                  <a:gd name="connsiteY36" fmla="*/ 1204159 h 1796239"/>
                  <a:gd name="connsiteX37" fmla="*/ 200689 w 1792010"/>
                  <a:gd name="connsiteY37" fmla="*/ 1084166 h 1796239"/>
                  <a:gd name="connsiteX38" fmla="*/ 176341 w 1792010"/>
                  <a:gd name="connsiteY38" fmla="*/ 904529 h 1796239"/>
                  <a:gd name="connsiteX39" fmla="*/ 0 w 1792010"/>
                  <a:gd name="connsiteY39" fmla="*/ 807794 h 1796239"/>
                  <a:gd name="connsiteX40" fmla="*/ 70951 w 1792010"/>
                  <a:gd name="connsiteY40" fmla="*/ 546132 h 1796239"/>
                  <a:gd name="connsiteX41" fmla="*/ 273028 w 1792010"/>
                  <a:gd name="connsiteY41" fmla="*/ 549491 h 1796239"/>
                  <a:gd name="connsiteX42" fmla="*/ 370996 w 1792010"/>
                  <a:gd name="connsiteY42" fmla="*/ 419078 h 1796239"/>
                  <a:gd name="connsiteX43" fmla="*/ 303314 w 1792010"/>
                  <a:gd name="connsiteY43" fmla="*/ 212794 h 1796239"/>
                  <a:gd name="connsiteX44" fmla="*/ 535794 w 1792010"/>
                  <a:gd name="connsiteY44" fmla="*/ 69242 h 1796239"/>
                  <a:gd name="connsiteX45" fmla="*/ 698144 w 1792010"/>
                  <a:gd name="connsiteY45" fmla="*/ 223973 h 1796239"/>
                  <a:gd name="connsiteX46" fmla="*/ 696512 w 1792010"/>
                  <a:gd name="connsiteY46" fmla="*/ 224981 h 1796239"/>
                  <a:gd name="connsiteX47" fmla="*/ 896341 w 1792010"/>
                  <a:gd name="connsiteY47" fmla="*/ 196709 h 1796239"/>
                  <a:gd name="connsiteX48" fmla="*/ 889414 w 1792010"/>
                  <a:gd name="connsiteY48" fmla="*/ 194876 h 17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92010" h="1796239">
                    <a:moveTo>
                      <a:pt x="1702614" y="878442"/>
                    </a:moveTo>
                    <a:lnTo>
                      <a:pt x="1710060" y="883022"/>
                    </a:lnTo>
                    <a:lnTo>
                      <a:pt x="1702614" y="881183"/>
                    </a:lnTo>
                    <a:close/>
                    <a:moveTo>
                      <a:pt x="896004" y="384279"/>
                    </a:moveTo>
                    <a:cubicBezTo>
                      <a:pt x="610735" y="384279"/>
                      <a:pt x="379479" y="615535"/>
                      <a:pt x="379479" y="900804"/>
                    </a:cubicBezTo>
                    <a:cubicBezTo>
                      <a:pt x="379479" y="1186073"/>
                      <a:pt x="610735" y="1417329"/>
                      <a:pt x="896004" y="1417329"/>
                    </a:cubicBezTo>
                    <a:cubicBezTo>
                      <a:pt x="1181273" y="1417329"/>
                      <a:pt x="1412529" y="1186073"/>
                      <a:pt x="1412529" y="900804"/>
                    </a:cubicBezTo>
                    <a:cubicBezTo>
                      <a:pt x="1412529" y="615535"/>
                      <a:pt x="1181273" y="384279"/>
                      <a:pt x="896004" y="384279"/>
                    </a:cubicBezTo>
                    <a:close/>
                    <a:moveTo>
                      <a:pt x="998892" y="0"/>
                    </a:moveTo>
                    <a:lnTo>
                      <a:pt x="1263685" y="70112"/>
                    </a:lnTo>
                    <a:lnTo>
                      <a:pt x="1259890" y="292970"/>
                    </a:lnTo>
                    <a:lnTo>
                      <a:pt x="1252964" y="291136"/>
                    </a:lnTo>
                    <a:cubicBezTo>
                      <a:pt x="1309401" y="322522"/>
                      <a:pt x="1360410" y="361009"/>
                      <a:pt x="1403555" y="406648"/>
                    </a:cubicBezTo>
                    <a:lnTo>
                      <a:pt x="1604328" y="357315"/>
                    </a:lnTo>
                    <a:lnTo>
                      <a:pt x="1733027" y="596499"/>
                    </a:lnTo>
                    <a:lnTo>
                      <a:pt x="1589970" y="723947"/>
                    </a:lnTo>
                    <a:cubicBezTo>
                      <a:pt x="1607903" y="788494"/>
                      <a:pt x="1616355" y="856084"/>
                      <a:pt x="1613321" y="924788"/>
                    </a:cubicBezTo>
                    <a:lnTo>
                      <a:pt x="1792010" y="1022811"/>
                    </a:lnTo>
                    <a:lnTo>
                      <a:pt x="1721058" y="1284473"/>
                    </a:lnTo>
                    <a:lnTo>
                      <a:pt x="1504230" y="1280870"/>
                    </a:lnTo>
                    <a:cubicBezTo>
                      <a:pt x="1476815" y="1326134"/>
                      <a:pt x="1443601" y="1366958"/>
                      <a:pt x="1406384" y="1403402"/>
                    </a:cubicBezTo>
                    <a:lnTo>
                      <a:pt x="1477592" y="1587057"/>
                    </a:lnTo>
                    <a:lnTo>
                      <a:pt x="1253035" y="1742435"/>
                    </a:lnTo>
                    <a:lnTo>
                      <a:pt x="1163834" y="1665910"/>
                    </a:lnTo>
                    <a:lnTo>
                      <a:pt x="1163667" y="1666097"/>
                    </a:lnTo>
                    <a:lnTo>
                      <a:pt x="1144343" y="1649188"/>
                    </a:lnTo>
                    <a:lnTo>
                      <a:pt x="1082710" y="1596313"/>
                    </a:lnTo>
                    <a:lnTo>
                      <a:pt x="1083384" y="1595846"/>
                    </a:lnTo>
                    <a:lnTo>
                      <a:pt x="1076108" y="1589478"/>
                    </a:lnTo>
                    <a:cubicBezTo>
                      <a:pt x="1019150" y="1605403"/>
                      <a:pt x="959511" y="1612813"/>
                      <a:pt x="898869" y="1612479"/>
                    </a:cubicBezTo>
                    <a:lnTo>
                      <a:pt x="795635" y="1796239"/>
                    </a:lnTo>
                    <a:lnTo>
                      <a:pt x="530840" y="1726127"/>
                    </a:lnTo>
                    <a:lnTo>
                      <a:pt x="534419" y="1515981"/>
                    </a:lnTo>
                    <a:cubicBezTo>
                      <a:pt x="478307" y="1484379"/>
                      <a:pt x="427627" y="1445732"/>
                      <a:pt x="384791" y="1400008"/>
                    </a:cubicBezTo>
                    <a:lnTo>
                      <a:pt x="388223" y="1407281"/>
                    </a:lnTo>
                    <a:lnTo>
                      <a:pt x="166784" y="1449671"/>
                    </a:lnTo>
                    <a:lnTo>
                      <a:pt x="50929" y="1204159"/>
                    </a:lnTo>
                    <a:lnTo>
                      <a:pt x="200689" y="1084166"/>
                    </a:lnTo>
                    <a:cubicBezTo>
                      <a:pt x="184704" y="1026270"/>
                      <a:pt x="176353" y="965934"/>
                      <a:pt x="176341" y="904529"/>
                    </a:cubicBezTo>
                    <a:lnTo>
                      <a:pt x="0" y="807794"/>
                    </a:lnTo>
                    <a:lnTo>
                      <a:pt x="70951" y="546132"/>
                    </a:lnTo>
                    <a:lnTo>
                      <a:pt x="273028" y="549491"/>
                    </a:lnTo>
                    <a:cubicBezTo>
                      <a:pt x="300443" y="501683"/>
                      <a:pt x="333547" y="458094"/>
                      <a:pt x="370996" y="419078"/>
                    </a:cubicBezTo>
                    <a:lnTo>
                      <a:pt x="303314" y="212794"/>
                    </a:lnTo>
                    <a:lnTo>
                      <a:pt x="535794" y="69242"/>
                    </a:lnTo>
                    <a:lnTo>
                      <a:pt x="698144" y="223973"/>
                    </a:lnTo>
                    <a:lnTo>
                      <a:pt x="696512" y="224981"/>
                    </a:lnTo>
                    <a:cubicBezTo>
                      <a:pt x="760334" y="205136"/>
                      <a:pt x="827716" y="195964"/>
                      <a:pt x="896341" y="196709"/>
                    </a:cubicBezTo>
                    <a:lnTo>
                      <a:pt x="889414" y="194876"/>
                    </a:lnTo>
                    <a:close/>
                  </a:path>
                </a:pathLst>
              </a:cu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ko-KR" altLang="en-US" sz="2700">
                  <a:solidFill>
                    <a:schemeClr val="tx1"/>
                  </a:solidFill>
                </a:endParaRPr>
              </a:p>
            </p:txBody>
          </p:sp>
          <p:pic>
            <p:nvPicPr>
              <p:cNvPr id="3" name="Immagine 2" descr="Immagine che contiene cerchio, cartone animato, creatività, arte&#10;&#10;Il contenuto generato dall'IA potrebbe non essere corretto.">
                <a:extLst>
                  <a:ext uri="{FF2B5EF4-FFF2-40B4-BE49-F238E27FC236}">
                    <a16:creationId xmlns:a16="http://schemas.microsoft.com/office/drawing/2014/main" id="{88142194-AA84-A25B-D48C-86855B81D8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37713" y="2382982"/>
                <a:ext cx="705107" cy="705107"/>
              </a:xfrm>
              <a:prstGeom prst="rect">
                <a:avLst/>
              </a:prstGeom>
            </p:spPr>
          </p:pic>
        </p:grpSp>
        <p:grpSp>
          <p:nvGrpSpPr>
            <p:cNvPr id="15" name="Gruppo 14">
              <a:extLst>
                <a:ext uri="{FF2B5EF4-FFF2-40B4-BE49-F238E27FC236}">
                  <a16:creationId xmlns:a16="http://schemas.microsoft.com/office/drawing/2014/main" id="{4C5D5FCF-E5EE-A087-235E-3DCE1BA4DFEC}"/>
                </a:ext>
              </a:extLst>
            </p:cNvPr>
            <p:cNvGrpSpPr/>
            <p:nvPr/>
          </p:nvGrpSpPr>
          <p:grpSpPr>
            <a:xfrm>
              <a:off x="2654981" y="3695968"/>
              <a:ext cx="1543595" cy="1547238"/>
              <a:chOff x="3740182" y="3942285"/>
              <a:chExt cx="1543595" cy="1547238"/>
            </a:xfrm>
          </p:grpSpPr>
          <p:sp>
            <p:nvSpPr>
              <p:cNvPr id="11" name="자유형: 도형 114">
                <a:extLst>
                  <a:ext uri="{FF2B5EF4-FFF2-40B4-BE49-F238E27FC236}">
                    <a16:creationId xmlns:a16="http://schemas.microsoft.com/office/drawing/2014/main" id="{896CC514-D81D-9595-34B6-BA4D7D61514C}"/>
                  </a:ext>
                </a:extLst>
              </p:cNvPr>
              <p:cNvSpPr/>
              <p:nvPr/>
            </p:nvSpPr>
            <p:spPr>
              <a:xfrm>
                <a:off x="3740182" y="3942285"/>
                <a:ext cx="1543595" cy="1547238"/>
              </a:xfrm>
              <a:custGeom>
                <a:avLst/>
                <a:gdLst>
                  <a:gd name="connsiteX0" fmla="*/ 1702614 w 1792010"/>
                  <a:gd name="connsiteY0" fmla="*/ 878442 h 1796239"/>
                  <a:gd name="connsiteX1" fmla="*/ 1710060 w 1792010"/>
                  <a:gd name="connsiteY1" fmla="*/ 883022 h 1796239"/>
                  <a:gd name="connsiteX2" fmla="*/ 1702614 w 1792010"/>
                  <a:gd name="connsiteY2" fmla="*/ 881183 h 1796239"/>
                  <a:gd name="connsiteX3" fmla="*/ 896004 w 1792010"/>
                  <a:gd name="connsiteY3" fmla="*/ 384279 h 1796239"/>
                  <a:gd name="connsiteX4" fmla="*/ 379479 w 1792010"/>
                  <a:gd name="connsiteY4" fmla="*/ 900804 h 1796239"/>
                  <a:gd name="connsiteX5" fmla="*/ 896004 w 1792010"/>
                  <a:gd name="connsiteY5" fmla="*/ 1417329 h 1796239"/>
                  <a:gd name="connsiteX6" fmla="*/ 1412529 w 1792010"/>
                  <a:gd name="connsiteY6" fmla="*/ 900804 h 1796239"/>
                  <a:gd name="connsiteX7" fmla="*/ 896004 w 1792010"/>
                  <a:gd name="connsiteY7" fmla="*/ 384279 h 1796239"/>
                  <a:gd name="connsiteX8" fmla="*/ 998892 w 1792010"/>
                  <a:gd name="connsiteY8" fmla="*/ 0 h 1796239"/>
                  <a:gd name="connsiteX9" fmla="*/ 1263685 w 1792010"/>
                  <a:gd name="connsiteY9" fmla="*/ 70112 h 1796239"/>
                  <a:gd name="connsiteX10" fmla="*/ 1259890 w 1792010"/>
                  <a:gd name="connsiteY10" fmla="*/ 292970 h 1796239"/>
                  <a:gd name="connsiteX11" fmla="*/ 1252964 w 1792010"/>
                  <a:gd name="connsiteY11" fmla="*/ 291136 h 1796239"/>
                  <a:gd name="connsiteX12" fmla="*/ 1403555 w 1792010"/>
                  <a:gd name="connsiteY12" fmla="*/ 406648 h 1796239"/>
                  <a:gd name="connsiteX13" fmla="*/ 1604328 w 1792010"/>
                  <a:gd name="connsiteY13" fmla="*/ 357315 h 1796239"/>
                  <a:gd name="connsiteX14" fmla="*/ 1733027 w 1792010"/>
                  <a:gd name="connsiteY14" fmla="*/ 596499 h 1796239"/>
                  <a:gd name="connsiteX15" fmla="*/ 1589970 w 1792010"/>
                  <a:gd name="connsiteY15" fmla="*/ 723947 h 1796239"/>
                  <a:gd name="connsiteX16" fmla="*/ 1613321 w 1792010"/>
                  <a:gd name="connsiteY16" fmla="*/ 924788 h 1796239"/>
                  <a:gd name="connsiteX17" fmla="*/ 1792010 w 1792010"/>
                  <a:gd name="connsiteY17" fmla="*/ 1022811 h 1796239"/>
                  <a:gd name="connsiteX18" fmla="*/ 1721058 w 1792010"/>
                  <a:gd name="connsiteY18" fmla="*/ 1284473 h 1796239"/>
                  <a:gd name="connsiteX19" fmla="*/ 1504230 w 1792010"/>
                  <a:gd name="connsiteY19" fmla="*/ 1280870 h 1796239"/>
                  <a:gd name="connsiteX20" fmla="*/ 1406384 w 1792010"/>
                  <a:gd name="connsiteY20" fmla="*/ 1403402 h 1796239"/>
                  <a:gd name="connsiteX21" fmla="*/ 1477592 w 1792010"/>
                  <a:gd name="connsiteY21" fmla="*/ 1587057 h 1796239"/>
                  <a:gd name="connsiteX22" fmla="*/ 1253035 w 1792010"/>
                  <a:gd name="connsiteY22" fmla="*/ 1742435 h 1796239"/>
                  <a:gd name="connsiteX23" fmla="*/ 1163834 w 1792010"/>
                  <a:gd name="connsiteY23" fmla="*/ 1665910 h 1796239"/>
                  <a:gd name="connsiteX24" fmla="*/ 1163667 w 1792010"/>
                  <a:gd name="connsiteY24" fmla="*/ 1666097 h 1796239"/>
                  <a:gd name="connsiteX25" fmla="*/ 1144343 w 1792010"/>
                  <a:gd name="connsiteY25" fmla="*/ 1649188 h 1796239"/>
                  <a:gd name="connsiteX26" fmla="*/ 1082710 w 1792010"/>
                  <a:gd name="connsiteY26" fmla="*/ 1596313 h 1796239"/>
                  <a:gd name="connsiteX27" fmla="*/ 1083384 w 1792010"/>
                  <a:gd name="connsiteY27" fmla="*/ 1595846 h 1796239"/>
                  <a:gd name="connsiteX28" fmla="*/ 1076108 w 1792010"/>
                  <a:gd name="connsiteY28" fmla="*/ 1589478 h 1796239"/>
                  <a:gd name="connsiteX29" fmla="*/ 898869 w 1792010"/>
                  <a:gd name="connsiteY29" fmla="*/ 1612479 h 1796239"/>
                  <a:gd name="connsiteX30" fmla="*/ 795635 w 1792010"/>
                  <a:gd name="connsiteY30" fmla="*/ 1796239 h 1796239"/>
                  <a:gd name="connsiteX31" fmla="*/ 530840 w 1792010"/>
                  <a:gd name="connsiteY31" fmla="*/ 1726127 h 1796239"/>
                  <a:gd name="connsiteX32" fmla="*/ 534419 w 1792010"/>
                  <a:gd name="connsiteY32" fmla="*/ 1515981 h 1796239"/>
                  <a:gd name="connsiteX33" fmla="*/ 384791 w 1792010"/>
                  <a:gd name="connsiteY33" fmla="*/ 1400008 h 1796239"/>
                  <a:gd name="connsiteX34" fmla="*/ 388223 w 1792010"/>
                  <a:gd name="connsiteY34" fmla="*/ 1407281 h 1796239"/>
                  <a:gd name="connsiteX35" fmla="*/ 166784 w 1792010"/>
                  <a:gd name="connsiteY35" fmla="*/ 1449671 h 1796239"/>
                  <a:gd name="connsiteX36" fmla="*/ 50929 w 1792010"/>
                  <a:gd name="connsiteY36" fmla="*/ 1204159 h 1796239"/>
                  <a:gd name="connsiteX37" fmla="*/ 200689 w 1792010"/>
                  <a:gd name="connsiteY37" fmla="*/ 1084166 h 1796239"/>
                  <a:gd name="connsiteX38" fmla="*/ 176341 w 1792010"/>
                  <a:gd name="connsiteY38" fmla="*/ 904529 h 1796239"/>
                  <a:gd name="connsiteX39" fmla="*/ 0 w 1792010"/>
                  <a:gd name="connsiteY39" fmla="*/ 807794 h 1796239"/>
                  <a:gd name="connsiteX40" fmla="*/ 70951 w 1792010"/>
                  <a:gd name="connsiteY40" fmla="*/ 546132 h 1796239"/>
                  <a:gd name="connsiteX41" fmla="*/ 273028 w 1792010"/>
                  <a:gd name="connsiteY41" fmla="*/ 549491 h 1796239"/>
                  <a:gd name="connsiteX42" fmla="*/ 370996 w 1792010"/>
                  <a:gd name="connsiteY42" fmla="*/ 419078 h 1796239"/>
                  <a:gd name="connsiteX43" fmla="*/ 303314 w 1792010"/>
                  <a:gd name="connsiteY43" fmla="*/ 212794 h 1796239"/>
                  <a:gd name="connsiteX44" fmla="*/ 535794 w 1792010"/>
                  <a:gd name="connsiteY44" fmla="*/ 69242 h 1796239"/>
                  <a:gd name="connsiteX45" fmla="*/ 698144 w 1792010"/>
                  <a:gd name="connsiteY45" fmla="*/ 223973 h 1796239"/>
                  <a:gd name="connsiteX46" fmla="*/ 696512 w 1792010"/>
                  <a:gd name="connsiteY46" fmla="*/ 224981 h 1796239"/>
                  <a:gd name="connsiteX47" fmla="*/ 896341 w 1792010"/>
                  <a:gd name="connsiteY47" fmla="*/ 196709 h 1796239"/>
                  <a:gd name="connsiteX48" fmla="*/ 889414 w 1792010"/>
                  <a:gd name="connsiteY48" fmla="*/ 194876 h 17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92010" h="1796239">
                    <a:moveTo>
                      <a:pt x="1702614" y="878442"/>
                    </a:moveTo>
                    <a:lnTo>
                      <a:pt x="1710060" y="883022"/>
                    </a:lnTo>
                    <a:lnTo>
                      <a:pt x="1702614" y="881183"/>
                    </a:lnTo>
                    <a:close/>
                    <a:moveTo>
                      <a:pt x="896004" y="384279"/>
                    </a:moveTo>
                    <a:cubicBezTo>
                      <a:pt x="610735" y="384279"/>
                      <a:pt x="379479" y="615535"/>
                      <a:pt x="379479" y="900804"/>
                    </a:cubicBezTo>
                    <a:cubicBezTo>
                      <a:pt x="379479" y="1186073"/>
                      <a:pt x="610735" y="1417329"/>
                      <a:pt x="896004" y="1417329"/>
                    </a:cubicBezTo>
                    <a:cubicBezTo>
                      <a:pt x="1181273" y="1417329"/>
                      <a:pt x="1412529" y="1186073"/>
                      <a:pt x="1412529" y="900804"/>
                    </a:cubicBezTo>
                    <a:cubicBezTo>
                      <a:pt x="1412529" y="615535"/>
                      <a:pt x="1181273" y="384279"/>
                      <a:pt x="896004" y="384279"/>
                    </a:cubicBezTo>
                    <a:close/>
                    <a:moveTo>
                      <a:pt x="998892" y="0"/>
                    </a:moveTo>
                    <a:lnTo>
                      <a:pt x="1263685" y="70112"/>
                    </a:lnTo>
                    <a:lnTo>
                      <a:pt x="1259890" y="292970"/>
                    </a:lnTo>
                    <a:lnTo>
                      <a:pt x="1252964" y="291136"/>
                    </a:lnTo>
                    <a:cubicBezTo>
                      <a:pt x="1309401" y="322522"/>
                      <a:pt x="1360410" y="361009"/>
                      <a:pt x="1403555" y="406648"/>
                    </a:cubicBezTo>
                    <a:lnTo>
                      <a:pt x="1604328" y="357315"/>
                    </a:lnTo>
                    <a:lnTo>
                      <a:pt x="1733027" y="596499"/>
                    </a:lnTo>
                    <a:lnTo>
                      <a:pt x="1589970" y="723947"/>
                    </a:lnTo>
                    <a:cubicBezTo>
                      <a:pt x="1607903" y="788494"/>
                      <a:pt x="1616355" y="856084"/>
                      <a:pt x="1613321" y="924788"/>
                    </a:cubicBezTo>
                    <a:lnTo>
                      <a:pt x="1792010" y="1022811"/>
                    </a:lnTo>
                    <a:lnTo>
                      <a:pt x="1721058" y="1284473"/>
                    </a:lnTo>
                    <a:lnTo>
                      <a:pt x="1504230" y="1280870"/>
                    </a:lnTo>
                    <a:cubicBezTo>
                      <a:pt x="1476815" y="1326134"/>
                      <a:pt x="1443601" y="1366958"/>
                      <a:pt x="1406384" y="1403402"/>
                    </a:cubicBezTo>
                    <a:lnTo>
                      <a:pt x="1477592" y="1587057"/>
                    </a:lnTo>
                    <a:lnTo>
                      <a:pt x="1253035" y="1742435"/>
                    </a:lnTo>
                    <a:lnTo>
                      <a:pt x="1163834" y="1665910"/>
                    </a:lnTo>
                    <a:lnTo>
                      <a:pt x="1163667" y="1666097"/>
                    </a:lnTo>
                    <a:lnTo>
                      <a:pt x="1144343" y="1649188"/>
                    </a:lnTo>
                    <a:lnTo>
                      <a:pt x="1082710" y="1596313"/>
                    </a:lnTo>
                    <a:lnTo>
                      <a:pt x="1083384" y="1595846"/>
                    </a:lnTo>
                    <a:lnTo>
                      <a:pt x="1076108" y="1589478"/>
                    </a:lnTo>
                    <a:cubicBezTo>
                      <a:pt x="1019150" y="1605403"/>
                      <a:pt x="959511" y="1612813"/>
                      <a:pt x="898869" y="1612479"/>
                    </a:cubicBezTo>
                    <a:lnTo>
                      <a:pt x="795635" y="1796239"/>
                    </a:lnTo>
                    <a:lnTo>
                      <a:pt x="530840" y="1726127"/>
                    </a:lnTo>
                    <a:lnTo>
                      <a:pt x="534419" y="1515981"/>
                    </a:lnTo>
                    <a:cubicBezTo>
                      <a:pt x="478307" y="1484379"/>
                      <a:pt x="427627" y="1445732"/>
                      <a:pt x="384791" y="1400008"/>
                    </a:cubicBezTo>
                    <a:lnTo>
                      <a:pt x="388223" y="1407281"/>
                    </a:lnTo>
                    <a:lnTo>
                      <a:pt x="166784" y="1449671"/>
                    </a:lnTo>
                    <a:lnTo>
                      <a:pt x="50929" y="1204159"/>
                    </a:lnTo>
                    <a:lnTo>
                      <a:pt x="200689" y="1084166"/>
                    </a:lnTo>
                    <a:cubicBezTo>
                      <a:pt x="184704" y="1026270"/>
                      <a:pt x="176353" y="965934"/>
                      <a:pt x="176341" y="904529"/>
                    </a:cubicBezTo>
                    <a:lnTo>
                      <a:pt x="0" y="807794"/>
                    </a:lnTo>
                    <a:lnTo>
                      <a:pt x="70951" y="546132"/>
                    </a:lnTo>
                    <a:lnTo>
                      <a:pt x="273028" y="549491"/>
                    </a:lnTo>
                    <a:cubicBezTo>
                      <a:pt x="300443" y="501683"/>
                      <a:pt x="333547" y="458094"/>
                      <a:pt x="370996" y="419078"/>
                    </a:cubicBezTo>
                    <a:lnTo>
                      <a:pt x="303314" y="212794"/>
                    </a:lnTo>
                    <a:lnTo>
                      <a:pt x="535794" y="69242"/>
                    </a:lnTo>
                    <a:lnTo>
                      <a:pt x="698144" y="223973"/>
                    </a:lnTo>
                    <a:lnTo>
                      <a:pt x="696512" y="224981"/>
                    </a:lnTo>
                    <a:cubicBezTo>
                      <a:pt x="760334" y="205136"/>
                      <a:pt x="827716" y="195964"/>
                      <a:pt x="896341" y="196709"/>
                    </a:cubicBezTo>
                    <a:lnTo>
                      <a:pt x="889414" y="194876"/>
                    </a:lnTo>
                    <a:close/>
                  </a:path>
                </a:pathLst>
              </a:cu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ko-KR" altLang="en-US" sz="2700">
                  <a:solidFill>
                    <a:schemeClr val="tx1"/>
                  </a:solidFill>
                </a:endParaRPr>
              </a:p>
            </p:txBody>
          </p:sp>
          <p:pic>
            <p:nvPicPr>
              <p:cNvPr id="4" name="Immagine 3" descr="Immagine che contiene Elementi grafici, Carattere, grafica, simbolo&#10;&#10;Il contenuto generato dall'IA potrebbe non essere corretto.">
                <a:extLst>
                  <a:ext uri="{FF2B5EF4-FFF2-40B4-BE49-F238E27FC236}">
                    <a16:creationId xmlns:a16="http://schemas.microsoft.com/office/drawing/2014/main" id="{FC398667-3E8B-E98B-3880-A2123B041F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2026" y="4445678"/>
                <a:ext cx="563623" cy="563623"/>
              </a:xfrm>
              <a:prstGeom prst="rect">
                <a:avLst/>
              </a:prstGeom>
            </p:spPr>
          </p:pic>
        </p:grpSp>
        <p:grpSp>
          <p:nvGrpSpPr>
            <p:cNvPr id="17" name="Gruppo 16">
              <a:extLst>
                <a:ext uri="{FF2B5EF4-FFF2-40B4-BE49-F238E27FC236}">
                  <a16:creationId xmlns:a16="http://schemas.microsoft.com/office/drawing/2014/main" id="{33F6514F-B9B5-8114-9858-0E9A389F8D62}"/>
                </a:ext>
              </a:extLst>
            </p:cNvPr>
            <p:cNvGrpSpPr/>
            <p:nvPr/>
          </p:nvGrpSpPr>
          <p:grpSpPr>
            <a:xfrm>
              <a:off x="4858959" y="3201347"/>
              <a:ext cx="1547238" cy="1543595"/>
              <a:chOff x="4858959" y="3201347"/>
              <a:chExt cx="1547238" cy="1543595"/>
            </a:xfrm>
          </p:grpSpPr>
          <p:pic>
            <p:nvPicPr>
              <p:cNvPr id="6" name="Immagine 5" descr="Immagine che contiene disegno, cuore, arte&#10;&#10;Il contenuto generato dall'IA potrebbe non essere corretto.">
                <a:extLst>
                  <a:ext uri="{FF2B5EF4-FFF2-40B4-BE49-F238E27FC236}">
                    <a16:creationId xmlns:a16="http://schemas.microsoft.com/office/drawing/2014/main" id="{581E8B28-DD94-F8F2-0050-6BDAA209F8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66810" y="3658196"/>
                <a:ext cx="686495" cy="635008"/>
              </a:xfrm>
              <a:prstGeom prst="rect">
                <a:avLst/>
              </a:prstGeom>
            </p:spPr>
          </p:pic>
          <p:sp>
            <p:nvSpPr>
              <p:cNvPr id="9" name="자유형: 도형 114">
                <a:extLst>
                  <a:ext uri="{FF2B5EF4-FFF2-40B4-BE49-F238E27FC236}">
                    <a16:creationId xmlns:a16="http://schemas.microsoft.com/office/drawing/2014/main" id="{E4EAFBD6-0C5F-4E45-ECF5-1E87EC62DC37}"/>
                  </a:ext>
                </a:extLst>
              </p:cNvPr>
              <p:cNvSpPr/>
              <p:nvPr/>
            </p:nvSpPr>
            <p:spPr>
              <a:xfrm rot="6720212">
                <a:off x="4860780" y="3199526"/>
                <a:ext cx="1543595" cy="1547238"/>
              </a:xfrm>
              <a:custGeom>
                <a:avLst/>
                <a:gdLst>
                  <a:gd name="connsiteX0" fmla="*/ 1702614 w 1792010"/>
                  <a:gd name="connsiteY0" fmla="*/ 878442 h 1796239"/>
                  <a:gd name="connsiteX1" fmla="*/ 1710060 w 1792010"/>
                  <a:gd name="connsiteY1" fmla="*/ 883022 h 1796239"/>
                  <a:gd name="connsiteX2" fmla="*/ 1702614 w 1792010"/>
                  <a:gd name="connsiteY2" fmla="*/ 881183 h 1796239"/>
                  <a:gd name="connsiteX3" fmla="*/ 896004 w 1792010"/>
                  <a:gd name="connsiteY3" fmla="*/ 384279 h 1796239"/>
                  <a:gd name="connsiteX4" fmla="*/ 379479 w 1792010"/>
                  <a:gd name="connsiteY4" fmla="*/ 900804 h 1796239"/>
                  <a:gd name="connsiteX5" fmla="*/ 896004 w 1792010"/>
                  <a:gd name="connsiteY5" fmla="*/ 1417329 h 1796239"/>
                  <a:gd name="connsiteX6" fmla="*/ 1412529 w 1792010"/>
                  <a:gd name="connsiteY6" fmla="*/ 900804 h 1796239"/>
                  <a:gd name="connsiteX7" fmla="*/ 896004 w 1792010"/>
                  <a:gd name="connsiteY7" fmla="*/ 384279 h 1796239"/>
                  <a:gd name="connsiteX8" fmla="*/ 998892 w 1792010"/>
                  <a:gd name="connsiteY8" fmla="*/ 0 h 1796239"/>
                  <a:gd name="connsiteX9" fmla="*/ 1263685 w 1792010"/>
                  <a:gd name="connsiteY9" fmla="*/ 70112 h 1796239"/>
                  <a:gd name="connsiteX10" fmla="*/ 1259890 w 1792010"/>
                  <a:gd name="connsiteY10" fmla="*/ 292970 h 1796239"/>
                  <a:gd name="connsiteX11" fmla="*/ 1252964 w 1792010"/>
                  <a:gd name="connsiteY11" fmla="*/ 291136 h 1796239"/>
                  <a:gd name="connsiteX12" fmla="*/ 1403555 w 1792010"/>
                  <a:gd name="connsiteY12" fmla="*/ 406648 h 1796239"/>
                  <a:gd name="connsiteX13" fmla="*/ 1604328 w 1792010"/>
                  <a:gd name="connsiteY13" fmla="*/ 357315 h 1796239"/>
                  <a:gd name="connsiteX14" fmla="*/ 1733027 w 1792010"/>
                  <a:gd name="connsiteY14" fmla="*/ 596499 h 1796239"/>
                  <a:gd name="connsiteX15" fmla="*/ 1589970 w 1792010"/>
                  <a:gd name="connsiteY15" fmla="*/ 723947 h 1796239"/>
                  <a:gd name="connsiteX16" fmla="*/ 1613321 w 1792010"/>
                  <a:gd name="connsiteY16" fmla="*/ 924788 h 1796239"/>
                  <a:gd name="connsiteX17" fmla="*/ 1792010 w 1792010"/>
                  <a:gd name="connsiteY17" fmla="*/ 1022811 h 1796239"/>
                  <a:gd name="connsiteX18" fmla="*/ 1721058 w 1792010"/>
                  <a:gd name="connsiteY18" fmla="*/ 1284473 h 1796239"/>
                  <a:gd name="connsiteX19" fmla="*/ 1504230 w 1792010"/>
                  <a:gd name="connsiteY19" fmla="*/ 1280870 h 1796239"/>
                  <a:gd name="connsiteX20" fmla="*/ 1406384 w 1792010"/>
                  <a:gd name="connsiteY20" fmla="*/ 1403402 h 1796239"/>
                  <a:gd name="connsiteX21" fmla="*/ 1477592 w 1792010"/>
                  <a:gd name="connsiteY21" fmla="*/ 1587057 h 1796239"/>
                  <a:gd name="connsiteX22" fmla="*/ 1253035 w 1792010"/>
                  <a:gd name="connsiteY22" fmla="*/ 1742435 h 1796239"/>
                  <a:gd name="connsiteX23" fmla="*/ 1163834 w 1792010"/>
                  <a:gd name="connsiteY23" fmla="*/ 1665910 h 1796239"/>
                  <a:gd name="connsiteX24" fmla="*/ 1163667 w 1792010"/>
                  <a:gd name="connsiteY24" fmla="*/ 1666097 h 1796239"/>
                  <a:gd name="connsiteX25" fmla="*/ 1144343 w 1792010"/>
                  <a:gd name="connsiteY25" fmla="*/ 1649188 h 1796239"/>
                  <a:gd name="connsiteX26" fmla="*/ 1082710 w 1792010"/>
                  <a:gd name="connsiteY26" fmla="*/ 1596313 h 1796239"/>
                  <a:gd name="connsiteX27" fmla="*/ 1083384 w 1792010"/>
                  <a:gd name="connsiteY27" fmla="*/ 1595846 h 1796239"/>
                  <a:gd name="connsiteX28" fmla="*/ 1076108 w 1792010"/>
                  <a:gd name="connsiteY28" fmla="*/ 1589478 h 1796239"/>
                  <a:gd name="connsiteX29" fmla="*/ 898869 w 1792010"/>
                  <a:gd name="connsiteY29" fmla="*/ 1612479 h 1796239"/>
                  <a:gd name="connsiteX30" fmla="*/ 795635 w 1792010"/>
                  <a:gd name="connsiteY30" fmla="*/ 1796239 h 1796239"/>
                  <a:gd name="connsiteX31" fmla="*/ 530840 w 1792010"/>
                  <a:gd name="connsiteY31" fmla="*/ 1726127 h 1796239"/>
                  <a:gd name="connsiteX32" fmla="*/ 534419 w 1792010"/>
                  <a:gd name="connsiteY32" fmla="*/ 1515981 h 1796239"/>
                  <a:gd name="connsiteX33" fmla="*/ 384791 w 1792010"/>
                  <a:gd name="connsiteY33" fmla="*/ 1400008 h 1796239"/>
                  <a:gd name="connsiteX34" fmla="*/ 388223 w 1792010"/>
                  <a:gd name="connsiteY34" fmla="*/ 1407281 h 1796239"/>
                  <a:gd name="connsiteX35" fmla="*/ 166784 w 1792010"/>
                  <a:gd name="connsiteY35" fmla="*/ 1449671 h 1796239"/>
                  <a:gd name="connsiteX36" fmla="*/ 50929 w 1792010"/>
                  <a:gd name="connsiteY36" fmla="*/ 1204159 h 1796239"/>
                  <a:gd name="connsiteX37" fmla="*/ 200689 w 1792010"/>
                  <a:gd name="connsiteY37" fmla="*/ 1084166 h 1796239"/>
                  <a:gd name="connsiteX38" fmla="*/ 176341 w 1792010"/>
                  <a:gd name="connsiteY38" fmla="*/ 904529 h 1796239"/>
                  <a:gd name="connsiteX39" fmla="*/ 0 w 1792010"/>
                  <a:gd name="connsiteY39" fmla="*/ 807794 h 1796239"/>
                  <a:gd name="connsiteX40" fmla="*/ 70951 w 1792010"/>
                  <a:gd name="connsiteY40" fmla="*/ 546132 h 1796239"/>
                  <a:gd name="connsiteX41" fmla="*/ 273028 w 1792010"/>
                  <a:gd name="connsiteY41" fmla="*/ 549491 h 1796239"/>
                  <a:gd name="connsiteX42" fmla="*/ 370996 w 1792010"/>
                  <a:gd name="connsiteY42" fmla="*/ 419078 h 1796239"/>
                  <a:gd name="connsiteX43" fmla="*/ 303314 w 1792010"/>
                  <a:gd name="connsiteY43" fmla="*/ 212794 h 1796239"/>
                  <a:gd name="connsiteX44" fmla="*/ 535794 w 1792010"/>
                  <a:gd name="connsiteY44" fmla="*/ 69242 h 1796239"/>
                  <a:gd name="connsiteX45" fmla="*/ 698144 w 1792010"/>
                  <a:gd name="connsiteY45" fmla="*/ 223973 h 1796239"/>
                  <a:gd name="connsiteX46" fmla="*/ 696512 w 1792010"/>
                  <a:gd name="connsiteY46" fmla="*/ 224981 h 1796239"/>
                  <a:gd name="connsiteX47" fmla="*/ 896341 w 1792010"/>
                  <a:gd name="connsiteY47" fmla="*/ 196709 h 1796239"/>
                  <a:gd name="connsiteX48" fmla="*/ 889414 w 1792010"/>
                  <a:gd name="connsiteY48" fmla="*/ 194876 h 17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92010" h="1796239">
                    <a:moveTo>
                      <a:pt x="1702614" y="878442"/>
                    </a:moveTo>
                    <a:lnTo>
                      <a:pt x="1710060" y="883022"/>
                    </a:lnTo>
                    <a:lnTo>
                      <a:pt x="1702614" y="881183"/>
                    </a:lnTo>
                    <a:close/>
                    <a:moveTo>
                      <a:pt x="896004" y="384279"/>
                    </a:moveTo>
                    <a:cubicBezTo>
                      <a:pt x="610735" y="384279"/>
                      <a:pt x="379479" y="615535"/>
                      <a:pt x="379479" y="900804"/>
                    </a:cubicBezTo>
                    <a:cubicBezTo>
                      <a:pt x="379479" y="1186073"/>
                      <a:pt x="610735" y="1417329"/>
                      <a:pt x="896004" y="1417329"/>
                    </a:cubicBezTo>
                    <a:cubicBezTo>
                      <a:pt x="1181273" y="1417329"/>
                      <a:pt x="1412529" y="1186073"/>
                      <a:pt x="1412529" y="900804"/>
                    </a:cubicBezTo>
                    <a:cubicBezTo>
                      <a:pt x="1412529" y="615535"/>
                      <a:pt x="1181273" y="384279"/>
                      <a:pt x="896004" y="384279"/>
                    </a:cubicBezTo>
                    <a:close/>
                    <a:moveTo>
                      <a:pt x="998892" y="0"/>
                    </a:moveTo>
                    <a:lnTo>
                      <a:pt x="1263685" y="70112"/>
                    </a:lnTo>
                    <a:lnTo>
                      <a:pt x="1259890" y="292970"/>
                    </a:lnTo>
                    <a:lnTo>
                      <a:pt x="1252964" y="291136"/>
                    </a:lnTo>
                    <a:cubicBezTo>
                      <a:pt x="1309401" y="322522"/>
                      <a:pt x="1360410" y="361009"/>
                      <a:pt x="1403555" y="406648"/>
                    </a:cubicBezTo>
                    <a:lnTo>
                      <a:pt x="1604328" y="357315"/>
                    </a:lnTo>
                    <a:lnTo>
                      <a:pt x="1733027" y="596499"/>
                    </a:lnTo>
                    <a:lnTo>
                      <a:pt x="1589970" y="723947"/>
                    </a:lnTo>
                    <a:cubicBezTo>
                      <a:pt x="1607903" y="788494"/>
                      <a:pt x="1616355" y="856084"/>
                      <a:pt x="1613321" y="924788"/>
                    </a:cubicBezTo>
                    <a:lnTo>
                      <a:pt x="1792010" y="1022811"/>
                    </a:lnTo>
                    <a:lnTo>
                      <a:pt x="1721058" y="1284473"/>
                    </a:lnTo>
                    <a:lnTo>
                      <a:pt x="1504230" y="1280870"/>
                    </a:lnTo>
                    <a:cubicBezTo>
                      <a:pt x="1476815" y="1326134"/>
                      <a:pt x="1443601" y="1366958"/>
                      <a:pt x="1406384" y="1403402"/>
                    </a:cubicBezTo>
                    <a:lnTo>
                      <a:pt x="1477592" y="1587057"/>
                    </a:lnTo>
                    <a:lnTo>
                      <a:pt x="1253035" y="1742435"/>
                    </a:lnTo>
                    <a:lnTo>
                      <a:pt x="1163834" y="1665910"/>
                    </a:lnTo>
                    <a:lnTo>
                      <a:pt x="1163667" y="1666097"/>
                    </a:lnTo>
                    <a:lnTo>
                      <a:pt x="1144343" y="1649188"/>
                    </a:lnTo>
                    <a:lnTo>
                      <a:pt x="1082710" y="1596313"/>
                    </a:lnTo>
                    <a:lnTo>
                      <a:pt x="1083384" y="1595846"/>
                    </a:lnTo>
                    <a:lnTo>
                      <a:pt x="1076108" y="1589478"/>
                    </a:lnTo>
                    <a:cubicBezTo>
                      <a:pt x="1019150" y="1605403"/>
                      <a:pt x="959511" y="1612813"/>
                      <a:pt x="898869" y="1612479"/>
                    </a:cubicBezTo>
                    <a:lnTo>
                      <a:pt x="795635" y="1796239"/>
                    </a:lnTo>
                    <a:lnTo>
                      <a:pt x="530840" y="1726127"/>
                    </a:lnTo>
                    <a:lnTo>
                      <a:pt x="534419" y="1515981"/>
                    </a:lnTo>
                    <a:cubicBezTo>
                      <a:pt x="478307" y="1484379"/>
                      <a:pt x="427627" y="1445732"/>
                      <a:pt x="384791" y="1400008"/>
                    </a:cubicBezTo>
                    <a:lnTo>
                      <a:pt x="388223" y="1407281"/>
                    </a:lnTo>
                    <a:lnTo>
                      <a:pt x="166784" y="1449671"/>
                    </a:lnTo>
                    <a:lnTo>
                      <a:pt x="50929" y="1204159"/>
                    </a:lnTo>
                    <a:lnTo>
                      <a:pt x="200689" y="1084166"/>
                    </a:lnTo>
                    <a:cubicBezTo>
                      <a:pt x="184704" y="1026270"/>
                      <a:pt x="176353" y="965934"/>
                      <a:pt x="176341" y="904529"/>
                    </a:cubicBezTo>
                    <a:lnTo>
                      <a:pt x="0" y="807794"/>
                    </a:lnTo>
                    <a:lnTo>
                      <a:pt x="70951" y="546132"/>
                    </a:lnTo>
                    <a:lnTo>
                      <a:pt x="273028" y="549491"/>
                    </a:lnTo>
                    <a:cubicBezTo>
                      <a:pt x="300443" y="501683"/>
                      <a:pt x="333547" y="458094"/>
                      <a:pt x="370996" y="419078"/>
                    </a:cubicBezTo>
                    <a:lnTo>
                      <a:pt x="303314" y="212794"/>
                    </a:lnTo>
                    <a:lnTo>
                      <a:pt x="535794" y="69242"/>
                    </a:lnTo>
                    <a:lnTo>
                      <a:pt x="698144" y="223973"/>
                    </a:lnTo>
                    <a:lnTo>
                      <a:pt x="696512" y="224981"/>
                    </a:lnTo>
                    <a:cubicBezTo>
                      <a:pt x="760334" y="205136"/>
                      <a:pt x="827716" y="195964"/>
                      <a:pt x="896341" y="196709"/>
                    </a:cubicBezTo>
                    <a:lnTo>
                      <a:pt x="889414" y="194876"/>
                    </a:lnTo>
                    <a:close/>
                  </a:path>
                </a:pathLst>
              </a:cu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ko-KR" altLang="en-US" sz="2700">
                  <a:solidFill>
                    <a:schemeClr val="tx1"/>
                  </a:solidFill>
                </a:endParaRPr>
              </a:p>
            </p:txBody>
          </p:sp>
        </p:grpSp>
        <p:grpSp>
          <p:nvGrpSpPr>
            <p:cNvPr id="33" name="Gruppo 32">
              <a:extLst>
                <a:ext uri="{FF2B5EF4-FFF2-40B4-BE49-F238E27FC236}">
                  <a16:creationId xmlns:a16="http://schemas.microsoft.com/office/drawing/2014/main" id="{5E3F72FE-6E7B-24A0-4706-8093F499FCD5}"/>
                </a:ext>
              </a:extLst>
            </p:cNvPr>
            <p:cNvGrpSpPr/>
            <p:nvPr/>
          </p:nvGrpSpPr>
          <p:grpSpPr>
            <a:xfrm>
              <a:off x="6108852" y="2441046"/>
              <a:ext cx="1543595" cy="1547238"/>
              <a:chOff x="6108852" y="2441046"/>
              <a:chExt cx="1543595" cy="1547238"/>
            </a:xfrm>
          </p:grpSpPr>
          <p:sp>
            <p:nvSpPr>
              <p:cNvPr id="13" name="자유형: 도형 114">
                <a:extLst>
                  <a:ext uri="{FF2B5EF4-FFF2-40B4-BE49-F238E27FC236}">
                    <a16:creationId xmlns:a16="http://schemas.microsoft.com/office/drawing/2014/main" id="{E017A9E1-6B88-D5DB-528D-37C0E5F74E0F}"/>
                  </a:ext>
                </a:extLst>
              </p:cNvPr>
              <p:cNvSpPr/>
              <p:nvPr/>
            </p:nvSpPr>
            <p:spPr>
              <a:xfrm>
                <a:off x="6108852" y="2441046"/>
                <a:ext cx="1543595" cy="1547238"/>
              </a:xfrm>
              <a:custGeom>
                <a:avLst/>
                <a:gdLst>
                  <a:gd name="connsiteX0" fmla="*/ 1702614 w 1792010"/>
                  <a:gd name="connsiteY0" fmla="*/ 878442 h 1796239"/>
                  <a:gd name="connsiteX1" fmla="*/ 1710060 w 1792010"/>
                  <a:gd name="connsiteY1" fmla="*/ 883022 h 1796239"/>
                  <a:gd name="connsiteX2" fmla="*/ 1702614 w 1792010"/>
                  <a:gd name="connsiteY2" fmla="*/ 881183 h 1796239"/>
                  <a:gd name="connsiteX3" fmla="*/ 896004 w 1792010"/>
                  <a:gd name="connsiteY3" fmla="*/ 384279 h 1796239"/>
                  <a:gd name="connsiteX4" fmla="*/ 379479 w 1792010"/>
                  <a:gd name="connsiteY4" fmla="*/ 900804 h 1796239"/>
                  <a:gd name="connsiteX5" fmla="*/ 896004 w 1792010"/>
                  <a:gd name="connsiteY5" fmla="*/ 1417329 h 1796239"/>
                  <a:gd name="connsiteX6" fmla="*/ 1412529 w 1792010"/>
                  <a:gd name="connsiteY6" fmla="*/ 900804 h 1796239"/>
                  <a:gd name="connsiteX7" fmla="*/ 896004 w 1792010"/>
                  <a:gd name="connsiteY7" fmla="*/ 384279 h 1796239"/>
                  <a:gd name="connsiteX8" fmla="*/ 998892 w 1792010"/>
                  <a:gd name="connsiteY8" fmla="*/ 0 h 1796239"/>
                  <a:gd name="connsiteX9" fmla="*/ 1263685 w 1792010"/>
                  <a:gd name="connsiteY9" fmla="*/ 70112 h 1796239"/>
                  <a:gd name="connsiteX10" fmla="*/ 1259890 w 1792010"/>
                  <a:gd name="connsiteY10" fmla="*/ 292970 h 1796239"/>
                  <a:gd name="connsiteX11" fmla="*/ 1252964 w 1792010"/>
                  <a:gd name="connsiteY11" fmla="*/ 291136 h 1796239"/>
                  <a:gd name="connsiteX12" fmla="*/ 1403555 w 1792010"/>
                  <a:gd name="connsiteY12" fmla="*/ 406648 h 1796239"/>
                  <a:gd name="connsiteX13" fmla="*/ 1604328 w 1792010"/>
                  <a:gd name="connsiteY13" fmla="*/ 357315 h 1796239"/>
                  <a:gd name="connsiteX14" fmla="*/ 1733027 w 1792010"/>
                  <a:gd name="connsiteY14" fmla="*/ 596499 h 1796239"/>
                  <a:gd name="connsiteX15" fmla="*/ 1589970 w 1792010"/>
                  <a:gd name="connsiteY15" fmla="*/ 723947 h 1796239"/>
                  <a:gd name="connsiteX16" fmla="*/ 1613321 w 1792010"/>
                  <a:gd name="connsiteY16" fmla="*/ 924788 h 1796239"/>
                  <a:gd name="connsiteX17" fmla="*/ 1792010 w 1792010"/>
                  <a:gd name="connsiteY17" fmla="*/ 1022811 h 1796239"/>
                  <a:gd name="connsiteX18" fmla="*/ 1721058 w 1792010"/>
                  <a:gd name="connsiteY18" fmla="*/ 1284473 h 1796239"/>
                  <a:gd name="connsiteX19" fmla="*/ 1504230 w 1792010"/>
                  <a:gd name="connsiteY19" fmla="*/ 1280870 h 1796239"/>
                  <a:gd name="connsiteX20" fmla="*/ 1406384 w 1792010"/>
                  <a:gd name="connsiteY20" fmla="*/ 1403402 h 1796239"/>
                  <a:gd name="connsiteX21" fmla="*/ 1477592 w 1792010"/>
                  <a:gd name="connsiteY21" fmla="*/ 1587057 h 1796239"/>
                  <a:gd name="connsiteX22" fmla="*/ 1253035 w 1792010"/>
                  <a:gd name="connsiteY22" fmla="*/ 1742435 h 1796239"/>
                  <a:gd name="connsiteX23" fmla="*/ 1163834 w 1792010"/>
                  <a:gd name="connsiteY23" fmla="*/ 1665910 h 1796239"/>
                  <a:gd name="connsiteX24" fmla="*/ 1163667 w 1792010"/>
                  <a:gd name="connsiteY24" fmla="*/ 1666097 h 1796239"/>
                  <a:gd name="connsiteX25" fmla="*/ 1144343 w 1792010"/>
                  <a:gd name="connsiteY25" fmla="*/ 1649188 h 1796239"/>
                  <a:gd name="connsiteX26" fmla="*/ 1082710 w 1792010"/>
                  <a:gd name="connsiteY26" fmla="*/ 1596313 h 1796239"/>
                  <a:gd name="connsiteX27" fmla="*/ 1083384 w 1792010"/>
                  <a:gd name="connsiteY27" fmla="*/ 1595846 h 1796239"/>
                  <a:gd name="connsiteX28" fmla="*/ 1076108 w 1792010"/>
                  <a:gd name="connsiteY28" fmla="*/ 1589478 h 1796239"/>
                  <a:gd name="connsiteX29" fmla="*/ 898869 w 1792010"/>
                  <a:gd name="connsiteY29" fmla="*/ 1612479 h 1796239"/>
                  <a:gd name="connsiteX30" fmla="*/ 795635 w 1792010"/>
                  <a:gd name="connsiteY30" fmla="*/ 1796239 h 1796239"/>
                  <a:gd name="connsiteX31" fmla="*/ 530840 w 1792010"/>
                  <a:gd name="connsiteY31" fmla="*/ 1726127 h 1796239"/>
                  <a:gd name="connsiteX32" fmla="*/ 534419 w 1792010"/>
                  <a:gd name="connsiteY32" fmla="*/ 1515981 h 1796239"/>
                  <a:gd name="connsiteX33" fmla="*/ 384791 w 1792010"/>
                  <a:gd name="connsiteY33" fmla="*/ 1400008 h 1796239"/>
                  <a:gd name="connsiteX34" fmla="*/ 388223 w 1792010"/>
                  <a:gd name="connsiteY34" fmla="*/ 1407281 h 1796239"/>
                  <a:gd name="connsiteX35" fmla="*/ 166784 w 1792010"/>
                  <a:gd name="connsiteY35" fmla="*/ 1449671 h 1796239"/>
                  <a:gd name="connsiteX36" fmla="*/ 50929 w 1792010"/>
                  <a:gd name="connsiteY36" fmla="*/ 1204159 h 1796239"/>
                  <a:gd name="connsiteX37" fmla="*/ 200689 w 1792010"/>
                  <a:gd name="connsiteY37" fmla="*/ 1084166 h 1796239"/>
                  <a:gd name="connsiteX38" fmla="*/ 176341 w 1792010"/>
                  <a:gd name="connsiteY38" fmla="*/ 904529 h 1796239"/>
                  <a:gd name="connsiteX39" fmla="*/ 0 w 1792010"/>
                  <a:gd name="connsiteY39" fmla="*/ 807794 h 1796239"/>
                  <a:gd name="connsiteX40" fmla="*/ 70951 w 1792010"/>
                  <a:gd name="connsiteY40" fmla="*/ 546132 h 1796239"/>
                  <a:gd name="connsiteX41" fmla="*/ 273028 w 1792010"/>
                  <a:gd name="connsiteY41" fmla="*/ 549491 h 1796239"/>
                  <a:gd name="connsiteX42" fmla="*/ 370996 w 1792010"/>
                  <a:gd name="connsiteY42" fmla="*/ 419078 h 1796239"/>
                  <a:gd name="connsiteX43" fmla="*/ 303314 w 1792010"/>
                  <a:gd name="connsiteY43" fmla="*/ 212794 h 1796239"/>
                  <a:gd name="connsiteX44" fmla="*/ 535794 w 1792010"/>
                  <a:gd name="connsiteY44" fmla="*/ 69242 h 1796239"/>
                  <a:gd name="connsiteX45" fmla="*/ 698144 w 1792010"/>
                  <a:gd name="connsiteY45" fmla="*/ 223973 h 1796239"/>
                  <a:gd name="connsiteX46" fmla="*/ 696512 w 1792010"/>
                  <a:gd name="connsiteY46" fmla="*/ 224981 h 1796239"/>
                  <a:gd name="connsiteX47" fmla="*/ 896341 w 1792010"/>
                  <a:gd name="connsiteY47" fmla="*/ 196709 h 1796239"/>
                  <a:gd name="connsiteX48" fmla="*/ 889414 w 1792010"/>
                  <a:gd name="connsiteY48" fmla="*/ 194876 h 17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92010" h="1796239">
                    <a:moveTo>
                      <a:pt x="1702614" y="878442"/>
                    </a:moveTo>
                    <a:lnTo>
                      <a:pt x="1710060" y="883022"/>
                    </a:lnTo>
                    <a:lnTo>
                      <a:pt x="1702614" y="881183"/>
                    </a:lnTo>
                    <a:close/>
                    <a:moveTo>
                      <a:pt x="896004" y="384279"/>
                    </a:moveTo>
                    <a:cubicBezTo>
                      <a:pt x="610735" y="384279"/>
                      <a:pt x="379479" y="615535"/>
                      <a:pt x="379479" y="900804"/>
                    </a:cubicBezTo>
                    <a:cubicBezTo>
                      <a:pt x="379479" y="1186073"/>
                      <a:pt x="610735" y="1417329"/>
                      <a:pt x="896004" y="1417329"/>
                    </a:cubicBezTo>
                    <a:cubicBezTo>
                      <a:pt x="1181273" y="1417329"/>
                      <a:pt x="1412529" y="1186073"/>
                      <a:pt x="1412529" y="900804"/>
                    </a:cubicBezTo>
                    <a:cubicBezTo>
                      <a:pt x="1412529" y="615535"/>
                      <a:pt x="1181273" y="384279"/>
                      <a:pt x="896004" y="384279"/>
                    </a:cubicBezTo>
                    <a:close/>
                    <a:moveTo>
                      <a:pt x="998892" y="0"/>
                    </a:moveTo>
                    <a:lnTo>
                      <a:pt x="1263685" y="70112"/>
                    </a:lnTo>
                    <a:lnTo>
                      <a:pt x="1259890" y="292970"/>
                    </a:lnTo>
                    <a:lnTo>
                      <a:pt x="1252964" y="291136"/>
                    </a:lnTo>
                    <a:cubicBezTo>
                      <a:pt x="1309401" y="322522"/>
                      <a:pt x="1360410" y="361009"/>
                      <a:pt x="1403555" y="406648"/>
                    </a:cubicBezTo>
                    <a:lnTo>
                      <a:pt x="1604328" y="357315"/>
                    </a:lnTo>
                    <a:lnTo>
                      <a:pt x="1733027" y="596499"/>
                    </a:lnTo>
                    <a:lnTo>
                      <a:pt x="1589970" y="723947"/>
                    </a:lnTo>
                    <a:cubicBezTo>
                      <a:pt x="1607903" y="788494"/>
                      <a:pt x="1616355" y="856084"/>
                      <a:pt x="1613321" y="924788"/>
                    </a:cubicBezTo>
                    <a:lnTo>
                      <a:pt x="1792010" y="1022811"/>
                    </a:lnTo>
                    <a:lnTo>
                      <a:pt x="1721058" y="1284473"/>
                    </a:lnTo>
                    <a:lnTo>
                      <a:pt x="1504230" y="1280870"/>
                    </a:lnTo>
                    <a:cubicBezTo>
                      <a:pt x="1476815" y="1326134"/>
                      <a:pt x="1443601" y="1366958"/>
                      <a:pt x="1406384" y="1403402"/>
                    </a:cubicBezTo>
                    <a:lnTo>
                      <a:pt x="1477592" y="1587057"/>
                    </a:lnTo>
                    <a:lnTo>
                      <a:pt x="1253035" y="1742435"/>
                    </a:lnTo>
                    <a:lnTo>
                      <a:pt x="1163834" y="1665910"/>
                    </a:lnTo>
                    <a:lnTo>
                      <a:pt x="1163667" y="1666097"/>
                    </a:lnTo>
                    <a:lnTo>
                      <a:pt x="1144343" y="1649188"/>
                    </a:lnTo>
                    <a:lnTo>
                      <a:pt x="1082710" y="1596313"/>
                    </a:lnTo>
                    <a:lnTo>
                      <a:pt x="1083384" y="1595846"/>
                    </a:lnTo>
                    <a:lnTo>
                      <a:pt x="1076108" y="1589478"/>
                    </a:lnTo>
                    <a:cubicBezTo>
                      <a:pt x="1019150" y="1605403"/>
                      <a:pt x="959511" y="1612813"/>
                      <a:pt x="898869" y="1612479"/>
                    </a:cubicBezTo>
                    <a:lnTo>
                      <a:pt x="795635" y="1796239"/>
                    </a:lnTo>
                    <a:lnTo>
                      <a:pt x="530840" y="1726127"/>
                    </a:lnTo>
                    <a:lnTo>
                      <a:pt x="534419" y="1515981"/>
                    </a:lnTo>
                    <a:cubicBezTo>
                      <a:pt x="478307" y="1484379"/>
                      <a:pt x="427627" y="1445732"/>
                      <a:pt x="384791" y="1400008"/>
                    </a:cubicBezTo>
                    <a:lnTo>
                      <a:pt x="388223" y="1407281"/>
                    </a:lnTo>
                    <a:lnTo>
                      <a:pt x="166784" y="1449671"/>
                    </a:lnTo>
                    <a:lnTo>
                      <a:pt x="50929" y="1204159"/>
                    </a:lnTo>
                    <a:lnTo>
                      <a:pt x="200689" y="1084166"/>
                    </a:lnTo>
                    <a:cubicBezTo>
                      <a:pt x="184704" y="1026270"/>
                      <a:pt x="176353" y="965934"/>
                      <a:pt x="176341" y="904529"/>
                    </a:cubicBezTo>
                    <a:lnTo>
                      <a:pt x="0" y="807794"/>
                    </a:lnTo>
                    <a:lnTo>
                      <a:pt x="70951" y="546132"/>
                    </a:lnTo>
                    <a:lnTo>
                      <a:pt x="273028" y="549491"/>
                    </a:lnTo>
                    <a:cubicBezTo>
                      <a:pt x="300443" y="501683"/>
                      <a:pt x="333547" y="458094"/>
                      <a:pt x="370996" y="419078"/>
                    </a:cubicBezTo>
                    <a:lnTo>
                      <a:pt x="303314" y="212794"/>
                    </a:lnTo>
                    <a:lnTo>
                      <a:pt x="535794" y="69242"/>
                    </a:lnTo>
                    <a:lnTo>
                      <a:pt x="698144" y="223973"/>
                    </a:lnTo>
                    <a:lnTo>
                      <a:pt x="696512" y="224981"/>
                    </a:lnTo>
                    <a:cubicBezTo>
                      <a:pt x="760334" y="205136"/>
                      <a:pt x="827716" y="195964"/>
                      <a:pt x="896341" y="196709"/>
                    </a:cubicBezTo>
                    <a:lnTo>
                      <a:pt x="889414" y="19487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ko-KR" altLang="en-US" sz="2700">
                  <a:solidFill>
                    <a:schemeClr val="tx1"/>
                  </a:solidFill>
                </a:endParaRPr>
              </a:p>
            </p:txBody>
          </p:sp>
          <p:pic>
            <p:nvPicPr>
              <p:cNvPr id="21" name="Immagine 20">
                <a:extLst>
                  <a:ext uri="{FF2B5EF4-FFF2-40B4-BE49-F238E27FC236}">
                    <a16:creationId xmlns:a16="http://schemas.microsoft.com/office/drawing/2014/main" id="{D7E63025-1196-E3EA-57B9-C0F8EF4B3CB4}"/>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6558633" y="2876871"/>
                <a:ext cx="644032" cy="644032"/>
              </a:xfrm>
              <a:prstGeom prst="rect">
                <a:avLst/>
              </a:prstGeom>
            </p:spPr>
          </p:pic>
        </p:grpSp>
        <p:grpSp>
          <p:nvGrpSpPr>
            <p:cNvPr id="31" name="Gruppo 30">
              <a:extLst>
                <a:ext uri="{FF2B5EF4-FFF2-40B4-BE49-F238E27FC236}">
                  <a16:creationId xmlns:a16="http://schemas.microsoft.com/office/drawing/2014/main" id="{2D368DDF-5AFF-067B-31BF-AF080637EEBC}"/>
                </a:ext>
              </a:extLst>
            </p:cNvPr>
            <p:cNvGrpSpPr/>
            <p:nvPr/>
          </p:nvGrpSpPr>
          <p:grpSpPr>
            <a:xfrm>
              <a:off x="4094552" y="1861208"/>
              <a:ext cx="1543595" cy="1547238"/>
              <a:chOff x="4094552" y="1861208"/>
              <a:chExt cx="1543595" cy="1547238"/>
            </a:xfrm>
          </p:grpSpPr>
          <p:sp>
            <p:nvSpPr>
              <p:cNvPr id="8" name="자유형: 도형 114">
                <a:extLst>
                  <a:ext uri="{FF2B5EF4-FFF2-40B4-BE49-F238E27FC236}">
                    <a16:creationId xmlns:a16="http://schemas.microsoft.com/office/drawing/2014/main" id="{BB55F983-251B-F5CB-70E5-8DD0B2BE3026}"/>
                  </a:ext>
                </a:extLst>
              </p:cNvPr>
              <p:cNvSpPr/>
              <p:nvPr/>
            </p:nvSpPr>
            <p:spPr>
              <a:xfrm>
                <a:off x="4094552" y="1861208"/>
                <a:ext cx="1543595" cy="1547238"/>
              </a:xfrm>
              <a:custGeom>
                <a:avLst/>
                <a:gdLst>
                  <a:gd name="connsiteX0" fmla="*/ 1702614 w 1792010"/>
                  <a:gd name="connsiteY0" fmla="*/ 878442 h 1796239"/>
                  <a:gd name="connsiteX1" fmla="*/ 1710060 w 1792010"/>
                  <a:gd name="connsiteY1" fmla="*/ 883022 h 1796239"/>
                  <a:gd name="connsiteX2" fmla="*/ 1702614 w 1792010"/>
                  <a:gd name="connsiteY2" fmla="*/ 881183 h 1796239"/>
                  <a:gd name="connsiteX3" fmla="*/ 896004 w 1792010"/>
                  <a:gd name="connsiteY3" fmla="*/ 384279 h 1796239"/>
                  <a:gd name="connsiteX4" fmla="*/ 379479 w 1792010"/>
                  <a:gd name="connsiteY4" fmla="*/ 900804 h 1796239"/>
                  <a:gd name="connsiteX5" fmla="*/ 896004 w 1792010"/>
                  <a:gd name="connsiteY5" fmla="*/ 1417329 h 1796239"/>
                  <a:gd name="connsiteX6" fmla="*/ 1412529 w 1792010"/>
                  <a:gd name="connsiteY6" fmla="*/ 900804 h 1796239"/>
                  <a:gd name="connsiteX7" fmla="*/ 896004 w 1792010"/>
                  <a:gd name="connsiteY7" fmla="*/ 384279 h 1796239"/>
                  <a:gd name="connsiteX8" fmla="*/ 998892 w 1792010"/>
                  <a:gd name="connsiteY8" fmla="*/ 0 h 1796239"/>
                  <a:gd name="connsiteX9" fmla="*/ 1263685 w 1792010"/>
                  <a:gd name="connsiteY9" fmla="*/ 70112 h 1796239"/>
                  <a:gd name="connsiteX10" fmla="*/ 1259890 w 1792010"/>
                  <a:gd name="connsiteY10" fmla="*/ 292970 h 1796239"/>
                  <a:gd name="connsiteX11" fmla="*/ 1252964 w 1792010"/>
                  <a:gd name="connsiteY11" fmla="*/ 291136 h 1796239"/>
                  <a:gd name="connsiteX12" fmla="*/ 1403555 w 1792010"/>
                  <a:gd name="connsiteY12" fmla="*/ 406648 h 1796239"/>
                  <a:gd name="connsiteX13" fmla="*/ 1604328 w 1792010"/>
                  <a:gd name="connsiteY13" fmla="*/ 357315 h 1796239"/>
                  <a:gd name="connsiteX14" fmla="*/ 1733027 w 1792010"/>
                  <a:gd name="connsiteY14" fmla="*/ 596499 h 1796239"/>
                  <a:gd name="connsiteX15" fmla="*/ 1589970 w 1792010"/>
                  <a:gd name="connsiteY15" fmla="*/ 723947 h 1796239"/>
                  <a:gd name="connsiteX16" fmla="*/ 1613321 w 1792010"/>
                  <a:gd name="connsiteY16" fmla="*/ 924788 h 1796239"/>
                  <a:gd name="connsiteX17" fmla="*/ 1792010 w 1792010"/>
                  <a:gd name="connsiteY17" fmla="*/ 1022811 h 1796239"/>
                  <a:gd name="connsiteX18" fmla="*/ 1721058 w 1792010"/>
                  <a:gd name="connsiteY18" fmla="*/ 1284473 h 1796239"/>
                  <a:gd name="connsiteX19" fmla="*/ 1504230 w 1792010"/>
                  <a:gd name="connsiteY19" fmla="*/ 1280870 h 1796239"/>
                  <a:gd name="connsiteX20" fmla="*/ 1406384 w 1792010"/>
                  <a:gd name="connsiteY20" fmla="*/ 1403402 h 1796239"/>
                  <a:gd name="connsiteX21" fmla="*/ 1477592 w 1792010"/>
                  <a:gd name="connsiteY21" fmla="*/ 1587057 h 1796239"/>
                  <a:gd name="connsiteX22" fmla="*/ 1253035 w 1792010"/>
                  <a:gd name="connsiteY22" fmla="*/ 1742435 h 1796239"/>
                  <a:gd name="connsiteX23" fmla="*/ 1163834 w 1792010"/>
                  <a:gd name="connsiteY23" fmla="*/ 1665910 h 1796239"/>
                  <a:gd name="connsiteX24" fmla="*/ 1163667 w 1792010"/>
                  <a:gd name="connsiteY24" fmla="*/ 1666097 h 1796239"/>
                  <a:gd name="connsiteX25" fmla="*/ 1144343 w 1792010"/>
                  <a:gd name="connsiteY25" fmla="*/ 1649188 h 1796239"/>
                  <a:gd name="connsiteX26" fmla="*/ 1082710 w 1792010"/>
                  <a:gd name="connsiteY26" fmla="*/ 1596313 h 1796239"/>
                  <a:gd name="connsiteX27" fmla="*/ 1083384 w 1792010"/>
                  <a:gd name="connsiteY27" fmla="*/ 1595846 h 1796239"/>
                  <a:gd name="connsiteX28" fmla="*/ 1076108 w 1792010"/>
                  <a:gd name="connsiteY28" fmla="*/ 1589478 h 1796239"/>
                  <a:gd name="connsiteX29" fmla="*/ 898869 w 1792010"/>
                  <a:gd name="connsiteY29" fmla="*/ 1612479 h 1796239"/>
                  <a:gd name="connsiteX30" fmla="*/ 795635 w 1792010"/>
                  <a:gd name="connsiteY30" fmla="*/ 1796239 h 1796239"/>
                  <a:gd name="connsiteX31" fmla="*/ 530840 w 1792010"/>
                  <a:gd name="connsiteY31" fmla="*/ 1726127 h 1796239"/>
                  <a:gd name="connsiteX32" fmla="*/ 534419 w 1792010"/>
                  <a:gd name="connsiteY32" fmla="*/ 1515981 h 1796239"/>
                  <a:gd name="connsiteX33" fmla="*/ 384791 w 1792010"/>
                  <a:gd name="connsiteY33" fmla="*/ 1400008 h 1796239"/>
                  <a:gd name="connsiteX34" fmla="*/ 388223 w 1792010"/>
                  <a:gd name="connsiteY34" fmla="*/ 1407281 h 1796239"/>
                  <a:gd name="connsiteX35" fmla="*/ 166784 w 1792010"/>
                  <a:gd name="connsiteY35" fmla="*/ 1449671 h 1796239"/>
                  <a:gd name="connsiteX36" fmla="*/ 50929 w 1792010"/>
                  <a:gd name="connsiteY36" fmla="*/ 1204159 h 1796239"/>
                  <a:gd name="connsiteX37" fmla="*/ 200689 w 1792010"/>
                  <a:gd name="connsiteY37" fmla="*/ 1084166 h 1796239"/>
                  <a:gd name="connsiteX38" fmla="*/ 176341 w 1792010"/>
                  <a:gd name="connsiteY38" fmla="*/ 904529 h 1796239"/>
                  <a:gd name="connsiteX39" fmla="*/ 0 w 1792010"/>
                  <a:gd name="connsiteY39" fmla="*/ 807794 h 1796239"/>
                  <a:gd name="connsiteX40" fmla="*/ 70951 w 1792010"/>
                  <a:gd name="connsiteY40" fmla="*/ 546132 h 1796239"/>
                  <a:gd name="connsiteX41" fmla="*/ 273028 w 1792010"/>
                  <a:gd name="connsiteY41" fmla="*/ 549491 h 1796239"/>
                  <a:gd name="connsiteX42" fmla="*/ 370996 w 1792010"/>
                  <a:gd name="connsiteY42" fmla="*/ 419078 h 1796239"/>
                  <a:gd name="connsiteX43" fmla="*/ 303314 w 1792010"/>
                  <a:gd name="connsiteY43" fmla="*/ 212794 h 1796239"/>
                  <a:gd name="connsiteX44" fmla="*/ 535794 w 1792010"/>
                  <a:gd name="connsiteY44" fmla="*/ 69242 h 1796239"/>
                  <a:gd name="connsiteX45" fmla="*/ 698144 w 1792010"/>
                  <a:gd name="connsiteY45" fmla="*/ 223973 h 1796239"/>
                  <a:gd name="connsiteX46" fmla="*/ 696512 w 1792010"/>
                  <a:gd name="connsiteY46" fmla="*/ 224981 h 1796239"/>
                  <a:gd name="connsiteX47" fmla="*/ 896341 w 1792010"/>
                  <a:gd name="connsiteY47" fmla="*/ 196709 h 1796239"/>
                  <a:gd name="connsiteX48" fmla="*/ 889414 w 1792010"/>
                  <a:gd name="connsiteY48" fmla="*/ 194876 h 17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92010" h="1796239">
                    <a:moveTo>
                      <a:pt x="1702614" y="878442"/>
                    </a:moveTo>
                    <a:lnTo>
                      <a:pt x="1710060" y="883022"/>
                    </a:lnTo>
                    <a:lnTo>
                      <a:pt x="1702614" y="881183"/>
                    </a:lnTo>
                    <a:close/>
                    <a:moveTo>
                      <a:pt x="896004" y="384279"/>
                    </a:moveTo>
                    <a:cubicBezTo>
                      <a:pt x="610735" y="384279"/>
                      <a:pt x="379479" y="615535"/>
                      <a:pt x="379479" y="900804"/>
                    </a:cubicBezTo>
                    <a:cubicBezTo>
                      <a:pt x="379479" y="1186073"/>
                      <a:pt x="610735" y="1417329"/>
                      <a:pt x="896004" y="1417329"/>
                    </a:cubicBezTo>
                    <a:cubicBezTo>
                      <a:pt x="1181273" y="1417329"/>
                      <a:pt x="1412529" y="1186073"/>
                      <a:pt x="1412529" y="900804"/>
                    </a:cubicBezTo>
                    <a:cubicBezTo>
                      <a:pt x="1412529" y="615535"/>
                      <a:pt x="1181273" y="384279"/>
                      <a:pt x="896004" y="384279"/>
                    </a:cubicBezTo>
                    <a:close/>
                    <a:moveTo>
                      <a:pt x="998892" y="0"/>
                    </a:moveTo>
                    <a:lnTo>
                      <a:pt x="1263685" y="70112"/>
                    </a:lnTo>
                    <a:lnTo>
                      <a:pt x="1259890" y="292970"/>
                    </a:lnTo>
                    <a:lnTo>
                      <a:pt x="1252964" y="291136"/>
                    </a:lnTo>
                    <a:cubicBezTo>
                      <a:pt x="1309401" y="322522"/>
                      <a:pt x="1360410" y="361009"/>
                      <a:pt x="1403555" y="406648"/>
                    </a:cubicBezTo>
                    <a:lnTo>
                      <a:pt x="1604328" y="357315"/>
                    </a:lnTo>
                    <a:lnTo>
                      <a:pt x="1733027" y="596499"/>
                    </a:lnTo>
                    <a:lnTo>
                      <a:pt x="1589970" y="723947"/>
                    </a:lnTo>
                    <a:cubicBezTo>
                      <a:pt x="1607903" y="788494"/>
                      <a:pt x="1616355" y="856084"/>
                      <a:pt x="1613321" y="924788"/>
                    </a:cubicBezTo>
                    <a:lnTo>
                      <a:pt x="1792010" y="1022811"/>
                    </a:lnTo>
                    <a:lnTo>
                      <a:pt x="1721058" y="1284473"/>
                    </a:lnTo>
                    <a:lnTo>
                      <a:pt x="1504230" y="1280870"/>
                    </a:lnTo>
                    <a:cubicBezTo>
                      <a:pt x="1476815" y="1326134"/>
                      <a:pt x="1443601" y="1366958"/>
                      <a:pt x="1406384" y="1403402"/>
                    </a:cubicBezTo>
                    <a:lnTo>
                      <a:pt x="1477592" y="1587057"/>
                    </a:lnTo>
                    <a:lnTo>
                      <a:pt x="1253035" y="1742435"/>
                    </a:lnTo>
                    <a:lnTo>
                      <a:pt x="1163834" y="1665910"/>
                    </a:lnTo>
                    <a:lnTo>
                      <a:pt x="1163667" y="1666097"/>
                    </a:lnTo>
                    <a:lnTo>
                      <a:pt x="1144343" y="1649188"/>
                    </a:lnTo>
                    <a:lnTo>
                      <a:pt x="1082710" y="1596313"/>
                    </a:lnTo>
                    <a:lnTo>
                      <a:pt x="1083384" y="1595846"/>
                    </a:lnTo>
                    <a:lnTo>
                      <a:pt x="1076108" y="1589478"/>
                    </a:lnTo>
                    <a:cubicBezTo>
                      <a:pt x="1019150" y="1605403"/>
                      <a:pt x="959511" y="1612813"/>
                      <a:pt x="898869" y="1612479"/>
                    </a:cubicBezTo>
                    <a:lnTo>
                      <a:pt x="795635" y="1796239"/>
                    </a:lnTo>
                    <a:lnTo>
                      <a:pt x="530840" y="1726127"/>
                    </a:lnTo>
                    <a:lnTo>
                      <a:pt x="534419" y="1515981"/>
                    </a:lnTo>
                    <a:cubicBezTo>
                      <a:pt x="478307" y="1484379"/>
                      <a:pt x="427627" y="1445732"/>
                      <a:pt x="384791" y="1400008"/>
                    </a:cubicBezTo>
                    <a:lnTo>
                      <a:pt x="388223" y="1407281"/>
                    </a:lnTo>
                    <a:lnTo>
                      <a:pt x="166784" y="1449671"/>
                    </a:lnTo>
                    <a:lnTo>
                      <a:pt x="50929" y="1204159"/>
                    </a:lnTo>
                    <a:lnTo>
                      <a:pt x="200689" y="1084166"/>
                    </a:lnTo>
                    <a:cubicBezTo>
                      <a:pt x="184704" y="1026270"/>
                      <a:pt x="176353" y="965934"/>
                      <a:pt x="176341" y="904529"/>
                    </a:cubicBezTo>
                    <a:lnTo>
                      <a:pt x="0" y="807794"/>
                    </a:lnTo>
                    <a:lnTo>
                      <a:pt x="70951" y="546132"/>
                    </a:lnTo>
                    <a:lnTo>
                      <a:pt x="273028" y="549491"/>
                    </a:lnTo>
                    <a:cubicBezTo>
                      <a:pt x="300443" y="501683"/>
                      <a:pt x="333547" y="458094"/>
                      <a:pt x="370996" y="419078"/>
                    </a:cubicBezTo>
                    <a:lnTo>
                      <a:pt x="303314" y="212794"/>
                    </a:lnTo>
                    <a:lnTo>
                      <a:pt x="535794" y="69242"/>
                    </a:lnTo>
                    <a:lnTo>
                      <a:pt x="698144" y="223973"/>
                    </a:lnTo>
                    <a:lnTo>
                      <a:pt x="696512" y="224981"/>
                    </a:lnTo>
                    <a:cubicBezTo>
                      <a:pt x="760334" y="205136"/>
                      <a:pt x="827716" y="195964"/>
                      <a:pt x="896341" y="196709"/>
                    </a:cubicBezTo>
                    <a:lnTo>
                      <a:pt x="889414" y="194876"/>
                    </a:lnTo>
                    <a:close/>
                  </a:path>
                </a:pathLst>
              </a:cu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ko-KR" altLang="en-US" sz="2700">
                  <a:solidFill>
                    <a:schemeClr val="tx1"/>
                  </a:solidFill>
                </a:endParaRPr>
              </a:p>
            </p:txBody>
          </p:sp>
          <p:pic>
            <p:nvPicPr>
              <p:cNvPr id="27" name="Immagine 26" descr="Immagine che contiene Elementi grafici, clipart, schermata, grafica&#10;&#10;Il contenuto generato dall'IA potrebbe non essere corretto.">
                <a:extLst>
                  <a:ext uri="{FF2B5EF4-FFF2-40B4-BE49-F238E27FC236}">
                    <a16:creationId xmlns:a16="http://schemas.microsoft.com/office/drawing/2014/main" id="{C6EC231A-16D0-0C4B-5EBF-89AB32CA64A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84702" y="2338445"/>
                <a:ext cx="563293" cy="563293"/>
              </a:xfrm>
              <a:prstGeom prst="rect">
                <a:avLst/>
              </a:prstGeom>
            </p:spPr>
          </p:pic>
        </p:grpSp>
        <p:grpSp>
          <p:nvGrpSpPr>
            <p:cNvPr id="32" name="Gruppo 31">
              <a:extLst>
                <a:ext uri="{FF2B5EF4-FFF2-40B4-BE49-F238E27FC236}">
                  <a16:creationId xmlns:a16="http://schemas.microsoft.com/office/drawing/2014/main" id="{460EF4B3-75C3-A29B-6995-C305A9418494}"/>
                </a:ext>
              </a:extLst>
            </p:cNvPr>
            <p:cNvGrpSpPr/>
            <p:nvPr/>
          </p:nvGrpSpPr>
          <p:grpSpPr>
            <a:xfrm>
              <a:off x="3932436" y="4372771"/>
              <a:ext cx="1543595" cy="1547238"/>
              <a:chOff x="3932436" y="4372771"/>
              <a:chExt cx="1543595" cy="1547238"/>
            </a:xfrm>
          </p:grpSpPr>
          <p:sp>
            <p:nvSpPr>
              <p:cNvPr id="7" name="자유형: 도형 114">
                <a:extLst>
                  <a:ext uri="{FF2B5EF4-FFF2-40B4-BE49-F238E27FC236}">
                    <a16:creationId xmlns:a16="http://schemas.microsoft.com/office/drawing/2014/main" id="{A2D0FCBB-9B8E-2546-AEFC-F630AA463305}"/>
                  </a:ext>
                </a:extLst>
              </p:cNvPr>
              <p:cNvSpPr/>
              <p:nvPr/>
            </p:nvSpPr>
            <p:spPr>
              <a:xfrm>
                <a:off x="3932436" y="4372771"/>
                <a:ext cx="1543595" cy="1547238"/>
              </a:xfrm>
              <a:custGeom>
                <a:avLst/>
                <a:gdLst>
                  <a:gd name="connsiteX0" fmla="*/ 1702614 w 1792010"/>
                  <a:gd name="connsiteY0" fmla="*/ 878442 h 1796239"/>
                  <a:gd name="connsiteX1" fmla="*/ 1710060 w 1792010"/>
                  <a:gd name="connsiteY1" fmla="*/ 883022 h 1796239"/>
                  <a:gd name="connsiteX2" fmla="*/ 1702614 w 1792010"/>
                  <a:gd name="connsiteY2" fmla="*/ 881183 h 1796239"/>
                  <a:gd name="connsiteX3" fmla="*/ 896004 w 1792010"/>
                  <a:gd name="connsiteY3" fmla="*/ 384279 h 1796239"/>
                  <a:gd name="connsiteX4" fmla="*/ 379479 w 1792010"/>
                  <a:gd name="connsiteY4" fmla="*/ 900804 h 1796239"/>
                  <a:gd name="connsiteX5" fmla="*/ 896004 w 1792010"/>
                  <a:gd name="connsiteY5" fmla="*/ 1417329 h 1796239"/>
                  <a:gd name="connsiteX6" fmla="*/ 1412529 w 1792010"/>
                  <a:gd name="connsiteY6" fmla="*/ 900804 h 1796239"/>
                  <a:gd name="connsiteX7" fmla="*/ 896004 w 1792010"/>
                  <a:gd name="connsiteY7" fmla="*/ 384279 h 1796239"/>
                  <a:gd name="connsiteX8" fmla="*/ 998892 w 1792010"/>
                  <a:gd name="connsiteY8" fmla="*/ 0 h 1796239"/>
                  <a:gd name="connsiteX9" fmla="*/ 1263685 w 1792010"/>
                  <a:gd name="connsiteY9" fmla="*/ 70112 h 1796239"/>
                  <a:gd name="connsiteX10" fmla="*/ 1259890 w 1792010"/>
                  <a:gd name="connsiteY10" fmla="*/ 292970 h 1796239"/>
                  <a:gd name="connsiteX11" fmla="*/ 1252964 w 1792010"/>
                  <a:gd name="connsiteY11" fmla="*/ 291136 h 1796239"/>
                  <a:gd name="connsiteX12" fmla="*/ 1403555 w 1792010"/>
                  <a:gd name="connsiteY12" fmla="*/ 406648 h 1796239"/>
                  <a:gd name="connsiteX13" fmla="*/ 1604328 w 1792010"/>
                  <a:gd name="connsiteY13" fmla="*/ 357315 h 1796239"/>
                  <a:gd name="connsiteX14" fmla="*/ 1733027 w 1792010"/>
                  <a:gd name="connsiteY14" fmla="*/ 596499 h 1796239"/>
                  <a:gd name="connsiteX15" fmla="*/ 1589970 w 1792010"/>
                  <a:gd name="connsiteY15" fmla="*/ 723947 h 1796239"/>
                  <a:gd name="connsiteX16" fmla="*/ 1613321 w 1792010"/>
                  <a:gd name="connsiteY16" fmla="*/ 924788 h 1796239"/>
                  <a:gd name="connsiteX17" fmla="*/ 1792010 w 1792010"/>
                  <a:gd name="connsiteY17" fmla="*/ 1022811 h 1796239"/>
                  <a:gd name="connsiteX18" fmla="*/ 1721058 w 1792010"/>
                  <a:gd name="connsiteY18" fmla="*/ 1284473 h 1796239"/>
                  <a:gd name="connsiteX19" fmla="*/ 1504230 w 1792010"/>
                  <a:gd name="connsiteY19" fmla="*/ 1280870 h 1796239"/>
                  <a:gd name="connsiteX20" fmla="*/ 1406384 w 1792010"/>
                  <a:gd name="connsiteY20" fmla="*/ 1403402 h 1796239"/>
                  <a:gd name="connsiteX21" fmla="*/ 1477592 w 1792010"/>
                  <a:gd name="connsiteY21" fmla="*/ 1587057 h 1796239"/>
                  <a:gd name="connsiteX22" fmla="*/ 1253035 w 1792010"/>
                  <a:gd name="connsiteY22" fmla="*/ 1742435 h 1796239"/>
                  <a:gd name="connsiteX23" fmla="*/ 1163834 w 1792010"/>
                  <a:gd name="connsiteY23" fmla="*/ 1665910 h 1796239"/>
                  <a:gd name="connsiteX24" fmla="*/ 1163667 w 1792010"/>
                  <a:gd name="connsiteY24" fmla="*/ 1666097 h 1796239"/>
                  <a:gd name="connsiteX25" fmla="*/ 1144343 w 1792010"/>
                  <a:gd name="connsiteY25" fmla="*/ 1649188 h 1796239"/>
                  <a:gd name="connsiteX26" fmla="*/ 1082710 w 1792010"/>
                  <a:gd name="connsiteY26" fmla="*/ 1596313 h 1796239"/>
                  <a:gd name="connsiteX27" fmla="*/ 1083384 w 1792010"/>
                  <a:gd name="connsiteY27" fmla="*/ 1595846 h 1796239"/>
                  <a:gd name="connsiteX28" fmla="*/ 1076108 w 1792010"/>
                  <a:gd name="connsiteY28" fmla="*/ 1589478 h 1796239"/>
                  <a:gd name="connsiteX29" fmla="*/ 898869 w 1792010"/>
                  <a:gd name="connsiteY29" fmla="*/ 1612479 h 1796239"/>
                  <a:gd name="connsiteX30" fmla="*/ 795635 w 1792010"/>
                  <a:gd name="connsiteY30" fmla="*/ 1796239 h 1796239"/>
                  <a:gd name="connsiteX31" fmla="*/ 530840 w 1792010"/>
                  <a:gd name="connsiteY31" fmla="*/ 1726127 h 1796239"/>
                  <a:gd name="connsiteX32" fmla="*/ 534419 w 1792010"/>
                  <a:gd name="connsiteY32" fmla="*/ 1515981 h 1796239"/>
                  <a:gd name="connsiteX33" fmla="*/ 384791 w 1792010"/>
                  <a:gd name="connsiteY33" fmla="*/ 1400008 h 1796239"/>
                  <a:gd name="connsiteX34" fmla="*/ 388223 w 1792010"/>
                  <a:gd name="connsiteY34" fmla="*/ 1407281 h 1796239"/>
                  <a:gd name="connsiteX35" fmla="*/ 166784 w 1792010"/>
                  <a:gd name="connsiteY35" fmla="*/ 1449671 h 1796239"/>
                  <a:gd name="connsiteX36" fmla="*/ 50929 w 1792010"/>
                  <a:gd name="connsiteY36" fmla="*/ 1204159 h 1796239"/>
                  <a:gd name="connsiteX37" fmla="*/ 200689 w 1792010"/>
                  <a:gd name="connsiteY37" fmla="*/ 1084166 h 1796239"/>
                  <a:gd name="connsiteX38" fmla="*/ 176341 w 1792010"/>
                  <a:gd name="connsiteY38" fmla="*/ 904529 h 1796239"/>
                  <a:gd name="connsiteX39" fmla="*/ 0 w 1792010"/>
                  <a:gd name="connsiteY39" fmla="*/ 807794 h 1796239"/>
                  <a:gd name="connsiteX40" fmla="*/ 70951 w 1792010"/>
                  <a:gd name="connsiteY40" fmla="*/ 546132 h 1796239"/>
                  <a:gd name="connsiteX41" fmla="*/ 273028 w 1792010"/>
                  <a:gd name="connsiteY41" fmla="*/ 549491 h 1796239"/>
                  <a:gd name="connsiteX42" fmla="*/ 370996 w 1792010"/>
                  <a:gd name="connsiteY42" fmla="*/ 419078 h 1796239"/>
                  <a:gd name="connsiteX43" fmla="*/ 303314 w 1792010"/>
                  <a:gd name="connsiteY43" fmla="*/ 212794 h 1796239"/>
                  <a:gd name="connsiteX44" fmla="*/ 535794 w 1792010"/>
                  <a:gd name="connsiteY44" fmla="*/ 69242 h 1796239"/>
                  <a:gd name="connsiteX45" fmla="*/ 698144 w 1792010"/>
                  <a:gd name="connsiteY45" fmla="*/ 223973 h 1796239"/>
                  <a:gd name="connsiteX46" fmla="*/ 696512 w 1792010"/>
                  <a:gd name="connsiteY46" fmla="*/ 224981 h 1796239"/>
                  <a:gd name="connsiteX47" fmla="*/ 896341 w 1792010"/>
                  <a:gd name="connsiteY47" fmla="*/ 196709 h 1796239"/>
                  <a:gd name="connsiteX48" fmla="*/ 889414 w 1792010"/>
                  <a:gd name="connsiteY48" fmla="*/ 194876 h 17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92010" h="1796239">
                    <a:moveTo>
                      <a:pt x="1702614" y="878442"/>
                    </a:moveTo>
                    <a:lnTo>
                      <a:pt x="1710060" y="883022"/>
                    </a:lnTo>
                    <a:lnTo>
                      <a:pt x="1702614" y="881183"/>
                    </a:lnTo>
                    <a:close/>
                    <a:moveTo>
                      <a:pt x="896004" y="384279"/>
                    </a:moveTo>
                    <a:cubicBezTo>
                      <a:pt x="610735" y="384279"/>
                      <a:pt x="379479" y="615535"/>
                      <a:pt x="379479" y="900804"/>
                    </a:cubicBezTo>
                    <a:cubicBezTo>
                      <a:pt x="379479" y="1186073"/>
                      <a:pt x="610735" y="1417329"/>
                      <a:pt x="896004" y="1417329"/>
                    </a:cubicBezTo>
                    <a:cubicBezTo>
                      <a:pt x="1181273" y="1417329"/>
                      <a:pt x="1412529" y="1186073"/>
                      <a:pt x="1412529" y="900804"/>
                    </a:cubicBezTo>
                    <a:cubicBezTo>
                      <a:pt x="1412529" y="615535"/>
                      <a:pt x="1181273" y="384279"/>
                      <a:pt x="896004" y="384279"/>
                    </a:cubicBezTo>
                    <a:close/>
                    <a:moveTo>
                      <a:pt x="998892" y="0"/>
                    </a:moveTo>
                    <a:lnTo>
                      <a:pt x="1263685" y="70112"/>
                    </a:lnTo>
                    <a:lnTo>
                      <a:pt x="1259890" y="292970"/>
                    </a:lnTo>
                    <a:lnTo>
                      <a:pt x="1252964" y="291136"/>
                    </a:lnTo>
                    <a:cubicBezTo>
                      <a:pt x="1309401" y="322522"/>
                      <a:pt x="1360410" y="361009"/>
                      <a:pt x="1403555" y="406648"/>
                    </a:cubicBezTo>
                    <a:lnTo>
                      <a:pt x="1604328" y="357315"/>
                    </a:lnTo>
                    <a:lnTo>
                      <a:pt x="1733027" y="596499"/>
                    </a:lnTo>
                    <a:lnTo>
                      <a:pt x="1589970" y="723947"/>
                    </a:lnTo>
                    <a:cubicBezTo>
                      <a:pt x="1607903" y="788494"/>
                      <a:pt x="1616355" y="856084"/>
                      <a:pt x="1613321" y="924788"/>
                    </a:cubicBezTo>
                    <a:lnTo>
                      <a:pt x="1792010" y="1022811"/>
                    </a:lnTo>
                    <a:lnTo>
                      <a:pt x="1721058" y="1284473"/>
                    </a:lnTo>
                    <a:lnTo>
                      <a:pt x="1504230" y="1280870"/>
                    </a:lnTo>
                    <a:cubicBezTo>
                      <a:pt x="1476815" y="1326134"/>
                      <a:pt x="1443601" y="1366958"/>
                      <a:pt x="1406384" y="1403402"/>
                    </a:cubicBezTo>
                    <a:lnTo>
                      <a:pt x="1477592" y="1587057"/>
                    </a:lnTo>
                    <a:lnTo>
                      <a:pt x="1253035" y="1742435"/>
                    </a:lnTo>
                    <a:lnTo>
                      <a:pt x="1163834" y="1665910"/>
                    </a:lnTo>
                    <a:lnTo>
                      <a:pt x="1163667" y="1666097"/>
                    </a:lnTo>
                    <a:lnTo>
                      <a:pt x="1144343" y="1649188"/>
                    </a:lnTo>
                    <a:lnTo>
                      <a:pt x="1082710" y="1596313"/>
                    </a:lnTo>
                    <a:lnTo>
                      <a:pt x="1083384" y="1595846"/>
                    </a:lnTo>
                    <a:lnTo>
                      <a:pt x="1076108" y="1589478"/>
                    </a:lnTo>
                    <a:cubicBezTo>
                      <a:pt x="1019150" y="1605403"/>
                      <a:pt x="959511" y="1612813"/>
                      <a:pt x="898869" y="1612479"/>
                    </a:cubicBezTo>
                    <a:lnTo>
                      <a:pt x="795635" y="1796239"/>
                    </a:lnTo>
                    <a:lnTo>
                      <a:pt x="530840" y="1726127"/>
                    </a:lnTo>
                    <a:lnTo>
                      <a:pt x="534419" y="1515981"/>
                    </a:lnTo>
                    <a:cubicBezTo>
                      <a:pt x="478307" y="1484379"/>
                      <a:pt x="427627" y="1445732"/>
                      <a:pt x="384791" y="1400008"/>
                    </a:cubicBezTo>
                    <a:lnTo>
                      <a:pt x="388223" y="1407281"/>
                    </a:lnTo>
                    <a:lnTo>
                      <a:pt x="166784" y="1449671"/>
                    </a:lnTo>
                    <a:lnTo>
                      <a:pt x="50929" y="1204159"/>
                    </a:lnTo>
                    <a:lnTo>
                      <a:pt x="200689" y="1084166"/>
                    </a:lnTo>
                    <a:cubicBezTo>
                      <a:pt x="184704" y="1026270"/>
                      <a:pt x="176353" y="965934"/>
                      <a:pt x="176341" y="904529"/>
                    </a:cubicBezTo>
                    <a:lnTo>
                      <a:pt x="0" y="807794"/>
                    </a:lnTo>
                    <a:lnTo>
                      <a:pt x="70951" y="546132"/>
                    </a:lnTo>
                    <a:lnTo>
                      <a:pt x="273028" y="549491"/>
                    </a:lnTo>
                    <a:cubicBezTo>
                      <a:pt x="300443" y="501683"/>
                      <a:pt x="333547" y="458094"/>
                      <a:pt x="370996" y="419078"/>
                    </a:cubicBezTo>
                    <a:lnTo>
                      <a:pt x="303314" y="212794"/>
                    </a:lnTo>
                    <a:lnTo>
                      <a:pt x="535794" y="69242"/>
                    </a:lnTo>
                    <a:lnTo>
                      <a:pt x="698144" y="223973"/>
                    </a:lnTo>
                    <a:lnTo>
                      <a:pt x="696512" y="224981"/>
                    </a:lnTo>
                    <a:cubicBezTo>
                      <a:pt x="760334" y="205136"/>
                      <a:pt x="827716" y="195964"/>
                      <a:pt x="896341" y="196709"/>
                    </a:cubicBezTo>
                    <a:lnTo>
                      <a:pt x="889414" y="194876"/>
                    </a:lnTo>
                    <a:close/>
                  </a:path>
                </a:pathLst>
              </a:custGeom>
              <a:solidFill>
                <a:srgbClr val="B036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ko-KR" altLang="en-US" sz="2700">
                  <a:solidFill>
                    <a:schemeClr val="tx1"/>
                  </a:solidFill>
                </a:endParaRPr>
              </a:p>
            </p:txBody>
          </p:sp>
          <p:pic>
            <p:nvPicPr>
              <p:cNvPr id="30" name="Immagine 29">
                <a:extLst>
                  <a:ext uri="{FF2B5EF4-FFF2-40B4-BE49-F238E27FC236}">
                    <a16:creationId xmlns:a16="http://schemas.microsoft.com/office/drawing/2014/main" id="{DE5FC8D7-3670-DF9F-9AFA-7D319C0E3DBA}"/>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rot="10800000" flipV="1">
                <a:off x="4369598" y="4802252"/>
                <a:ext cx="688275" cy="688275"/>
              </a:xfrm>
              <a:prstGeom prst="rect">
                <a:avLst/>
              </a:prstGeom>
            </p:spPr>
          </p:pic>
        </p:grpSp>
      </p:grpSp>
      <p:cxnSp>
        <p:nvCxnSpPr>
          <p:cNvPr id="35" name="Connettore a gomito 34">
            <a:extLst>
              <a:ext uri="{FF2B5EF4-FFF2-40B4-BE49-F238E27FC236}">
                <a16:creationId xmlns:a16="http://schemas.microsoft.com/office/drawing/2014/main" id="{4ED93CDF-5269-F76D-0B14-84F2F2657B35}"/>
              </a:ext>
            </a:extLst>
          </p:cNvPr>
          <p:cNvCxnSpPr>
            <a:cxnSpLocks/>
          </p:cNvCxnSpPr>
          <p:nvPr/>
        </p:nvCxnSpPr>
        <p:spPr>
          <a:xfrm flipV="1">
            <a:off x="1280325" y="4403477"/>
            <a:ext cx="1631546" cy="390398"/>
          </a:xfrm>
          <a:prstGeom prst="bentConnector3">
            <a:avLst>
              <a:gd name="adj1" fmla="val -19"/>
            </a:avLst>
          </a:prstGeom>
          <a:ln>
            <a:solidFill>
              <a:schemeClr val="bg2"/>
            </a:solidFill>
            <a:headEnd type="oval"/>
            <a:tailEnd type="oval"/>
          </a:ln>
        </p:spPr>
        <p:style>
          <a:lnRef idx="2">
            <a:schemeClr val="accent1"/>
          </a:lnRef>
          <a:fillRef idx="0">
            <a:schemeClr val="accent1"/>
          </a:fillRef>
          <a:effectRef idx="1">
            <a:schemeClr val="accent1"/>
          </a:effectRef>
          <a:fontRef idx="minor">
            <a:schemeClr val="tx1"/>
          </a:fontRef>
        </p:style>
      </p:cxnSp>
      <p:cxnSp>
        <p:nvCxnSpPr>
          <p:cNvPr id="44" name="Connettore diritto 43">
            <a:extLst>
              <a:ext uri="{FF2B5EF4-FFF2-40B4-BE49-F238E27FC236}">
                <a16:creationId xmlns:a16="http://schemas.microsoft.com/office/drawing/2014/main" id="{87367E4F-26B0-0754-6C10-D4809B1A0B5A}"/>
              </a:ext>
            </a:extLst>
          </p:cNvPr>
          <p:cNvCxnSpPr>
            <a:cxnSpLocks/>
          </p:cNvCxnSpPr>
          <p:nvPr/>
        </p:nvCxnSpPr>
        <p:spPr>
          <a:xfrm flipV="1">
            <a:off x="6709899" y="4490110"/>
            <a:ext cx="1057585" cy="12523"/>
          </a:xfrm>
          <a:prstGeom prst="line">
            <a:avLst/>
          </a:prstGeom>
          <a:ln>
            <a:solidFill>
              <a:schemeClr val="bg2"/>
            </a:solidFill>
            <a:headEnd type="oval"/>
            <a:tailEnd type="oval"/>
          </a:ln>
        </p:spPr>
        <p:style>
          <a:lnRef idx="2">
            <a:schemeClr val="accent1"/>
          </a:lnRef>
          <a:fillRef idx="0">
            <a:schemeClr val="accent1"/>
          </a:fillRef>
          <a:effectRef idx="1">
            <a:schemeClr val="accent1"/>
          </a:effectRef>
          <a:fontRef idx="minor">
            <a:schemeClr val="tx1"/>
          </a:fontRef>
        </p:style>
      </p:cxnSp>
      <p:cxnSp>
        <p:nvCxnSpPr>
          <p:cNvPr id="46" name="Connettore a gomito 45">
            <a:extLst>
              <a:ext uri="{FF2B5EF4-FFF2-40B4-BE49-F238E27FC236}">
                <a16:creationId xmlns:a16="http://schemas.microsoft.com/office/drawing/2014/main" id="{86C7651B-AD97-7B2E-1A32-ACCD3510C34F}"/>
              </a:ext>
            </a:extLst>
          </p:cNvPr>
          <p:cNvCxnSpPr>
            <a:cxnSpLocks/>
          </p:cNvCxnSpPr>
          <p:nvPr/>
        </p:nvCxnSpPr>
        <p:spPr>
          <a:xfrm rot="5400000">
            <a:off x="5045062" y="1171924"/>
            <a:ext cx="657008" cy="496751"/>
          </a:xfrm>
          <a:prstGeom prst="bentConnector3">
            <a:avLst>
              <a:gd name="adj1" fmla="val -471"/>
            </a:avLst>
          </a:prstGeom>
          <a:ln>
            <a:solidFill>
              <a:schemeClr val="bg2"/>
            </a:solidFill>
            <a:headEnd type="oval"/>
            <a:tailEnd type="oval"/>
          </a:ln>
        </p:spPr>
        <p:style>
          <a:lnRef idx="2">
            <a:schemeClr val="accent1"/>
          </a:lnRef>
          <a:fillRef idx="0">
            <a:schemeClr val="accent1"/>
          </a:fillRef>
          <a:effectRef idx="1">
            <a:schemeClr val="accent1"/>
          </a:effectRef>
          <a:fontRef idx="minor">
            <a:schemeClr val="tx1"/>
          </a:fontRef>
        </p:style>
      </p:cxnSp>
      <p:cxnSp>
        <p:nvCxnSpPr>
          <p:cNvPr id="49" name="Connettore a gomito 48">
            <a:extLst>
              <a:ext uri="{FF2B5EF4-FFF2-40B4-BE49-F238E27FC236}">
                <a16:creationId xmlns:a16="http://schemas.microsoft.com/office/drawing/2014/main" id="{C73C9215-C158-B486-8381-4C9BD0CB3315}"/>
              </a:ext>
            </a:extLst>
          </p:cNvPr>
          <p:cNvCxnSpPr>
            <a:cxnSpLocks/>
          </p:cNvCxnSpPr>
          <p:nvPr/>
        </p:nvCxnSpPr>
        <p:spPr>
          <a:xfrm rot="5400000">
            <a:off x="7708557" y="1997069"/>
            <a:ext cx="657008" cy="496751"/>
          </a:xfrm>
          <a:prstGeom prst="bentConnector3">
            <a:avLst>
              <a:gd name="adj1" fmla="val -471"/>
            </a:avLst>
          </a:prstGeom>
          <a:ln>
            <a:solidFill>
              <a:schemeClr val="bg2"/>
            </a:solidFill>
            <a:headEnd type="oval"/>
            <a:tailEnd type="oval"/>
          </a:ln>
        </p:spPr>
        <p:style>
          <a:lnRef idx="2">
            <a:schemeClr val="accent1"/>
          </a:lnRef>
          <a:fillRef idx="0">
            <a:schemeClr val="accent1"/>
          </a:fillRef>
          <a:effectRef idx="1">
            <a:schemeClr val="accent1"/>
          </a:effectRef>
          <a:fontRef idx="minor">
            <a:schemeClr val="tx1"/>
          </a:fontRef>
        </p:style>
      </p:cxnSp>
      <p:grpSp>
        <p:nvGrpSpPr>
          <p:cNvPr id="54" name="Group 21">
            <a:extLst>
              <a:ext uri="{FF2B5EF4-FFF2-40B4-BE49-F238E27FC236}">
                <a16:creationId xmlns:a16="http://schemas.microsoft.com/office/drawing/2014/main" id="{F5A91C5E-0D5A-78E7-071D-CFAB8C156F80}"/>
              </a:ext>
            </a:extLst>
          </p:cNvPr>
          <p:cNvGrpSpPr/>
          <p:nvPr/>
        </p:nvGrpSpPr>
        <p:grpSpPr>
          <a:xfrm>
            <a:off x="5888468" y="637412"/>
            <a:ext cx="3501842" cy="809840"/>
            <a:chOff x="-496229" y="4386278"/>
            <a:chExt cx="3869813" cy="809840"/>
          </a:xfrm>
        </p:grpSpPr>
        <p:sp>
          <p:nvSpPr>
            <p:cNvPr id="55" name="TextBox 22">
              <a:extLst>
                <a:ext uri="{FF2B5EF4-FFF2-40B4-BE49-F238E27FC236}">
                  <a16:creationId xmlns:a16="http://schemas.microsoft.com/office/drawing/2014/main" id="{E40FA383-81E9-094B-DE8D-D0BEFB53CA9F}"/>
                </a:ext>
              </a:extLst>
            </p:cNvPr>
            <p:cNvSpPr txBox="1"/>
            <p:nvPr/>
          </p:nvSpPr>
          <p:spPr>
            <a:xfrm>
              <a:off x="-492607" y="4386278"/>
              <a:ext cx="3646939" cy="338554"/>
            </a:xfrm>
            <a:prstGeom prst="rect">
              <a:avLst/>
            </a:prstGeom>
            <a:noFill/>
          </p:spPr>
          <p:txBody>
            <a:bodyPr wrap="square" l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altLang="ko-KR" sz="1600" b="1" dirty="0">
                  <a:solidFill>
                    <a:schemeClr val="bg1"/>
                  </a:solidFill>
                  <a:latin typeface="Alata" pitchFamily="2" charset="0"/>
                  <a:cs typeface="Alata" pitchFamily="2" charset="0"/>
                </a:rPr>
                <a:t>IMAGE CLASSIFICATION MODULE</a:t>
              </a:r>
              <a:endParaRPr lang="ko-KR" altLang="en-US" sz="1600" b="1">
                <a:solidFill>
                  <a:schemeClr val="bg1"/>
                </a:solidFill>
                <a:latin typeface="Alata" pitchFamily="2" charset="0"/>
                <a:cs typeface="Alata" pitchFamily="2" charset="0"/>
              </a:endParaRPr>
            </a:p>
          </p:txBody>
        </p:sp>
        <p:sp>
          <p:nvSpPr>
            <p:cNvPr id="56" name="TextBox 23">
              <a:extLst>
                <a:ext uri="{FF2B5EF4-FFF2-40B4-BE49-F238E27FC236}">
                  <a16:creationId xmlns:a16="http://schemas.microsoft.com/office/drawing/2014/main" id="{E30FD543-BF93-B979-44C1-1CD9EC135330}"/>
                </a:ext>
              </a:extLst>
            </p:cNvPr>
            <p:cNvSpPr txBox="1"/>
            <p:nvPr/>
          </p:nvSpPr>
          <p:spPr>
            <a:xfrm>
              <a:off x="-496229" y="4672898"/>
              <a:ext cx="3869813" cy="523220"/>
            </a:xfrm>
            <a:prstGeom prst="rect">
              <a:avLst/>
            </a:prstGeom>
            <a:noFill/>
          </p:spPr>
          <p:txBody>
            <a:bodyPr wrap="square" l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400" dirty="0">
                  <a:solidFill>
                    <a:schemeClr val="bg1"/>
                  </a:solidFill>
                  <a:latin typeface="Alata" pitchFamily="2" charset="0"/>
                  <a:cs typeface="Alata" pitchFamily="2" charset="0"/>
                </a:rPr>
                <a:t>Detects the cabin occupants and sends</a:t>
              </a:r>
            </a:p>
            <a:p>
              <a:r>
                <a:rPr lang="en-US" altLang="ko-KR" sz="1400" dirty="0">
                  <a:solidFill>
                    <a:schemeClr val="bg1"/>
                  </a:solidFill>
                  <a:latin typeface="Alata" pitchFamily="2" charset="0"/>
                  <a:cs typeface="Alata" pitchFamily="2" charset="0"/>
                </a:rPr>
                <a:t>the result to the brain module.</a:t>
              </a:r>
              <a:endParaRPr lang="ko-KR" altLang="en-US" sz="1400">
                <a:solidFill>
                  <a:schemeClr val="bg1"/>
                </a:solidFill>
                <a:latin typeface="Alata" pitchFamily="2" charset="0"/>
                <a:cs typeface="Alata" pitchFamily="2" charset="0"/>
              </a:endParaRPr>
            </a:p>
          </p:txBody>
        </p:sp>
      </p:grpSp>
      <p:grpSp>
        <p:nvGrpSpPr>
          <p:cNvPr id="57" name="Group 21">
            <a:extLst>
              <a:ext uri="{FF2B5EF4-FFF2-40B4-BE49-F238E27FC236}">
                <a16:creationId xmlns:a16="http://schemas.microsoft.com/office/drawing/2014/main" id="{36E110CB-3B88-7AA1-5E85-95288D4BD810}"/>
              </a:ext>
            </a:extLst>
          </p:cNvPr>
          <p:cNvGrpSpPr/>
          <p:nvPr/>
        </p:nvGrpSpPr>
        <p:grpSpPr>
          <a:xfrm>
            <a:off x="6037764" y="5765355"/>
            <a:ext cx="3501842" cy="809840"/>
            <a:chOff x="-496229" y="4386278"/>
            <a:chExt cx="3869813" cy="809840"/>
          </a:xfrm>
        </p:grpSpPr>
        <p:sp>
          <p:nvSpPr>
            <p:cNvPr id="58" name="TextBox 22">
              <a:extLst>
                <a:ext uri="{FF2B5EF4-FFF2-40B4-BE49-F238E27FC236}">
                  <a16:creationId xmlns:a16="http://schemas.microsoft.com/office/drawing/2014/main" id="{85733CA6-A8AF-E904-4467-1C3614ADC1A8}"/>
                </a:ext>
              </a:extLst>
            </p:cNvPr>
            <p:cNvSpPr txBox="1"/>
            <p:nvPr/>
          </p:nvSpPr>
          <p:spPr>
            <a:xfrm>
              <a:off x="-492607" y="4386278"/>
              <a:ext cx="3646939" cy="338554"/>
            </a:xfrm>
            <a:prstGeom prst="rect">
              <a:avLst/>
            </a:prstGeom>
            <a:noFill/>
          </p:spPr>
          <p:txBody>
            <a:bodyPr wrap="square" l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altLang="ko-KR" sz="1600" b="1" dirty="0">
                  <a:solidFill>
                    <a:schemeClr val="bg1"/>
                  </a:solidFill>
                  <a:latin typeface="Alata" pitchFamily="2" charset="0"/>
                  <a:cs typeface="Alata" pitchFamily="2" charset="0"/>
                </a:rPr>
                <a:t>AUDIO CLASSIFICATION MODULE</a:t>
              </a:r>
              <a:endParaRPr lang="ko-KR" altLang="en-US" sz="1600" b="1">
                <a:solidFill>
                  <a:schemeClr val="bg1"/>
                </a:solidFill>
                <a:latin typeface="Alata" pitchFamily="2" charset="0"/>
                <a:cs typeface="Alata" pitchFamily="2" charset="0"/>
              </a:endParaRPr>
            </a:p>
          </p:txBody>
        </p:sp>
        <p:sp>
          <p:nvSpPr>
            <p:cNvPr id="59" name="TextBox 23">
              <a:extLst>
                <a:ext uri="{FF2B5EF4-FFF2-40B4-BE49-F238E27FC236}">
                  <a16:creationId xmlns:a16="http://schemas.microsoft.com/office/drawing/2014/main" id="{B352CB46-73E9-D247-A125-55BFEFC77041}"/>
                </a:ext>
              </a:extLst>
            </p:cNvPr>
            <p:cNvSpPr txBox="1"/>
            <p:nvPr/>
          </p:nvSpPr>
          <p:spPr>
            <a:xfrm>
              <a:off x="-496229" y="4672898"/>
              <a:ext cx="3869813" cy="523220"/>
            </a:xfrm>
            <a:prstGeom prst="rect">
              <a:avLst/>
            </a:prstGeom>
            <a:noFill/>
          </p:spPr>
          <p:txBody>
            <a:bodyPr wrap="square" l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altLang="ko-KR" sz="1400" dirty="0">
                  <a:solidFill>
                    <a:schemeClr val="bg1"/>
                  </a:solidFill>
                  <a:latin typeface="Alata" pitchFamily="2" charset="0"/>
                  <a:cs typeface="Alata" pitchFamily="2" charset="0"/>
                </a:rPr>
                <a:t>Classify the audio and sends the result to the brain module.</a:t>
              </a:r>
              <a:endParaRPr lang="ko-KR" altLang="en-US" sz="1400" dirty="0">
                <a:solidFill>
                  <a:schemeClr val="bg1"/>
                </a:solidFill>
                <a:latin typeface="Alata" pitchFamily="2" charset="0"/>
                <a:cs typeface="Alata" pitchFamily="2" charset="0"/>
              </a:endParaRPr>
            </a:p>
          </p:txBody>
        </p:sp>
      </p:grpSp>
    </p:spTree>
    <p:extLst>
      <p:ext uri="{BB962C8B-B14F-4D97-AF65-F5344CB8AC3E}">
        <p14:creationId xmlns:p14="http://schemas.microsoft.com/office/powerpoint/2010/main" val="39124593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87A623-CD3F-E31F-AB8C-9DDC2717B64D}"/>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E61BDBD-51F0-DEA0-0356-AC97642255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AF20D4C8-B3E6-103E-AA6E-A707FB276D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A1A29DA0-20CF-A085-1D86-FCA52D8384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A2A91784-4841-ACB2-0A9C-36C684CC1E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2781BFA8-42D7-6F67-D4A2-E35FB900B2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67ED624E-F49C-F218-C0DE-22684DE7E0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850D3588-A63D-44FB-B81A-ADA3EF191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5F52F0D7-B504-72F6-31F8-7CB3641664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6" name="Group 21">
            <a:extLst>
              <a:ext uri="{FF2B5EF4-FFF2-40B4-BE49-F238E27FC236}">
                <a16:creationId xmlns:a16="http://schemas.microsoft.com/office/drawing/2014/main" id="{6344575C-1775-8766-4A48-E0D6C54DECC2}"/>
              </a:ext>
            </a:extLst>
          </p:cNvPr>
          <p:cNvGrpSpPr/>
          <p:nvPr/>
        </p:nvGrpSpPr>
        <p:grpSpPr>
          <a:xfrm>
            <a:off x="2242984" y="2527073"/>
            <a:ext cx="3992675" cy="1379227"/>
            <a:chOff x="-496230" y="4370889"/>
            <a:chExt cx="4158110" cy="1379227"/>
          </a:xfrm>
        </p:grpSpPr>
        <p:sp>
          <p:nvSpPr>
            <p:cNvPr id="127" name="TextBox 22">
              <a:extLst>
                <a:ext uri="{FF2B5EF4-FFF2-40B4-BE49-F238E27FC236}">
                  <a16:creationId xmlns:a16="http://schemas.microsoft.com/office/drawing/2014/main" id="{6FED23E6-E7D5-5480-9192-EF066C929E0E}"/>
                </a:ext>
              </a:extLst>
            </p:cNvPr>
            <p:cNvSpPr txBox="1"/>
            <p:nvPr/>
          </p:nvSpPr>
          <p:spPr>
            <a:xfrm>
              <a:off x="-492607" y="4370889"/>
              <a:ext cx="4154487" cy="369332"/>
            </a:xfrm>
            <a:prstGeom prst="rect">
              <a:avLst/>
            </a:prstGeom>
            <a:noFill/>
          </p:spPr>
          <p:txBody>
            <a:bodyPr wrap="square" l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altLang="ko-KR" b="1" dirty="0">
                  <a:solidFill>
                    <a:schemeClr val="bg1"/>
                  </a:solidFill>
                  <a:latin typeface="Alata" pitchFamily="2" charset="0"/>
                  <a:cs typeface="Alata" pitchFamily="2" charset="0"/>
                </a:rPr>
                <a:t>IMAGE BASED DETECTION MODEL</a:t>
              </a:r>
              <a:endParaRPr lang="ko-KR" altLang="en-US" b="1">
                <a:solidFill>
                  <a:schemeClr val="bg1"/>
                </a:solidFill>
                <a:latin typeface="Alata" pitchFamily="2" charset="0"/>
                <a:cs typeface="Alata" pitchFamily="2" charset="0"/>
              </a:endParaRPr>
            </a:p>
          </p:txBody>
        </p:sp>
        <p:sp>
          <p:nvSpPr>
            <p:cNvPr id="128" name="TextBox 23">
              <a:extLst>
                <a:ext uri="{FF2B5EF4-FFF2-40B4-BE49-F238E27FC236}">
                  <a16:creationId xmlns:a16="http://schemas.microsoft.com/office/drawing/2014/main" id="{DE629B01-D3A9-6389-4832-FA072B241194}"/>
                </a:ext>
              </a:extLst>
            </p:cNvPr>
            <p:cNvSpPr txBox="1"/>
            <p:nvPr/>
          </p:nvSpPr>
          <p:spPr>
            <a:xfrm>
              <a:off x="-496230" y="4672898"/>
              <a:ext cx="4017656" cy="1077218"/>
            </a:xfrm>
            <a:prstGeom prst="rect">
              <a:avLst/>
            </a:prstGeom>
            <a:noFill/>
          </p:spPr>
          <p:txBody>
            <a:bodyPr wrap="square" l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600" dirty="0">
                  <a:solidFill>
                    <a:schemeClr val="bg1"/>
                  </a:solidFill>
                  <a:latin typeface="Alata" pitchFamily="2" charset="0"/>
                  <a:cs typeface="Alata" pitchFamily="2" charset="0"/>
                </a:rPr>
                <a:t>DETECTS :</a:t>
              </a:r>
            </a:p>
            <a:p>
              <a:pPr marL="742950" lvl="1" indent="-285750">
                <a:buFont typeface="Arial" panose="020B0604020202020204" pitchFamily="34" charset="0"/>
                <a:buChar char="•"/>
              </a:pPr>
              <a:r>
                <a:rPr lang="en-US" altLang="ko-KR" sz="1600" dirty="0">
                  <a:solidFill>
                    <a:schemeClr val="bg1"/>
                  </a:solidFill>
                  <a:latin typeface="Alata" pitchFamily="2" charset="0"/>
                  <a:cs typeface="Alata" pitchFamily="2" charset="0"/>
                </a:rPr>
                <a:t>ADULTS</a:t>
              </a:r>
            </a:p>
            <a:p>
              <a:pPr marL="742950" lvl="1" indent="-285750">
                <a:buFont typeface="Arial" panose="020B0604020202020204" pitchFamily="34" charset="0"/>
                <a:buChar char="•"/>
              </a:pPr>
              <a:r>
                <a:rPr lang="en-US" altLang="ko-KR" sz="1600" dirty="0">
                  <a:solidFill>
                    <a:schemeClr val="bg1"/>
                  </a:solidFill>
                  <a:latin typeface="Alata" pitchFamily="2" charset="0"/>
                  <a:cs typeface="Alata" pitchFamily="2" charset="0"/>
                </a:rPr>
                <a:t>CHILDS</a:t>
              </a:r>
            </a:p>
            <a:p>
              <a:pPr marL="742950" lvl="1" indent="-285750">
                <a:buFont typeface="Arial" panose="020B0604020202020204" pitchFamily="34" charset="0"/>
                <a:buChar char="•"/>
              </a:pPr>
              <a:r>
                <a:rPr lang="en-US" altLang="ko-KR" sz="1600" dirty="0">
                  <a:solidFill>
                    <a:schemeClr val="bg1"/>
                  </a:solidFill>
                  <a:latin typeface="Alata" pitchFamily="2" charset="0"/>
                  <a:cs typeface="Alata" pitchFamily="2" charset="0"/>
                </a:rPr>
                <a:t>PETS</a:t>
              </a:r>
              <a:endParaRPr lang="ko-KR" altLang="en-US" sz="1600">
                <a:solidFill>
                  <a:schemeClr val="bg1"/>
                </a:solidFill>
                <a:latin typeface="Alata" pitchFamily="2" charset="0"/>
                <a:cs typeface="Alata" pitchFamily="2" charset="0"/>
              </a:endParaRPr>
            </a:p>
          </p:txBody>
        </p:sp>
      </p:grpSp>
      <p:sp>
        <p:nvSpPr>
          <p:cNvPr id="2" name="Rettangolo 1">
            <a:extLst>
              <a:ext uri="{FF2B5EF4-FFF2-40B4-BE49-F238E27FC236}">
                <a16:creationId xmlns:a16="http://schemas.microsoft.com/office/drawing/2014/main" id="{6AE717B2-15AB-D4AE-68E1-7B8568EE0519}"/>
              </a:ext>
            </a:extLst>
          </p:cNvPr>
          <p:cNvSpPr/>
          <p:nvPr/>
        </p:nvSpPr>
        <p:spPr>
          <a:xfrm>
            <a:off x="7867090" y="95308"/>
            <a:ext cx="4127648" cy="461665"/>
          </a:xfrm>
          <a:prstGeom prst="rect">
            <a:avLst/>
          </a:prstGeom>
          <a:noFill/>
          <a:ln>
            <a:noFill/>
          </a:ln>
        </p:spPr>
        <p:txBody>
          <a:bodyPr wrap="square" lIns="91440" tIns="45720" rIns="91440" bIns="45720">
            <a:spAutoFit/>
          </a:bodyPr>
          <a:lstStyle/>
          <a:p>
            <a:pPr algn="ctr"/>
            <a:r>
              <a:rPr lang="it-IT" sz="2400"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PROTOTYPE ARCHITECTURE</a:t>
            </a:r>
          </a:p>
        </p:txBody>
      </p:sp>
      <p:pic>
        <p:nvPicPr>
          <p:cNvPr id="3" name="Immagine 2" descr="Immagine che contiene cerchio, cartone animato, creatività, arte&#10;&#10;Il contenuto generato dall'IA potrebbe non essere corretto.">
            <a:extLst>
              <a:ext uri="{FF2B5EF4-FFF2-40B4-BE49-F238E27FC236}">
                <a16:creationId xmlns:a16="http://schemas.microsoft.com/office/drawing/2014/main" id="{7D3EF759-3769-4123-098B-6B1506D8E2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0090" y="2762023"/>
            <a:ext cx="914524" cy="914524"/>
          </a:xfrm>
          <a:prstGeom prst="rect">
            <a:avLst/>
          </a:prstGeom>
        </p:spPr>
      </p:pic>
      <p:pic>
        <p:nvPicPr>
          <p:cNvPr id="4" name="Immagine 3" descr="Immagine che contiene Elementi grafici, Carattere, grafica, simbolo&#10;&#10;Il contenuto generato dall'IA potrebbe non essere corretto.">
            <a:extLst>
              <a:ext uri="{FF2B5EF4-FFF2-40B4-BE49-F238E27FC236}">
                <a16:creationId xmlns:a16="http://schemas.microsoft.com/office/drawing/2014/main" id="{23F670B1-897F-A891-AD72-838ED76579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44572" y="2829082"/>
            <a:ext cx="781806" cy="781806"/>
          </a:xfrm>
          <a:prstGeom prst="rect">
            <a:avLst/>
          </a:prstGeom>
        </p:spPr>
      </p:pic>
      <p:grpSp>
        <p:nvGrpSpPr>
          <p:cNvPr id="7" name="Group 21">
            <a:extLst>
              <a:ext uri="{FF2B5EF4-FFF2-40B4-BE49-F238E27FC236}">
                <a16:creationId xmlns:a16="http://schemas.microsoft.com/office/drawing/2014/main" id="{1FA020E1-7505-47E7-561D-CA337A880C64}"/>
              </a:ext>
            </a:extLst>
          </p:cNvPr>
          <p:cNvGrpSpPr/>
          <p:nvPr/>
        </p:nvGrpSpPr>
        <p:grpSpPr>
          <a:xfrm>
            <a:off x="7346743" y="2527073"/>
            <a:ext cx="4593179" cy="2117891"/>
            <a:chOff x="-496230" y="4370889"/>
            <a:chExt cx="4783496" cy="2117891"/>
          </a:xfrm>
        </p:grpSpPr>
        <p:sp>
          <p:nvSpPr>
            <p:cNvPr id="8" name="TextBox 22">
              <a:extLst>
                <a:ext uri="{FF2B5EF4-FFF2-40B4-BE49-F238E27FC236}">
                  <a16:creationId xmlns:a16="http://schemas.microsoft.com/office/drawing/2014/main" id="{346CFADD-0F77-B214-AE3A-542B034A9498}"/>
                </a:ext>
              </a:extLst>
            </p:cNvPr>
            <p:cNvSpPr txBox="1"/>
            <p:nvPr/>
          </p:nvSpPr>
          <p:spPr>
            <a:xfrm>
              <a:off x="-492607" y="4370889"/>
              <a:ext cx="4154487" cy="369332"/>
            </a:xfrm>
            <a:prstGeom prst="rect">
              <a:avLst/>
            </a:prstGeom>
            <a:noFill/>
          </p:spPr>
          <p:txBody>
            <a:bodyPr wrap="square" l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altLang="ko-KR" b="1" dirty="0">
                  <a:solidFill>
                    <a:schemeClr val="bg1"/>
                  </a:solidFill>
                  <a:latin typeface="Alata" pitchFamily="2" charset="0"/>
                  <a:cs typeface="Alata" pitchFamily="2" charset="0"/>
                </a:rPr>
                <a:t>SOUND BASED DETECTION MODEL</a:t>
              </a:r>
              <a:endParaRPr lang="ko-KR" altLang="en-US" b="1">
                <a:solidFill>
                  <a:schemeClr val="bg1"/>
                </a:solidFill>
                <a:latin typeface="Alata" pitchFamily="2" charset="0"/>
                <a:cs typeface="Alata" pitchFamily="2" charset="0"/>
              </a:endParaRPr>
            </a:p>
          </p:txBody>
        </p:sp>
        <p:sp>
          <p:nvSpPr>
            <p:cNvPr id="9" name="TextBox 23">
              <a:extLst>
                <a:ext uri="{FF2B5EF4-FFF2-40B4-BE49-F238E27FC236}">
                  <a16:creationId xmlns:a16="http://schemas.microsoft.com/office/drawing/2014/main" id="{B72721D1-3C4B-972D-D94C-BC6BCEBA33CC}"/>
                </a:ext>
              </a:extLst>
            </p:cNvPr>
            <p:cNvSpPr txBox="1"/>
            <p:nvPr/>
          </p:nvSpPr>
          <p:spPr>
            <a:xfrm>
              <a:off x="-496230" y="4672898"/>
              <a:ext cx="4783496" cy="1815882"/>
            </a:xfrm>
            <a:prstGeom prst="rect">
              <a:avLst/>
            </a:prstGeom>
            <a:noFill/>
          </p:spPr>
          <p:txBody>
            <a:bodyPr wrap="square" l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600" dirty="0">
                  <a:solidFill>
                    <a:schemeClr val="bg1"/>
                  </a:solidFill>
                  <a:latin typeface="Alata" pitchFamily="2" charset="0"/>
                  <a:cs typeface="Alata" pitchFamily="2" charset="0"/>
                </a:rPr>
                <a:t>DETECTS :</a:t>
              </a:r>
            </a:p>
            <a:p>
              <a:pPr marL="742950" lvl="1" indent="-285750">
                <a:buFont typeface="Arial" panose="020B0604020202020204" pitchFamily="34" charset="0"/>
                <a:buChar char="•"/>
              </a:pPr>
              <a:r>
                <a:rPr lang="en-US" altLang="ko-KR" sz="1600" dirty="0">
                  <a:solidFill>
                    <a:schemeClr val="bg1"/>
                  </a:solidFill>
                  <a:latin typeface="Alata" pitchFamily="2" charset="0"/>
                  <a:cs typeface="Alata" pitchFamily="2" charset="0"/>
                </a:rPr>
                <a:t>ADULTS SOUNDS (SPEAKING)</a:t>
              </a:r>
            </a:p>
            <a:p>
              <a:pPr marL="742950" lvl="1" indent="-285750">
                <a:buFont typeface="Arial" panose="020B0604020202020204" pitchFamily="34" charset="0"/>
                <a:buChar char="•"/>
              </a:pPr>
              <a:r>
                <a:rPr lang="en-US" altLang="ko-KR" sz="1600" dirty="0">
                  <a:solidFill>
                    <a:schemeClr val="bg1"/>
                  </a:solidFill>
                  <a:latin typeface="Alata" pitchFamily="2" charset="0"/>
                  <a:cs typeface="Alata" pitchFamily="2" charset="0"/>
                </a:rPr>
                <a:t>CHILDS SOUNDS</a:t>
              </a:r>
            </a:p>
            <a:p>
              <a:pPr marL="742950" lvl="1" indent="-285750">
                <a:buFont typeface="Arial" panose="020B0604020202020204" pitchFamily="34" charset="0"/>
                <a:buChar char="•"/>
              </a:pPr>
              <a:r>
                <a:rPr lang="en-US" altLang="ko-KR" sz="1600" dirty="0">
                  <a:solidFill>
                    <a:schemeClr val="bg1"/>
                  </a:solidFill>
                  <a:latin typeface="Alata" pitchFamily="2" charset="0"/>
                  <a:cs typeface="Alata" pitchFamily="2" charset="0"/>
                </a:rPr>
                <a:t>PET SOUNDS (BARKING)</a:t>
              </a:r>
            </a:p>
            <a:p>
              <a:pPr marL="742950" lvl="1" indent="-285750">
                <a:buFont typeface="Arial" panose="020B0604020202020204" pitchFamily="34" charset="0"/>
                <a:buChar char="•"/>
              </a:pPr>
              <a:r>
                <a:rPr lang="en-US" altLang="ko-KR" sz="1600" dirty="0">
                  <a:solidFill>
                    <a:schemeClr val="bg1"/>
                  </a:solidFill>
                  <a:latin typeface="Alata" pitchFamily="2" charset="0"/>
                  <a:cs typeface="Alata" pitchFamily="2" charset="0"/>
                </a:rPr>
                <a:t>NOISE</a:t>
              </a:r>
            </a:p>
            <a:p>
              <a:pPr marL="742950" lvl="1" indent="-285750">
                <a:buFont typeface="Arial" panose="020B0604020202020204" pitchFamily="34" charset="0"/>
                <a:buChar char="•"/>
              </a:pPr>
              <a:r>
                <a:rPr lang="en-US" altLang="ko-KR" sz="1600" dirty="0">
                  <a:solidFill>
                    <a:schemeClr val="bg1"/>
                  </a:solidFill>
                  <a:latin typeface="Alata" pitchFamily="2" charset="0"/>
                  <a:cs typeface="Alata" pitchFamily="2" charset="0"/>
                </a:rPr>
                <a:t>SILENCE</a:t>
              </a:r>
            </a:p>
            <a:p>
              <a:pPr marL="742950" lvl="1" indent="-285750">
                <a:buFont typeface="Arial" panose="020B0604020202020204" pitchFamily="34" charset="0"/>
                <a:buChar char="•"/>
              </a:pPr>
              <a:endParaRPr lang="en-US" altLang="ko-KR" sz="1600" dirty="0">
                <a:solidFill>
                  <a:schemeClr val="bg1"/>
                </a:solidFill>
                <a:latin typeface="Alata" pitchFamily="2" charset="0"/>
                <a:cs typeface="Alata" pitchFamily="2" charset="0"/>
              </a:endParaRPr>
            </a:p>
          </p:txBody>
        </p:sp>
      </p:grpSp>
    </p:spTree>
    <p:extLst>
      <p:ext uri="{BB962C8B-B14F-4D97-AF65-F5344CB8AC3E}">
        <p14:creationId xmlns:p14="http://schemas.microsoft.com/office/powerpoint/2010/main" val="86885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920E226-9208-B7FF-777F-CCA12A6AFC83}"/>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4301504-D3D2-6527-7505-92E19A755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C4BCD1FB-ECEA-2302-DBC0-CACEFF8767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8CCF6D74-FFC1-EB87-D826-54E5172AF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F65E6389-E5D6-C9EB-7078-DFD82B87B1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B34A1207-1DE9-C103-547E-1AD31B21C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631CAD53-7649-9C23-7301-AFED73AA3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708D3AC2-A12F-DDCE-014B-97A7E704E6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5A0D6456-1D08-0266-D0EE-377FFD7C1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ttangolo 1">
            <a:extLst>
              <a:ext uri="{FF2B5EF4-FFF2-40B4-BE49-F238E27FC236}">
                <a16:creationId xmlns:a16="http://schemas.microsoft.com/office/drawing/2014/main" id="{91C97C18-BCF6-B872-F9A1-62B04D0FC1B3}"/>
              </a:ext>
            </a:extLst>
          </p:cNvPr>
          <p:cNvSpPr/>
          <p:nvPr/>
        </p:nvSpPr>
        <p:spPr>
          <a:xfrm>
            <a:off x="7915299" y="95569"/>
            <a:ext cx="4868360" cy="461665"/>
          </a:xfrm>
          <a:prstGeom prst="rect">
            <a:avLst/>
          </a:prstGeom>
          <a:noFill/>
          <a:ln>
            <a:noFill/>
          </a:ln>
        </p:spPr>
        <p:txBody>
          <a:bodyPr wrap="square" lIns="91440" tIns="45720" rIns="91440" bIns="45720">
            <a:spAutoFit/>
          </a:bodyPr>
          <a:lstStyle/>
          <a:p>
            <a:pPr algn="ctr"/>
            <a:r>
              <a:rPr lang="it-IT" sz="2400"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STATE OF THE ART</a:t>
            </a:r>
          </a:p>
        </p:txBody>
      </p:sp>
      <p:sp>
        <p:nvSpPr>
          <p:cNvPr id="6" name="CasellaDiTesto 5">
            <a:extLst>
              <a:ext uri="{FF2B5EF4-FFF2-40B4-BE49-F238E27FC236}">
                <a16:creationId xmlns:a16="http://schemas.microsoft.com/office/drawing/2014/main" id="{F3E9D849-F4CA-B928-E5A1-C8F62303FFA6}"/>
              </a:ext>
            </a:extLst>
          </p:cNvPr>
          <p:cNvSpPr txBox="1"/>
          <p:nvPr/>
        </p:nvSpPr>
        <p:spPr>
          <a:xfrm>
            <a:off x="1279812" y="3260802"/>
            <a:ext cx="9331353" cy="923330"/>
          </a:xfrm>
          <a:prstGeom prst="rect">
            <a:avLst/>
          </a:prstGeom>
          <a:noFill/>
        </p:spPr>
        <p:txBody>
          <a:bodyPr wrap="square" rtlCol="0">
            <a:spAutoFit/>
          </a:bodyPr>
          <a:lstStyle/>
          <a:p>
            <a:r>
              <a:rPr lang="en-US" dirty="0">
                <a:solidFill>
                  <a:schemeClr val="bg1"/>
                </a:solidFill>
                <a:latin typeface="Alata" pitchFamily="2" charset="0"/>
                <a:cs typeface="Alata" pitchFamily="2" charset="0"/>
              </a:rPr>
              <a:t>[3] Sapkota, R., Cheppally, R. H., Sharda, A., &amp; Karkee, M. (2026). YOLO26: Key Architectural Enhancements and Performance Benchmarking for Real-Time Object Detection. arXiv:2509.25164.</a:t>
            </a:r>
            <a:endParaRPr lang="it-IT" dirty="0">
              <a:solidFill>
                <a:schemeClr val="bg1"/>
              </a:solidFill>
              <a:latin typeface="Alata" pitchFamily="2" charset="0"/>
              <a:cs typeface="Alata" pitchFamily="2" charset="0"/>
            </a:endParaRPr>
          </a:p>
        </p:txBody>
      </p:sp>
      <p:sp>
        <p:nvSpPr>
          <p:cNvPr id="10" name="CasellaDiTesto 9">
            <a:extLst>
              <a:ext uri="{FF2B5EF4-FFF2-40B4-BE49-F238E27FC236}">
                <a16:creationId xmlns:a16="http://schemas.microsoft.com/office/drawing/2014/main" id="{ABEB7531-4BBC-76F9-CFA3-4BFE300A84A3}"/>
              </a:ext>
            </a:extLst>
          </p:cNvPr>
          <p:cNvSpPr txBox="1"/>
          <p:nvPr/>
        </p:nvSpPr>
        <p:spPr>
          <a:xfrm>
            <a:off x="1279812" y="4379350"/>
            <a:ext cx="9331353" cy="923330"/>
          </a:xfrm>
          <a:prstGeom prst="rect">
            <a:avLst/>
          </a:prstGeom>
          <a:noFill/>
        </p:spPr>
        <p:txBody>
          <a:bodyPr wrap="square" rtlCol="0">
            <a:spAutoFit/>
          </a:bodyPr>
          <a:lstStyle/>
          <a:p>
            <a:r>
              <a:rPr lang="en-US" dirty="0">
                <a:solidFill>
                  <a:schemeClr val="bg1"/>
                </a:solidFill>
                <a:latin typeface="Alata" pitchFamily="2" charset="0"/>
                <a:cs typeface="Alata" pitchFamily="2" charset="0"/>
              </a:rPr>
              <a:t>[4] Cao, J., Peng, B., Gao, M., Hao, H., Li, X. and Mou, H. (2025), Object Detection Based on CNN and Vision-Transformer: A Survey. IET Comput. Vis, 19: e70028. https://doi.org/10.1049/cvi2.70028</a:t>
            </a:r>
            <a:endParaRPr lang="it-IT" dirty="0">
              <a:solidFill>
                <a:schemeClr val="bg1"/>
              </a:solidFill>
              <a:latin typeface="Alata" pitchFamily="2" charset="0"/>
              <a:cs typeface="Alata" pitchFamily="2" charset="0"/>
            </a:endParaRPr>
          </a:p>
        </p:txBody>
      </p:sp>
      <p:sp>
        <p:nvSpPr>
          <p:cNvPr id="11" name="CasellaDiTesto 10">
            <a:extLst>
              <a:ext uri="{FF2B5EF4-FFF2-40B4-BE49-F238E27FC236}">
                <a16:creationId xmlns:a16="http://schemas.microsoft.com/office/drawing/2014/main" id="{27B681C5-1BC2-AF9D-EA56-0E0224500F35}"/>
              </a:ext>
            </a:extLst>
          </p:cNvPr>
          <p:cNvSpPr txBox="1"/>
          <p:nvPr/>
        </p:nvSpPr>
        <p:spPr>
          <a:xfrm>
            <a:off x="1279812" y="5473006"/>
            <a:ext cx="9331352" cy="646331"/>
          </a:xfrm>
          <a:prstGeom prst="rect">
            <a:avLst/>
          </a:prstGeom>
          <a:noFill/>
        </p:spPr>
        <p:txBody>
          <a:bodyPr wrap="square" rtlCol="0">
            <a:spAutoFit/>
          </a:bodyPr>
          <a:lstStyle/>
          <a:p>
            <a:r>
              <a:rPr lang="en-US" dirty="0">
                <a:solidFill>
                  <a:schemeClr val="bg1"/>
                </a:solidFill>
                <a:latin typeface="Alata" pitchFamily="2" charset="0"/>
                <a:cs typeface="Alata" pitchFamily="2" charset="0"/>
              </a:rPr>
              <a:t>[5] Ali, M. L., &amp; Zhang, Z. (2024). The YOLO Framework: A Comprehensive Review. Computers, 13(12), 336. https://doi.org/10.3390/computers13120336</a:t>
            </a:r>
            <a:endParaRPr lang="it-IT" dirty="0">
              <a:solidFill>
                <a:schemeClr val="bg1"/>
              </a:solidFill>
              <a:latin typeface="Alata" pitchFamily="2" charset="0"/>
              <a:cs typeface="Alata" pitchFamily="2" charset="0"/>
            </a:endParaRPr>
          </a:p>
        </p:txBody>
      </p:sp>
      <p:sp>
        <p:nvSpPr>
          <p:cNvPr id="12" name="CasellaDiTesto 11">
            <a:extLst>
              <a:ext uri="{FF2B5EF4-FFF2-40B4-BE49-F238E27FC236}">
                <a16:creationId xmlns:a16="http://schemas.microsoft.com/office/drawing/2014/main" id="{286185B2-29B1-2B7D-1317-DD1D225ACD1C}"/>
              </a:ext>
            </a:extLst>
          </p:cNvPr>
          <p:cNvSpPr txBox="1"/>
          <p:nvPr/>
        </p:nvSpPr>
        <p:spPr>
          <a:xfrm>
            <a:off x="1258529" y="1393507"/>
            <a:ext cx="9352637" cy="646331"/>
          </a:xfrm>
          <a:prstGeom prst="rect">
            <a:avLst/>
          </a:prstGeom>
          <a:noFill/>
        </p:spPr>
        <p:txBody>
          <a:bodyPr wrap="square" rtlCol="0">
            <a:spAutoFit/>
          </a:bodyPr>
          <a:lstStyle/>
          <a:p>
            <a:r>
              <a:rPr lang="en-US" dirty="0">
                <a:solidFill>
                  <a:schemeClr val="bg1"/>
                </a:solidFill>
                <a:latin typeface="Alata" pitchFamily="2" charset="0"/>
                <a:cs typeface="Alata" pitchFamily="2" charset="0"/>
              </a:rPr>
              <a:t>[1] Van Thanh, Hoang, et al. "An Efficient Object Detection Model Based on NanoDet." 2025 International Workshop on Intelligent Systems (IWIS). IEEE, 2025</a:t>
            </a:r>
            <a:endParaRPr lang="it-IT" dirty="0">
              <a:solidFill>
                <a:schemeClr val="bg1"/>
              </a:solidFill>
              <a:latin typeface="Alata" pitchFamily="2" charset="0"/>
              <a:cs typeface="Alata" pitchFamily="2" charset="0"/>
            </a:endParaRPr>
          </a:p>
        </p:txBody>
      </p:sp>
      <p:sp>
        <p:nvSpPr>
          <p:cNvPr id="13" name="CasellaDiTesto 12">
            <a:extLst>
              <a:ext uri="{FF2B5EF4-FFF2-40B4-BE49-F238E27FC236}">
                <a16:creationId xmlns:a16="http://schemas.microsoft.com/office/drawing/2014/main" id="{2D136803-515F-AD23-A7DE-325D5DF29E4D}"/>
              </a:ext>
            </a:extLst>
          </p:cNvPr>
          <p:cNvSpPr txBox="1"/>
          <p:nvPr/>
        </p:nvSpPr>
        <p:spPr>
          <a:xfrm>
            <a:off x="1258529" y="2142254"/>
            <a:ext cx="9352636" cy="923330"/>
          </a:xfrm>
          <a:prstGeom prst="rect">
            <a:avLst/>
          </a:prstGeom>
          <a:noFill/>
        </p:spPr>
        <p:txBody>
          <a:bodyPr wrap="square" rtlCol="0">
            <a:spAutoFit/>
          </a:bodyPr>
          <a:lstStyle/>
          <a:p>
            <a:r>
              <a:rPr lang="it-IT" dirty="0">
                <a:solidFill>
                  <a:schemeClr val="bg1"/>
                </a:solidFill>
                <a:latin typeface="Alata" pitchFamily="2" charset="0"/>
                <a:cs typeface="Alata" pitchFamily="2" charset="0"/>
              </a:rPr>
              <a:t>[2] Yerulan, Turganbek, and Duisebekov Zhasdauren. "COMPARATIVE STUDY OF LIGHTWEIGHT OBJECT DETECTION MODELS FOR MOBILE PEDESTRIAN DETECTION." Universum: </a:t>
            </a:r>
            <a:r>
              <a:rPr lang="az-Cyrl-AZ" dirty="0">
                <a:solidFill>
                  <a:schemeClr val="bg1"/>
                </a:solidFill>
                <a:cs typeface="Alata" pitchFamily="2" charset="0"/>
              </a:rPr>
              <a:t>технические науки 10.5 (134) (2025): 4-8.</a:t>
            </a:r>
            <a:endParaRPr lang="it-IT" dirty="0">
              <a:solidFill>
                <a:schemeClr val="bg1"/>
              </a:solidFill>
              <a:latin typeface="Alata" pitchFamily="2" charset="0"/>
              <a:cs typeface="Alata" pitchFamily="2" charset="0"/>
            </a:endParaRPr>
          </a:p>
        </p:txBody>
      </p:sp>
    </p:spTree>
    <p:extLst>
      <p:ext uri="{BB962C8B-B14F-4D97-AF65-F5344CB8AC3E}">
        <p14:creationId xmlns:p14="http://schemas.microsoft.com/office/powerpoint/2010/main" val="83893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342414-09F4-7A57-3A1B-FCFC32959221}"/>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68978322-F663-2CF4-C4E2-DF44A64D23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A7795931-EB62-C46B-049B-76CD8928B5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CC937F02-A971-C0A6-E6B2-0DEC28C533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5B635A79-6D91-E3C0-D651-AA2AA90D62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1A917B14-B5D4-C2D6-4A5C-F5956F5D03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72335A41-74DB-A80A-9E91-272A6046C3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D1106513-978D-D698-33DE-C3834789A4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83B00781-2AA7-2AB1-81F0-6057BBBD7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ttangolo 1">
            <a:extLst>
              <a:ext uri="{FF2B5EF4-FFF2-40B4-BE49-F238E27FC236}">
                <a16:creationId xmlns:a16="http://schemas.microsoft.com/office/drawing/2014/main" id="{611929D3-FD9F-6342-AEDB-7B2BBE5B70B7}"/>
              </a:ext>
            </a:extLst>
          </p:cNvPr>
          <p:cNvSpPr/>
          <p:nvPr/>
        </p:nvSpPr>
        <p:spPr>
          <a:xfrm>
            <a:off x="7915299" y="95569"/>
            <a:ext cx="4868360" cy="461665"/>
          </a:xfrm>
          <a:prstGeom prst="rect">
            <a:avLst/>
          </a:prstGeom>
          <a:noFill/>
          <a:ln>
            <a:noFill/>
          </a:ln>
        </p:spPr>
        <p:txBody>
          <a:bodyPr wrap="square" lIns="91440" tIns="45720" rIns="91440" bIns="45720">
            <a:spAutoFit/>
          </a:bodyPr>
          <a:lstStyle/>
          <a:p>
            <a:pPr algn="ctr"/>
            <a:r>
              <a:rPr lang="it-IT" sz="2400"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STATE OF THE ART</a:t>
            </a:r>
          </a:p>
        </p:txBody>
      </p:sp>
      <p:sp>
        <p:nvSpPr>
          <p:cNvPr id="6" name="CasellaDiTesto 5">
            <a:extLst>
              <a:ext uri="{FF2B5EF4-FFF2-40B4-BE49-F238E27FC236}">
                <a16:creationId xmlns:a16="http://schemas.microsoft.com/office/drawing/2014/main" id="{05B60578-1CD4-F671-2DBD-2F9491E66E0C}"/>
              </a:ext>
            </a:extLst>
          </p:cNvPr>
          <p:cNvSpPr txBox="1"/>
          <p:nvPr/>
        </p:nvSpPr>
        <p:spPr>
          <a:xfrm>
            <a:off x="1258529" y="3371562"/>
            <a:ext cx="9281652" cy="923330"/>
          </a:xfrm>
          <a:prstGeom prst="rect">
            <a:avLst/>
          </a:prstGeom>
          <a:noFill/>
        </p:spPr>
        <p:txBody>
          <a:bodyPr wrap="square" rtlCol="0">
            <a:spAutoFit/>
          </a:bodyPr>
          <a:lstStyle/>
          <a:p>
            <a:r>
              <a:rPr lang="en-US" dirty="0">
                <a:solidFill>
                  <a:schemeClr val="bg1"/>
                </a:solidFill>
                <a:latin typeface="Alata" pitchFamily="2" charset="0"/>
                <a:cs typeface="Alata" pitchFamily="2" charset="0"/>
              </a:rPr>
              <a:t>[8] Valliappan, N. Harihara, Sagar Dhanraj Pande, and Surendra Reddy Vinta. "Enhancing gun detection with transfer learning and YAMNet audio classification." IEEE Access 12 (2024): 58940-58949.</a:t>
            </a:r>
            <a:endParaRPr lang="it-IT" dirty="0">
              <a:solidFill>
                <a:schemeClr val="bg1"/>
              </a:solidFill>
              <a:latin typeface="Alata" pitchFamily="2" charset="0"/>
              <a:cs typeface="Alata" pitchFamily="2" charset="0"/>
            </a:endParaRPr>
          </a:p>
        </p:txBody>
      </p:sp>
      <p:sp>
        <p:nvSpPr>
          <p:cNvPr id="10" name="CasellaDiTesto 9">
            <a:extLst>
              <a:ext uri="{FF2B5EF4-FFF2-40B4-BE49-F238E27FC236}">
                <a16:creationId xmlns:a16="http://schemas.microsoft.com/office/drawing/2014/main" id="{EBF2BE49-402E-5ABE-063F-D3BC032F3838}"/>
              </a:ext>
            </a:extLst>
          </p:cNvPr>
          <p:cNvSpPr txBox="1"/>
          <p:nvPr/>
        </p:nvSpPr>
        <p:spPr>
          <a:xfrm>
            <a:off x="1258528" y="4455969"/>
            <a:ext cx="9281653" cy="923330"/>
          </a:xfrm>
          <a:prstGeom prst="rect">
            <a:avLst/>
          </a:prstGeom>
          <a:noFill/>
        </p:spPr>
        <p:txBody>
          <a:bodyPr wrap="square" rtlCol="0">
            <a:spAutoFit/>
          </a:bodyPr>
          <a:lstStyle/>
          <a:p>
            <a:r>
              <a:rPr lang="en-US" dirty="0">
                <a:solidFill>
                  <a:schemeClr val="bg1"/>
                </a:solidFill>
                <a:latin typeface="Alata" pitchFamily="2" charset="0"/>
                <a:cs typeface="Alata" pitchFamily="2" charset="0"/>
              </a:rPr>
              <a:t>[9] Liu, LiFeng, et al. "YAMNet-based transfer learning for compact noise classification in urban and wireless systems." EURASIP Journal on Wireless Communications and Networking 2025.1 (2025): 74.</a:t>
            </a:r>
            <a:endParaRPr lang="it-IT" dirty="0">
              <a:solidFill>
                <a:schemeClr val="bg1"/>
              </a:solidFill>
              <a:latin typeface="Alata" pitchFamily="2" charset="0"/>
              <a:cs typeface="Alata" pitchFamily="2" charset="0"/>
            </a:endParaRPr>
          </a:p>
        </p:txBody>
      </p:sp>
      <p:sp>
        <p:nvSpPr>
          <p:cNvPr id="11" name="CasellaDiTesto 10">
            <a:extLst>
              <a:ext uri="{FF2B5EF4-FFF2-40B4-BE49-F238E27FC236}">
                <a16:creationId xmlns:a16="http://schemas.microsoft.com/office/drawing/2014/main" id="{19D45C17-F7D4-8E25-D2AD-D5692B44EDF7}"/>
              </a:ext>
            </a:extLst>
          </p:cNvPr>
          <p:cNvSpPr txBox="1"/>
          <p:nvPr/>
        </p:nvSpPr>
        <p:spPr>
          <a:xfrm>
            <a:off x="1258528" y="5502869"/>
            <a:ext cx="9409469" cy="923330"/>
          </a:xfrm>
          <a:prstGeom prst="rect">
            <a:avLst/>
          </a:prstGeom>
          <a:noFill/>
        </p:spPr>
        <p:txBody>
          <a:bodyPr wrap="square" rtlCol="0">
            <a:spAutoFit/>
          </a:bodyPr>
          <a:lstStyle/>
          <a:p>
            <a:r>
              <a:rPr lang="it-IT" dirty="0">
                <a:solidFill>
                  <a:schemeClr val="bg1"/>
                </a:solidFill>
                <a:latin typeface="Alata" pitchFamily="2" charset="0"/>
                <a:cs typeface="Alata" pitchFamily="2" charset="0"/>
              </a:rPr>
              <a:t>[10] Sakaki, Haruka, et al. "Comparative Evaluation of CNN, VGG16, Conformer, and YAMNet Models for Skateboard Riding Sound Detection." </a:t>
            </a:r>
            <a:r>
              <a:rPr lang="it-IT" i="1" dirty="0">
                <a:solidFill>
                  <a:schemeClr val="bg1"/>
                </a:solidFill>
                <a:latin typeface="Alata" pitchFamily="2" charset="0"/>
                <a:cs typeface="Alata" pitchFamily="2" charset="0"/>
              </a:rPr>
              <a:t>2025 International Symposium on Multimedia and Communications Technology (ISMAC)</a:t>
            </a:r>
            <a:r>
              <a:rPr lang="it-IT" dirty="0">
                <a:solidFill>
                  <a:schemeClr val="bg1"/>
                </a:solidFill>
                <a:latin typeface="Alata" pitchFamily="2" charset="0"/>
                <a:cs typeface="Alata" pitchFamily="2" charset="0"/>
              </a:rPr>
              <a:t>. IEEE, 2025.</a:t>
            </a:r>
          </a:p>
        </p:txBody>
      </p:sp>
      <p:sp>
        <p:nvSpPr>
          <p:cNvPr id="12" name="CasellaDiTesto 11">
            <a:extLst>
              <a:ext uri="{FF2B5EF4-FFF2-40B4-BE49-F238E27FC236}">
                <a16:creationId xmlns:a16="http://schemas.microsoft.com/office/drawing/2014/main" id="{432E181F-5103-DDDE-76F2-3CCE4C3612EE}"/>
              </a:ext>
            </a:extLst>
          </p:cNvPr>
          <p:cNvSpPr txBox="1"/>
          <p:nvPr/>
        </p:nvSpPr>
        <p:spPr>
          <a:xfrm>
            <a:off x="1258528" y="1259208"/>
            <a:ext cx="9281651" cy="923330"/>
          </a:xfrm>
          <a:prstGeom prst="rect">
            <a:avLst/>
          </a:prstGeom>
          <a:noFill/>
        </p:spPr>
        <p:txBody>
          <a:bodyPr wrap="square" rtlCol="0">
            <a:spAutoFit/>
          </a:bodyPr>
          <a:lstStyle/>
          <a:p>
            <a:r>
              <a:rPr lang="en-US" dirty="0">
                <a:solidFill>
                  <a:schemeClr val="bg1"/>
                </a:solidFill>
                <a:latin typeface="Alata" pitchFamily="2" charset="0"/>
                <a:cs typeface="Alata" pitchFamily="2" charset="0"/>
              </a:rPr>
              <a:t>[6] Gourisaria, Mahendra Kumar, et al. "Comparative analysis of audio classification with MFCC and STFT features using machine learning techniques." Discover Internet of Things 4.1 (2024): 1.</a:t>
            </a:r>
            <a:endParaRPr lang="it-IT" dirty="0">
              <a:solidFill>
                <a:schemeClr val="bg1"/>
              </a:solidFill>
              <a:latin typeface="Alata" pitchFamily="2" charset="0"/>
              <a:cs typeface="Alata" pitchFamily="2" charset="0"/>
            </a:endParaRPr>
          </a:p>
        </p:txBody>
      </p:sp>
      <p:sp>
        <p:nvSpPr>
          <p:cNvPr id="13" name="CasellaDiTesto 12">
            <a:extLst>
              <a:ext uri="{FF2B5EF4-FFF2-40B4-BE49-F238E27FC236}">
                <a16:creationId xmlns:a16="http://schemas.microsoft.com/office/drawing/2014/main" id="{7F2D58BB-9323-D2BA-A974-CD059F5F39E7}"/>
              </a:ext>
            </a:extLst>
          </p:cNvPr>
          <p:cNvSpPr txBox="1"/>
          <p:nvPr/>
        </p:nvSpPr>
        <p:spPr>
          <a:xfrm>
            <a:off x="1258528" y="2389918"/>
            <a:ext cx="9281652" cy="923330"/>
          </a:xfrm>
          <a:prstGeom prst="rect">
            <a:avLst/>
          </a:prstGeom>
          <a:noFill/>
        </p:spPr>
        <p:txBody>
          <a:bodyPr wrap="square" rtlCol="0">
            <a:spAutoFit/>
          </a:bodyPr>
          <a:lstStyle/>
          <a:p>
            <a:r>
              <a:rPr lang="it-IT" dirty="0">
                <a:solidFill>
                  <a:schemeClr val="bg1"/>
                </a:solidFill>
                <a:latin typeface="Alata" pitchFamily="2" charset="0"/>
                <a:cs typeface="Alata" pitchFamily="2" charset="0"/>
              </a:rPr>
              <a:t>[7] Podda, Alessandro Sebastian, et al. "CARgram: CNN-based accident recognition from road sounds through intensity-projected spectrogram analysis." Digital Signal Processing 147 (2024): 104431.</a:t>
            </a:r>
          </a:p>
        </p:txBody>
      </p:sp>
    </p:spTree>
    <p:extLst>
      <p:ext uri="{BB962C8B-B14F-4D97-AF65-F5344CB8AC3E}">
        <p14:creationId xmlns:p14="http://schemas.microsoft.com/office/powerpoint/2010/main" val="41920368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533C4B-64E8-E046-9A6F-48AEE5DCCAA4}"/>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F995240-8F03-E1ED-3883-C345AA525B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FD77552C-3D6C-1685-C74C-FCF2DD26D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1404A16-6ADB-4BEC-1832-61940ADF50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20678B91-790F-5513-1161-E1CEF42061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DC1CFC93-58CD-30C2-B8AB-05D9DFBF9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AF2B4ADA-23E1-D116-F12C-B50AAFD033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533B6939-6B22-BEA7-9843-E099AD04E0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52211E52-7D79-4156-ED4E-FF7A0F7C71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ttangolo 1">
            <a:extLst>
              <a:ext uri="{FF2B5EF4-FFF2-40B4-BE49-F238E27FC236}">
                <a16:creationId xmlns:a16="http://schemas.microsoft.com/office/drawing/2014/main" id="{8936C476-DDCB-BB12-EF10-91EEA0BF20CB}"/>
              </a:ext>
            </a:extLst>
          </p:cNvPr>
          <p:cNvSpPr/>
          <p:nvPr/>
        </p:nvSpPr>
        <p:spPr>
          <a:xfrm>
            <a:off x="7126378" y="98593"/>
            <a:ext cx="5650166" cy="461665"/>
          </a:xfrm>
          <a:prstGeom prst="rect">
            <a:avLst/>
          </a:prstGeom>
          <a:noFill/>
          <a:ln>
            <a:noFill/>
          </a:ln>
        </p:spPr>
        <p:txBody>
          <a:bodyPr wrap="square" lIns="91440" tIns="45720" rIns="91440" bIns="45720">
            <a:spAutoFit/>
          </a:bodyPr>
          <a:lstStyle/>
          <a:p>
            <a:pPr algn="ctr"/>
            <a:r>
              <a:rPr lang="it-IT" sz="2400"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AI MODELS :  COMPARISON</a:t>
            </a:r>
          </a:p>
        </p:txBody>
      </p:sp>
      <p:grpSp>
        <p:nvGrpSpPr>
          <p:cNvPr id="6" name="Gruppo 5">
            <a:extLst>
              <a:ext uri="{FF2B5EF4-FFF2-40B4-BE49-F238E27FC236}">
                <a16:creationId xmlns:a16="http://schemas.microsoft.com/office/drawing/2014/main" id="{08587F1C-A035-4914-106F-3518D7B88FCD}"/>
              </a:ext>
            </a:extLst>
          </p:cNvPr>
          <p:cNvGrpSpPr/>
          <p:nvPr/>
        </p:nvGrpSpPr>
        <p:grpSpPr>
          <a:xfrm>
            <a:off x="3515593" y="1311651"/>
            <a:ext cx="5160814" cy="914524"/>
            <a:chOff x="3388136" y="1311651"/>
            <a:chExt cx="5160814" cy="914524"/>
          </a:xfrm>
        </p:grpSpPr>
        <p:sp>
          <p:nvSpPr>
            <p:cNvPr id="127" name="TextBox 22">
              <a:extLst>
                <a:ext uri="{FF2B5EF4-FFF2-40B4-BE49-F238E27FC236}">
                  <a16:creationId xmlns:a16="http://schemas.microsoft.com/office/drawing/2014/main" id="{33C49235-BD32-0B23-A7B3-3915F9544C38}"/>
                </a:ext>
              </a:extLst>
            </p:cNvPr>
            <p:cNvSpPr txBox="1"/>
            <p:nvPr/>
          </p:nvSpPr>
          <p:spPr>
            <a:xfrm>
              <a:off x="4559754" y="1584247"/>
              <a:ext cx="3989196" cy="369332"/>
            </a:xfrm>
            <a:prstGeom prst="rect">
              <a:avLst/>
            </a:prstGeom>
            <a:noFill/>
          </p:spPr>
          <p:txBody>
            <a:bodyPr wrap="square" l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altLang="ko-KR" b="1" dirty="0">
                  <a:solidFill>
                    <a:schemeClr val="bg1"/>
                  </a:solidFill>
                  <a:latin typeface="Alata" pitchFamily="2" charset="0"/>
                  <a:cs typeface="Alata" pitchFamily="2" charset="0"/>
                </a:rPr>
                <a:t>IMAGE BASED DETECTION MODELS</a:t>
              </a:r>
              <a:endParaRPr lang="ko-KR" altLang="en-US" b="1">
                <a:solidFill>
                  <a:schemeClr val="bg1"/>
                </a:solidFill>
                <a:latin typeface="Alata" pitchFamily="2" charset="0"/>
                <a:cs typeface="Alata" pitchFamily="2" charset="0"/>
              </a:endParaRPr>
            </a:p>
          </p:txBody>
        </p:sp>
        <p:pic>
          <p:nvPicPr>
            <p:cNvPr id="3" name="Immagine 2" descr="Immagine che contiene cerchio, cartone animato, creatività, arte&#10;&#10;Il contenuto generato dall'IA potrebbe non essere corretto.">
              <a:extLst>
                <a:ext uri="{FF2B5EF4-FFF2-40B4-BE49-F238E27FC236}">
                  <a16:creationId xmlns:a16="http://schemas.microsoft.com/office/drawing/2014/main" id="{444BC247-233F-891C-FBB7-997F58A62E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8136" y="1311651"/>
              <a:ext cx="914524" cy="914524"/>
            </a:xfrm>
            <a:prstGeom prst="rect">
              <a:avLst/>
            </a:prstGeom>
          </p:spPr>
        </p:pic>
      </p:grpSp>
      <p:graphicFrame>
        <p:nvGraphicFramePr>
          <p:cNvPr id="5" name="Tabella 4">
            <a:extLst>
              <a:ext uri="{FF2B5EF4-FFF2-40B4-BE49-F238E27FC236}">
                <a16:creationId xmlns:a16="http://schemas.microsoft.com/office/drawing/2014/main" id="{1126A59A-A48B-42A4-0BA6-DB66C2C73F50}"/>
              </a:ext>
            </a:extLst>
          </p:cNvPr>
          <p:cNvGraphicFramePr>
            <a:graphicFrameLocks noGrp="1"/>
          </p:cNvGraphicFramePr>
          <p:nvPr>
            <p:extLst>
              <p:ext uri="{D42A27DB-BD31-4B8C-83A1-F6EECF244321}">
                <p14:modId xmlns:p14="http://schemas.microsoft.com/office/powerpoint/2010/main" val="2964247088"/>
              </p:ext>
            </p:extLst>
          </p:nvPr>
        </p:nvGraphicFramePr>
        <p:xfrm>
          <a:off x="1632154" y="2395566"/>
          <a:ext cx="8927692" cy="3606800"/>
        </p:xfrm>
        <a:graphic>
          <a:graphicData uri="http://schemas.openxmlformats.org/drawingml/2006/table">
            <a:tbl>
              <a:tblPr firstRow="1" bandRow="1">
                <a:tableStyleId>{5C22544A-7EE6-4342-B048-85BDC9FD1C3A}</a:tableStyleId>
              </a:tblPr>
              <a:tblGrid>
                <a:gridCol w="2231923">
                  <a:extLst>
                    <a:ext uri="{9D8B030D-6E8A-4147-A177-3AD203B41FA5}">
                      <a16:colId xmlns:a16="http://schemas.microsoft.com/office/drawing/2014/main" val="958867749"/>
                    </a:ext>
                  </a:extLst>
                </a:gridCol>
                <a:gridCol w="2231923">
                  <a:extLst>
                    <a:ext uri="{9D8B030D-6E8A-4147-A177-3AD203B41FA5}">
                      <a16:colId xmlns:a16="http://schemas.microsoft.com/office/drawing/2014/main" val="3161628996"/>
                    </a:ext>
                  </a:extLst>
                </a:gridCol>
                <a:gridCol w="2231923">
                  <a:extLst>
                    <a:ext uri="{9D8B030D-6E8A-4147-A177-3AD203B41FA5}">
                      <a16:colId xmlns:a16="http://schemas.microsoft.com/office/drawing/2014/main" val="3138974764"/>
                    </a:ext>
                  </a:extLst>
                </a:gridCol>
                <a:gridCol w="2231923">
                  <a:extLst>
                    <a:ext uri="{9D8B030D-6E8A-4147-A177-3AD203B41FA5}">
                      <a16:colId xmlns:a16="http://schemas.microsoft.com/office/drawing/2014/main" val="1931667749"/>
                    </a:ext>
                  </a:extLst>
                </a:gridCol>
              </a:tblGrid>
              <a:tr h="370840">
                <a:tc>
                  <a:txBody>
                    <a:bodyPr/>
                    <a:lstStyle/>
                    <a:p>
                      <a:pPr algn="ctr"/>
                      <a:r>
                        <a:rPr lang="it-IT" dirty="0">
                          <a:solidFill>
                            <a:schemeClr val="bg1"/>
                          </a:solidFill>
                        </a:rPr>
                        <a:t>MODEL</a:t>
                      </a:r>
                    </a:p>
                  </a:txBody>
                  <a:tcPr anchor="ctr">
                    <a:lnL w="12700" cmpd="sng">
                      <a:noFill/>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it-IT" dirty="0">
                          <a:solidFill>
                            <a:schemeClr val="bg1"/>
                          </a:solidFill>
                        </a:rPr>
                        <a:t>PARAMETERS [millions]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it-IT" dirty="0">
                          <a:solidFill>
                            <a:schemeClr val="bg1"/>
                          </a:solidFill>
                        </a:rPr>
                        <a:t>RESOLUTION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it-IT" dirty="0">
                          <a:solidFill>
                            <a:schemeClr val="bg1"/>
                          </a:solidFill>
                        </a:rPr>
                        <a:t>mAP50</a:t>
                      </a:r>
                    </a:p>
                  </a:txBody>
                  <a:tcPr anchor="ctr">
                    <a:lnL w="12700" cap="flat" cmpd="sng" algn="ctr">
                      <a:solidFill>
                        <a:schemeClr val="bg1"/>
                      </a:solidFill>
                      <a:prstDash val="solid"/>
                      <a:round/>
                      <a:headEnd type="none" w="med" len="med"/>
                      <a:tailEnd type="none" w="med" len="med"/>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5050009"/>
                  </a:ext>
                </a:extLst>
              </a:tr>
              <a:tr h="370840">
                <a:tc>
                  <a:txBody>
                    <a:bodyPr/>
                    <a:lstStyle/>
                    <a:p>
                      <a:pPr algn="ctr"/>
                      <a:r>
                        <a:rPr lang="it-IT" dirty="0">
                          <a:solidFill>
                            <a:schemeClr val="bg1"/>
                          </a:solidFill>
                        </a:rPr>
                        <a:t>picoDET</a:t>
                      </a:r>
                    </a:p>
                  </a:txBody>
                  <a:tcPr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it-IT" dirty="0">
                          <a:solidFill>
                            <a:schemeClr val="bg1"/>
                          </a:solidFill>
                        </a:rPr>
                        <a:t>2.15</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it-IT" dirty="0">
                          <a:solidFill>
                            <a:schemeClr val="bg1"/>
                          </a:solidFill>
                        </a:rPr>
                        <a:t>416</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it-IT" dirty="0">
                          <a:solidFill>
                            <a:schemeClr val="bg1"/>
                          </a:solidFill>
                        </a:rPr>
                        <a:t>0.86</a:t>
                      </a:r>
                    </a:p>
                  </a:txBody>
                  <a:tcPr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30082630"/>
                  </a:ext>
                </a:extLst>
              </a:tr>
              <a:tr h="370840">
                <a:tc>
                  <a:txBody>
                    <a:bodyPr/>
                    <a:lstStyle/>
                    <a:p>
                      <a:pPr algn="ctr"/>
                      <a:r>
                        <a:rPr lang="it-IT" dirty="0">
                          <a:solidFill>
                            <a:schemeClr val="bg1"/>
                          </a:solidFill>
                        </a:rPr>
                        <a:t>nanoDET</a:t>
                      </a:r>
                    </a:p>
                  </a:txBody>
                  <a:tcPr anchor="ctr">
                    <a:lnL w="12700" cmpd="sng">
                      <a:noFill/>
                    </a:lnL>
                    <a:lnR w="127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it-IT" dirty="0">
                          <a:solidFill>
                            <a:schemeClr val="bg1"/>
                          </a:solidFill>
                        </a:rPr>
                        <a:t>6.1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it-IT" dirty="0">
                          <a:solidFill>
                            <a:schemeClr val="bg1"/>
                          </a:solidFill>
                        </a:rPr>
                        <a:t>480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it-IT" dirty="0">
                          <a:solidFill>
                            <a:schemeClr val="bg1"/>
                          </a:solidFill>
                        </a:rPr>
                        <a:t>0.89</a:t>
                      </a:r>
                    </a:p>
                  </a:txBody>
                  <a:tcPr anchor="ctr">
                    <a:lnL w="12700" cap="flat" cmpd="sng" algn="ctr">
                      <a:solidFill>
                        <a:schemeClr val="bg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0743815"/>
                  </a:ext>
                </a:extLst>
              </a:tr>
              <a:tr h="370840">
                <a:tc>
                  <a:txBody>
                    <a:bodyPr/>
                    <a:lstStyle/>
                    <a:p>
                      <a:pPr algn="ctr"/>
                      <a:r>
                        <a:rPr lang="it-IT" dirty="0">
                          <a:solidFill>
                            <a:schemeClr val="bg1"/>
                          </a:solidFill>
                        </a:rPr>
                        <a:t>Yolo v5 NU</a:t>
                      </a:r>
                    </a:p>
                  </a:txBody>
                  <a:tcPr anchor="ctr">
                    <a:lnL w="12700" cmpd="sng">
                      <a:noFill/>
                    </a:lnL>
                    <a:lnR w="127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it-IT" dirty="0">
                          <a:solidFill>
                            <a:schemeClr val="bg1"/>
                          </a:solidFill>
                        </a:rPr>
                        <a:t>2.6</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it-IT" dirty="0">
                          <a:solidFill>
                            <a:schemeClr val="bg1"/>
                          </a:solidFill>
                        </a:rPr>
                        <a:t>640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it-IT" dirty="0">
                          <a:solidFill>
                            <a:schemeClr val="bg1"/>
                          </a:solidFill>
                        </a:rPr>
                        <a:t>0.924</a:t>
                      </a:r>
                    </a:p>
                  </a:txBody>
                  <a:tcPr anchor="ctr">
                    <a:lnL w="12700" cap="flat" cmpd="sng" algn="ctr">
                      <a:solidFill>
                        <a:schemeClr val="bg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37868407"/>
                  </a:ext>
                </a:extLst>
              </a:tr>
              <a:tr h="370840">
                <a:tc>
                  <a:txBody>
                    <a:bodyPr/>
                    <a:lstStyle/>
                    <a:p>
                      <a:pPr algn="ctr"/>
                      <a:r>
                        <a:rPr lang="it-IT" dirty="0">
                          <a:solidFill>
                            <a:schemeClr val="bg1"/>
                          </a:solidFill>
                        </a:rPr>
                        <a:t>Yolo v11 N</a:t>
                      </a:r>
                    </a:p>
                  </a:txBody>
                  <a:tcPr anchor="ctr">
                    <a:lnL w="12700" cmpd="sng">
                      <a:noFill/>
                    </a:lnL>
                    <a:lnR w="127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it-IT" dirty="0">
                          <a:solidFill>
                            <a:schemeClr val="bg1"/>
                          </a:solidFill>
                        </a:rPr>
                        <a:t>2.6</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it-IT" dirty="0">
                          <a:solidFill>
                            <a:schemeClr val="bg1"/>
                          </a:solidFill>
                        </a:rPr>
                        <a:t>640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it-IT" dirty="0">
                          <a:solidFill>
                            <a:schemeClr val="bg1"/>
                          </a:solidFill>
                        </a:rPr>
                        <a:t>0.917</a:t>
                      </a:r>
                    </a:p>
                  </a:txBody>
                  <a:tcPr anchor="ctr">
                    <a:lnL w="12700" cap="flat" cmpd="sng" algn="ctr">
                      <a:solidFill>
                        <a:schemeClr val="bg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98887577"/>
                  </a:ext>
                </a:extLst>
              </a:tr>
              <a:tr h="370840">
                <a:tc>
                  <a:txBody>
                    <a:bodyPr/>
                    <a:lstStyle/>
                    <a:p>
                      <a:pPr algn="ctr"/>
                      <a:r>
                        <a:rPr lang="it-IT" dirty="0">
                          <a:solidFill>
                            <a:schemeClr val="bg1"/>
                          </a:solidFill>
                        </a:rPr>
                        <a:t>Yolo v12 N</a:t>
                      </a:r>
                    </a:p>
                  </a:txBody>
                  <a:tcPr anchor="ctr">
                    <a:lnL w="12700" cmpd="sng">
                      <a:noFill/>
                    </a:lnL>
                    <a:lnR w="127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it-IT" dirty="0">
                          <a:solidFill>
                            <a:schemeClr val="bg1"/>
                          </a:solidFill>
                        </a:rPr>
                        <a:t>2.6</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it-IT" dirty="0">
                          <a:solidFill>
                            <a:schemeClr val="bg1"/>
                          </a:solidFill>
                        </a:rPr>
                        <a:t>640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it-IT" dirty="0">
                          <a:solidFill>
                            <a:schemeClr val="bg1"/>
                          </a:solidFill>
                        </a:rPr>
                        <a:t>0.922</a:t>
                      </a:r>
                    </a:p>
                  </a:txBody>
                  <a:tcPr anchor="ctr">
                    <a:lnL w="12700" cap="flat" cmpd="sng" algn="ctr">
                      <a:solidFill>
                        <a:schemeClr val="bg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50820206"/>
                  </a:ext>
                </a:extLst>
              </a:tr>
              <a:tr h="370840">
                <a:tc>
                  <a:txBody>
                    <a:bodyPr/>
                    <a:lstStyle/>
                    <a:p>
                      <a:pPr algn="ctr"/>
                      <a:r>
                        <a:rPr lang="it-IT" b="1" u="sng" dirty="0">
                          <a:solidFill>
                            <a:schemeClr val="bg1"/>
                          </a:solidFill>
                        </a:rPr>
                        <a:t>Yolo v26 N</a:t>
                      </a:r>
                    </a:p>
                  </a:txBody>
                  <a:tcPr anchor="ctr">
                    <a:lnL w="12700" cmpd="sng">
                      <a:noFill/>
                    </a:lnL>
                    <a:lnR w="127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it-IT" b="0" dirty="0">
                          <a:solidFill>
                            <a:schemeClr val="bg1"/>
                          </a:solidFill>
                        </a:rPr>
                        <a:t>2.4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it-IT" b="0" dirty="0">
                          <a:solidFill>
                            <a:schemeClr val="bg1"/>
                          </a:solidFill>
                        </a:rPr>
                        <a:t>480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it-IT" b="0" dirty="0">
                          <a:solidFill>
                            <a:schemeClr val="bg1"/>
                          </a:solidFill>
                        </a:rPr>
                        <a:t>0.905</a:t>
                      </a:r>
                    </a:p>
                  </a:txBody>
                  <a:tcPr anchor="ctr">
                    <a:lnL w="12700" cap="flat" cmpd="sng" algn="ctr">
                      <a:solidFill>
                        <a:schemeClr val="bg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9777126"/>
                  </a:ext>
                </a:extLst>
              </a:tr>
              <a:tr h="370840">
                <a:tc>
                  <a:txBody>
                    <a:bodyPr/>
                    <a:lstStyle/>
                    <a:p>
                      <a:pPr algn="ctr"/>
                      <a:r>
                        <a:rPr lang="it-IT" b="1" u="sng" dirty="0">
                          <a:solidFill>
                            <a:schemeClr val="bg1"/>
                          </a:solidFill>
                        </a:rPr>
                        <a:t>Yolo v26 N</a:t>
                      </a:r>
                    </a:p>
                  </a:txBody>
                  <a:tcPr anchor="ctr">
                    <a:lnL w="12700" cmpd="sng">
                      <a:noFill/>
                    </a:lnL>
                    <a:lnR w="127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it-IT" dirty="0">
                          <a:solidFill>
                            <a:schemeClr val="bg1"/>
                          </a:solidFill>
                        </a:rPr>
                        <a:t>2.4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it-IT" dirty="0">
                          <a:solidFill>
                            <a:schemeClr val="bg1"/>
                          </a:solidFill>
                        </a:rPr>
                        <a:t>640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it-IT" dirty="0">
                          <a:solidFill>
                            <a:schemeClr val="bg1"/>
                          </a:solidFill>
                        </a:rPr>
                        <a:t>0.928</a:t>
                      </a:r>
                    </a:p>
                  </a:txBody>
                  <a:tcPr anchor="ctr">
                    <a:lnL w="12700" cap="flat" cmpd="sng" algn="ctr">
                      <a:solidFill>
                        <a:schemeClr val="bg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8184052"/>
                  </a:ext>
                </a:extLst>
              </a:tr>
              <a:tr h="370840">
                <a:tc>
                  <a:txBody>
                    <a:bodyPr/>
                    <a:lstStyle/>
                    <a:p>
                      <a:pPr algn="ctr"/>
                      <a:r>
                        <a:rPr lang="it-IT" dirty="0">
                          <a:solidFill>
                            <a:schemeClr val="bg1"/>
                          </a:solidFill>
                        </a:rPr>
                        <a:t>Yolo v26 S</a:t>
                      </a:r>
                    </a:p>
                  </a:txBody>
                  <a:tcPr anchor="ctr">
                    <a:lnL w="12700" cmpd="sng">
                      <a:noFill/>
                    </a:lnL>
                    <a:lnR w="127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it-IT" dirty="0">
                          <a:solidFill>
                            <a:schemeClr val="bg1"/>
                          </a:solidFill>
                        </a:rPr>
                        <a:t>9.5</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it-IT" dirty="0">
                          <a:solidFill>
                            <a:schemeClr val="bg1"/>
                          </a:solidFill>
                        </a:rPr>
                        <a:t>640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it-IT" dirty="0">
                          <a:solidFill>
                            <a:schemeClr val="bg1"/>
                          </a:solidFill>
                        </a:rPr>
                        <a:t>0.947</a:t>
                      </a:r>
                    </a:p>
                  </a:txBody>
                  <a:tcPr anchor="ctr">
                    <a:lnL w="12700" cap="flat" cmpd="sng" algn="ctr">
                      <a:solidFill>
                        <a:schemeClr val="bg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22329502"/>
                  </a:ext>
                </a:extLst>
              </a:tr>
            </a:tbl>
          </a:graphicData>
        </a:graphic>
      </p:graphicFrame>
    </p:spTree>
    <p:extLst>
      <p:ext uri="{BB962C8B-B14F-4D97-AF65-F5344CB8AC3E}">
        <p14:creationId xmlns:p14="http://schemas.microsoft.com/office/powerpoint/2010/main" val="30559022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EB9C82-EEEC-D6A8-CFA7-76708A36D257}"/>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777ACFFC-051E-61F5-CE7A-58CF498CAA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EEDE4599-EA53-9E29-3DCB-DD07A33CA3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AA0EE55D-B916-3CED-82FD-448A45630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A16D012C-815F-8499-10CA-59E9D2CE47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64A90050-9EF7-50B1-4B63-99A5B48CB0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EE40D859-FF07-334F-B030-ABA544551C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E8B5BFA0-C720-55A1-E429-B4634E33FB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E142E66C-F3AE-1FDF-0C1B-CE45A4B51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ttangolo 1">
            <a:extLst>
              <a:ext uri="{FF2B5EF4-FFF2-40B4-BE49-F238E27FC236}">
                <a16:creationId xmlns:a16="http://schemas.microsoft.com/office/drawing/2014/main" id="{816C92CE-F61C-920F-A4B2-EE9E966ECF4A}"/>
              </a:ext>
            </a:extLst>
          </p:cNvPr>
          <p:cNvSpPr/>
          <p:nvPr/>
        </p:nvSpPr>
        <p:spPr>
          <a:xfrm>
            <a:off x="7126378" y="98593"/>
            <a:ext cx="5650166" cy="461665"/>
          </a:xfrm>
          <a:prstGeom prst="rect">
            <a:avLst/>
          </a:prstGeom>
          <a:noFill/>
          <a:ln>
            <a:noFill/>
          </a:ln>
        </p:spPr>
        <p:txBody>
          <a:bodyPr wrap="square" lIns="91440" tIns="45720" rIns="91440" bIns="45720">
            <a:spAutoFit/>
          </a:bodyPr>
          <a:lstStyle/>
          <a:p>
            <a:pPr algn="ctr"/>
            <a:r>
              <a:rPr lang="it-IT" sz="2400"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AI MODELS :  COMPARISON</a:t>
            </a:r>
          </a:p>
        </p:txBody>
      </p:sp>
      <p:graphicFrame>
        <p:nvGraphicFramePr>
          <p:cNvPr id="5" name="Tabella 4">
            <a:extLst>
              <a:ext uri="{FF2B5EF4-FFF2-40B4-BE49-F238E27FC236}">
                <a16:creationId xmlns:a16="http://schemas.microsoft.com/office/drawing/2014/main" id="{7B00CBF6-29CF-2F3E-C415-98402794CA6F}"/>
              </a:ext>
            </a:extLst>
          </p:cNvPr>
          <p:cNvGraphicFramePr>
            <a:graphicFrameLocks noGrp="1"/>
          </p:cNvGraphicFramePr>
          <p:nvPr>
            <p:extLst>
              <p:ext uri="{D42A27DB-BD31-4B8C-83A1-F6EECF244321}">
                <p14:modId xmlns:p14="http://schemas.microsoft.com/office/powerpoint/2010/main" val="1711605710"/>
              </p:ext>
            </p:extLst>
          </p:nvPr>
        </p:nvGraphicFramePr>
        <p:xfrm>
          <a:off x="2342535" y="2737509"/>
          <a:ext cx="7506930" cy="1760794"/>
        </p:xfrm>
        <a:graphic>
          <a:graphicData uri="http://schemas.openxmlformats.org/drawingml/2006/table">
            <a:tbl>
              <a:tblPr firstRow="1" bandRow="1">
                <a:tableStyleId>{5C22544A-7EE6-4342-B048-85BDC9FD1C3A}</a:tableStyleId>
              </a:tblPr>
              <a:tblGrid>
                <a:gridCol w="2502310">
                  <a:extLst>
                    <a:ext uri="{9D8B030D-6E8A-4147-A177-3AD203B41FA5}">
                      <a16:colId xmlns:a16="http://schemas.microsoft.com/office/drawing/2014/main" val="958867749"/>
                    </a:ext>
                  </a:extLst>
                </a:gridCol>
                <a:gridCol w="2502310">
                  <a:extLst>
                    <a:ext uri="{9D8B030D-6E8A-4147-A177-3AD203B41FA5}">
                      <a16:colId xmlns:a16="http://schemas.microsoft.com/office/drawing/2014/main" val="3161628996"/>
                    </a:ext>
                  </a:extLst>
                </a:gridCol>
                <a:gridCol w="2502310">
                  <a:extLst>
                    <a:ext uri="{9D8B030D-6E8A-4147-A177-3AD203B41FA5}">
                      <a16:colId xmlns:a16="http://schemas.microsoft.com/office/drawing/2014/main" val="1931667749"/>
                    </a:ext>
                  </a:extLst>
                </a:gridCol>
              </a:tblGrid>
              <a:tr h="370840">
                <a:tc>
                  <a:txBody>
                    <a:bodyPr/>
                    <a:lstStyle/>
                    <a:p>
                      <a:pPr algn="ctr"/>
                      <a:r>
                        <a:rPr lang="it-IT" dirty="0">
                          <a:solidFill>
                            <a:schemeClr val="bg1"/>
                          </a:solidFill>
                        </a:rPr>
                        <a:t>MODEL</a:t>
                      </a:r>
                    </a:p>
                  </a:txBody>
                  <a:tcPr anchor="ctr">
                    <a:lnL w="12700" cmpd="sng">
                      <a:noFill/>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it-IT" dirty="0">
                          <a:solidFill>
                            <a:schemeClr val="bg1"/>
                          </a:solidFill>
                        </a:rPr>
                        <a:t>PARAMETERS [millions]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it-IT" dirty="0">
                          <a:solidFill>
                            <a:schemeClr val="bg1"/>
                          </a:solidFill>
                        </a:rPr>
                        <a:t>Accuracy</a:t>
                      </a:r>
                    </a:p>
                  </a:txBody>
                  <a:tcPr anchor="ctr">
                    <a:lnL w="12700" cap="flat" cmpd="sng" algn="ctr">
                      <a:solidFill>
                        <a:schemeClr val="bg1"/>
                      </a:solidFill>
                      <a:prstDash val="solid"/>
                      <a:round/>
                      <a:headEnd type="none" w="med" len="med"/>
                      <a:tailEnd type="none" w="med" len="med"/>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5050009"/>
                  </a:ext>
                </a:extLst>
              </a:tr>
              <a:tr h="370840">
                <a:tc>
                  <a:txBody>
                    <a:bodyPr/>
                    <a:lstStyle/>
                    <a:p>
                      <a:pPr lvl="0" algn="ctr">
                        <a:lnSpc>
                          <a:spcPct val="100000"/>
                        </a:lnSpc>
                        <a:spcBef>
                          <a:spcPts val="0"/>
                        </a:spcBef>
                        <a:spcAft>
                          <a:spcPts val="0"/>
                        </a:spcAft>
                        <a:buNone/>
                      </a:pPr>
                      <a:r>
                        <a:rPr lang="it-IT" sz="1800" b="0" i="0" u="none" strike="noStrike" noProof="0" dirty="0">
                          <a:solidFill>
                            <a:schemeClr val="bg1"/>
                          </a:solidFill>
                          <a:latin typeface="Aptos"/>
                        </a:rPr>
                        <a:t>SPECTROGRAM+CNN</a:t>
                      </a:r>
                      <a:endParaRPr lang="it-IT" sz="1800" b="0" i="0" u="none" strike="noStrike" noProof="0" dirty="0">
                        <a:solidFill>
                          <a:srgbClr val="000000"/>
                        </a:solidFill>
                        <a:latin typeface="Aptos"/>
                      </a:endParaRPr>
                    </a:p>
                  </a:txBody>
                  <a:tcPr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it-IT" dirty="0">
                          <a:solidFill>
                            <a:schemeClr val="bg1"/>
                          </a:solidFill>
                        </a:rPr>
                        <a:t>0.024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it-IT" dirty="0">
                          <a:solidFill>
                            <a:schemeClr val="bg1"/>
                          </a:solidFill>
                        </a:rPr>
                        <a:t>0.72</a:t>
                      </a:r>
                    </a:p>
                  </a:txBody>
                  <a:tcPr anchor="ct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30082630"/>
                  </a:ext>
                </a:extLst>
              </a:tr>
              <a:tr h="370840">
                <a:tc>
                  <a:txBody>
                    <a:bodyPr/>
                    <a:lstStyle/>
                    <a:p>
                      <a:pPr algn="ctr"/>
                      <a:r>
                        <a:rPr lang="it-IT" dirty="0">
                          <a:solidFill>
                            <a:schemeClr val="bg1"/>
                          </a:solidFill>
                        </a:rPr>
                        <a:t>MFCC + SVM</a:t>
                      </a:r>
                    </a:p>
                  </a:txBody>
                  <a:tcPr anchor="ctr">
                    <a:lnL w="12700" cmpd="sng">
                      <a:noFill/>
                    </a:lnL>
                    <a:lnR w="127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it-IT" dirty="0">
                          <a:solidFill>
                            <a:schemeClr val="bg1"/>
                          </a:solidFill>
                        </a:rPr>
                        <a:t>0.05</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it-IT" dirty="0">
                          <a:solidFill>
                            <a:schemeClr val="bg1"/>
                          </a:solidFill>
                        </a:rPr>
                        <a:t>0.86</a:t>
                      </a:r>
                    </a:p>
                  </a:txBody>
                  <a:tcPr anchor="ctr">
                    <a:lnL w="12700" cap="flat" cmpd="sng" algn="ctr">
                      <a:solidFill>
                        <a:schemeClr val="bg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0743815"/>
                  </a:ext>
                </a:extLst>
              </a:tr>
              <a:tr h="379034">
                <a:tc>
                  <a:txBody>
                    <a:bodyPr/>
                    <a:lstStyle/>
                    <a:p>
                      <a:pPr algn="ctr"/>
                      <a:r>
                        <a:rPr lang="it-IT" b="1" u="sng" dirty="0">
                          <a:solidFill>
                            <a:schemeClr val="bg1"/>
                          </a:solidFill>
                        </a:rPr>
                        <a:t>YAMNet+FFN</a:t>
                      </a:r>
                    </a:p>
                  </a:txBody>
                  <a:tcPr anchor="ctr">
                    <a:lnL w="12700" cmpd="sng">
                      <a:noFill/>
                    </a:lnL>
                    <a:lnR w="127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it-IT" b="1" dirty="0">
                          <a:solidFill>
                            <a:schemeClr val="bg1"/>
                          </a:solidFill>
                        </a:rPr>
                        <a:t>0.66</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it-IT" b="1" dirty="0">
                          <a:solidFill>
                            <a:schemeClr val="bg1"/>
                          </a:solidFill>
                        </a:rPr>
                        <a:t>0.88</a:t>
                      </a:r>
                    </a:p>
                  </a:txBody>
                  <a:tcPr anchor="ctr">
                    <a:lnL w="12700" cap="flat" cmpd="sng" algn="ctr">
                      <a:solidFill>
                        <a:schemeClr val="bg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37868407"/>
                  </a:ext>
                </a:extLst>
              </a:tr>
            </a:tbl>
          </a:graphicData>
        </a:graphic>
      </p:graphicFrame>
      <p:grpSp>
        <p:nvGrpSpPr>
          <p:cNvPr id="7" name="Gruppo 6">
            <a:extLst>
              <a:ext uri="{FF2B5EF4-FFF2-40B4-BE49-F238E27FC236}">
                <a16:creationId xmlns:a16="http://schemas.microsoft.com/office/drawing/2014/main" id="{FD3D9AB0-F1FF-F234-4B11-7030EC8879DD}"/>
              </a:ext>
            </a:extLst>
          </p:cNvPr>
          <p:cNvGrpSpPr/>
          <p:nvPr/>
        </p:nvGrpSpPr>
        <p:grpSpPr>
          <a:xfrm>
            <a:off x="3584399" y="1805192"/>
            <a:ext cx="5023202" cy="781806"/>
            <a:chOff x="3915398" y="1463249"/>
            <a:chExt cx="5023202" cy="781806"/>
          </a:xfrm>
        </p:grpSpPr>
        <p:pic>
          <p:nvPicPr>
            <p:cNvPr id="4" name="Immagine 3" descr="Immagine che contiene Elementi grafici, Carattere, grafica, simbolo&#10;&#10;Il contenuto generato dall'IA potrebbe non essere corretto.">
              <a:extLst>
                <a:ext uri="{FF2B5EF4-FFF2-40B4-BE49-F238E27FC236}">
                  <a16:creationId xmlns:a16="http://schemas.microsoft.com/office/drawing/2014/main" id="{E0C6F781-462D-56EA-4840-150E2A048C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5398" y="1463249"/>
              <a:ext cx="781806" cy="781806"/>
            </a:xfrm>
            <a:prstGeom prst="rect">
              <a:avLst/>
            </a:prstGeom>
          </p:spPr>
        </p:pic>
        <p:sp>
          <p:nvSpPr>
            <p:cNvPr id="6" name="TextBox 22">
              <a:extLst>
                <a:ext uri="{FF2B5EF4-FFF2-40B4-BE49-F238E27FC236}">
                  <a16:creationId xmlns:a16="http://schemas.microsoft.com/office/drawing/2014/main" id="{FAF42B6A-F9AF-BE9F-A8DC-8B6F0617AF27}"/>
                </a:ext>
              </a:extLst>
            </p:cNvPr>
            <p:cNvSpPr txBox="1"/>
            <p:nvPr/>
          </p:nvSpPr>
          <p:spPr>
            <a:xfrm>
              <a:off x="4949404" y="1669486"/>
              <a:ext cx="3989196" cy="369332"/>
            </a:xfrm>
            <a:prstGeom prst="rect">
              <a:avLst/>
            </a:prstGeom>
            <a:noFill/>
          </p:spPr>
          <p:txBody>
            <a:bodyPr wrap="square" l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altLang="ko-KR" b="1" dirty="0">
                  <a:solidFill>
                    <a:schemeClr val="bg1"/>
                  </a:solidFill>
                  <a:latin typeface="Alata" pitchFamily="2" charset="0"/>
                  <a:cs typeface="Alata" pitchFamily="2" charset="0"/>
                </a:rPr>
                <a:t>SOUND BASED DETECTION MODEL</a:t>
              </a:r>
              <a:endParaRPr lang="ko-KR" altLang="en-US" b="1">
                <a:solidFill>
                  <a:schemeClr val="bg1"/>
                </a:solidFill>
                <a:latin typeface="Alata" pitchFamily="2" charset="0"/>
                <a:cs typeface="Alata" pitchFamily="2" charset="0"/>
              </a:endParaRPr>
            </a:p>
          </p:txBody>
        </p:sp>
      </p:grpSp>
    </p:spTree>
    <p:extLst>
      <p:ext uri="{BB962C8B-B14F-4D97-AF65-F5344CB8AC3E}">
        <p14:creationId xmlns:p14="http://schemas.microsoft.com/office/powerpoint/2010/main" val="37865310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E36EC0-5F8C-43F9-9B00-36E35BF350A7}"/>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C37CE924-F4AA-A780-4A15-0EAEC5B3CF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AF7E67E-0C07-9731-0AD8-5A5C4E288F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CE0B6F54-F040-3A72-39B1-E307936453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0CF001CB-5487-E6ED-D6F5-FF5FAFF25D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CCAAD61C-E697-052D-58B3-C1C49E1C65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A682FA94-EE20-3F3C-ABF0-D1AEFEEF57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41FFE3A2-66F8-01B9-138C-3AE875B6E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CA8CE0DF-DE59-5474-4A39-84BC64C54C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ttangolo 29">
            <a:extLst>
              <a:ext uri="{FF2B5EF4-FFF2-40B4-BE49-F238E27FC236}">
                <a16:creationId xmlns:a16="http://schemas.microsoft.com/office/drawing/2014/main" id="{1EEB6A26-6E23-8332-252A-A11B4BB8E741}"/>
              </a:ext>
            </a:extLst>
          </p:cNvPr>
          <p:cNvSpPr/>
          <p:nvPr/>
        </p:nvSpPr>
        <p:spPr>
          <a:xfrm>
            <a:off x="5381831" y="2758940"/>
            <a:ext cx="4127648" cy="1323439"/>
          </a:xfrm>
          <a:prstGeom prst="rect">
            <a:avLst/>
          </a:prstGeom>
          <a:noFill/>
          <a:ln>
            <a:noFill/>
          </a:ln>
        </p:spPr>
        <p:txBody>
          <a:bodyPr wrap="square" lIns="91440" tIns="45720" rIns="91440" bIns="45720">
            <a:spAutoFit/>
          </a:bodyPr>
          <a:lstStyle/>
          <a:p>
            <a:pPr algn="ctr"/>
            <a:r>
              <a:rPr lang="it-IT" sz="4000"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HARDWARE SETUP</a:t>
            </a:r>
          </a:p>
        </p:txBody>
      </p:sp>
      <p:pic>
        <p:nvPicPr>
          <p:cNvPr id="3" name="Immagine 2">
            <a:extLst>
              <a:ext uri="{FF2B5EF4-FFF2-40B4-BE49-F238E27FC236}">
                <a16:creationId xmlns:a16="http://schemas.microsoft.com/office/drawing/2014/main" id="{5903B8C4-797A-8637-29BF-03D9832D0A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2522" y="2083443"/>
            <a:ext cx="2691114" cy="2691114"/>
          </a:xfrm>
          <a:prstGeom prst="rect">
            <a:avLst/>
          </a:prstGeom>
        </p:spPr>
      </p:pic>
    </p:spTree>
    <p:extLst>
      <p:ext uri="{BB962C8B-B14F-4D97-AF65-F5344CB8AC3E}">
        <p14:creationId xmlns:p14="http://schemas.microsoft.com/office/powerpoint/2010/main" val="36377032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854F42-D717-B5D1-B8ED-F24B6490E997}"/>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E59A9FB5-1555-4AFD-3D6F-62C7F57C56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935C7BDA-6792-B335-B33E-18CAC007DA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1C9327ED-AB9D-B90A-8868-A6DCE96BFE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7372EEB0-43F0-9AF0-1F08-3758ADE186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CB811029-F44E-4A9F-5D3B-7C5C1555BE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497665B5-B6B6-BEAF-0D7C-A2D784B601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26057D5C-8047-81FA-5C41-9F064DD2DD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B45320FE-770D-AAFB-954F-D3F4B3A73F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 name="Gruppo 1">
            <a:extLst>
              <a:ext uri="{FF2B5EF4-FFF2-40B4-BE49-F238E27FC236}">
                <a16:creationId xmlns:a16="http://schemas.microsoft.com/office/drawing/2014/main" id="{6A9B9966-926C-0866-CFF3-E0156A7E1AE8}"/>
              </a:ext>
            </a:extLst>
          </p:cNvPr>
          <p:cNvGrpSpPr/>
          <p:nvPr/>
        </p:nvGrpSpPr>
        <p:grpSpPr>
          <a:xfrm>
            <a:off x="988056" y="4520653"/>
            <a:ext cx="1807716" cy="1702335"/>
            <a:chOff x="2992525" y="2999313"/>
            <a:chExt cx="1807716" cy="1702335"/>
          </a:xfrm>
        </p:grpSpPr>
        <p:pic>
          <p:nvPicPr>
            <p:cNvPr id="3" name="Picture 2" descr="What you will need | Getting started with the Camera Module | Python |  Coding projects for kids and teens">
              <a:extLst>
                <a:ext uri="{FF2B5EF4-FFF2-40B4-BE49-F238E27FC236}">
                  <a16:creationId xmlns:a16="http://schemas.microsoft.com/office/drawing/2014/main" id="{3A95A7A0-66C8-3AD8-D335-D1B5249B02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2525" y="3106790"/>
              <a:ext cx="1807716" cy="1506430"/>
            </a:xfrm>
            <a:prstGeom prst="rect">
              <a:avLst/>
            </a:prstGeom>
            <a:noFill/>
            <a:extLst>
              <a:ext uri="{909E8E84-426E-40DD-AFC4-6F175D3DCCD1}">
                <a14:hiddenFill xmlns:a14="http://schemas.microsoft.com/office/drawing/2010/main">
                  <a:solidFill>
                    <a:srgbClr val="FFFFFF"/>
                  </a:solidFill>
                </a14:hiddenFill>
              </a:ext>
            </a:extLst>
          </p:spPr>
        </p:pic>
        <p:sp>
          <p:nvSpPr>
            <p:cNvPr id="4" name="Rettangolo con angoli arrotondati 3">
              <a:extLst>
                <a:ext uri="{FF2B5EF4-FFF2-40B4-BE49-F238E27FC236}">
                  <a16:creationId xmlns:a16="http://schemas.microsoft.com/office/drawing/2014/main" id="{1C9FEFFB-84D8-1DEE-F83C-E59853CA2156}"/>
                </a:ext>
              </a:extLst>
            </p:cNvPr>
            <p:cNvSpPr/>
            <p:nvPr/>
          </p:nvSpPr>
          <p:spPr>
            <a:xfrm>
              <a:off x="2992525" y="2999313"/>
              <a:ext cx="1807716" cy="1702335"/>
            </a:xfrm>
            <a:prstGeom prst="roundRect">
              <a:avLst>
                <a:gd name="adj" fmla="val 7027"/>
              </a:avLst>
            </a:prstGeom>
            <a:noFill/>
            <a:ln w="28575">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grpSp>
      <p:grpSp>
        <p:nvGrpSpPr>
          <p:cNvPr id="6" name="Gruppo 5">
            <a:extLst>
              <a:ext uri="{FF2B5EF4-FFF2-40B4-BE49-F238E27FC236}">
                <a16:creationId xmlns:a16="http://schemas.microsoft.com/office/drawing/2014/main" id="{6BAE5DE1-4FC9-41AA-E130-0F1A03F31405}"/>
              </a:ext>
            </a:extLst>
          </p:cNvPr>
          <p:cNvGrpSpPr/>
          <p:nvPr/>
        </p:nvGrpSpPr>
        <p:grpSpPr>
          <a:xfrm>
            <a:off x="988061" y="1666669"/>
            <a:ext cx="1807717" cy="1702335"/>
            <a:chOff x="5918522" y="1697568"/>
            <a:chExt cx="1373808" cy="1293722"/>
          </a:xfrm>
        </p:grpSpPr>
        <p:pic>
          <p:nvPicPr>
            <p:cNvPr id="7" name="Immagine 6">
              <a:extLst>
                <a:ext uri="{FF2B5EF4-FFF2-40B4-BE49-F238E27FC236}">
                  <a16:creationId xmlns:a16="http://schemas.microsoft.com/office/drawing/2014/main" id="{41719A2B-08DC-7DE7-84AD-D36E035B535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175734" y="1932123"/>
              <a:ext cx="837876" cy="837877"/>
            </a:xfrm>
            <a:prstGeom prst="rect">
              <a:avLst/>
            </a:prstGeom>
          </p:spPr>
        </p:pic>
        <p:sp>
          <p:nvSpPr>
            <p:cNvPr id="9" name="Rettangolo con angoli arrotondati 8">
              <a:extLst>
                <a:ext uri="{FF2B5EF4-FFF2-40B4-BE49-F238E27FC236}">
                  <a16:creationId xmlns:a16="http://schemas.microsoft.com/office/drawing/2014/main" id="{E7FF95C7-7DD6-F941-DE0C-906C7F76DDBD}"/>
                </a:ext>
              </a:extLst>
            </p:cNvPr>
            <p:cNvSpPr/>
            <p:nvPr/>
          </p:nvSpPr>
          <p:spPr>
            <a:xfrm>
              <a:off x="5918522" y="1697568"/>
              <a:ext cx="1373808" cy="1293722"/>
            </a:xfrm>
            <a:prstGeom prst="roundRect">
              <a:avLst>
                <a:gd name="adj" fmla="val 7027"/>
              </a:avLst>
            </a:prstGeom>
            <a:noFill/>
            <a:ln w="28575">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grpSp>
      <p:sp>
        <p:nvSpPr>
          <p:cNvPr id="19" name="CasellaDiTesto 18">
            <a:extLst>
              <a:ext uri="{FF2B5EF4-FFF2-40B4-BE49-F238E27FC236}">
                <a16:creationId xmlns:a16="http://schemas.microsoft.com/office/drawing/2014/main" id="{0752B629-3BF9-D5AB-53C3-D4D270BCCD88}"/>
              </a:ext>
            </a:extLst>
          </p:cNvPr>
          <p:cNvSpPr txBox="1"/>
          <p:nvPr/>
        </p:nvSpPr>
        <p:spPr>
          <a:xfrm>
            <a:off x="881601" y="1259479"/>
            <a:ext cx="3491813" cy="307777"/>
          </a:xfrm>
          <a:prstGeom prst="rect">
            <a:avLst/>
          </a:prstGeom>
          <a:noFill/>
        </p:spPr>
        <p:txBody>
          <a:bodyPr wrap="square" rtlCol="0">
            <a:spAutoFit/>
          </a:bodyPr>
          <a:lstStyle/>
          <a:p>
            <a:r>
              <a:rPr lang="it-IT" sz="1400" b="1" spc="300" dirty="0">
                <a:solidFill>
                  <a:schemeClr val="bg1"/>
                </a:solidFill>
                <a:latin typeface="Alata" pitchFamily="2" charset="0"/>
                <a:cs typeface="Alata" pitchFamily="2" charset="0"/>
              </a:rPr>
              <a:t>RASPBERRY PI 3 MODEL B+</a:t>
            </a:r>
          </a:p>
        </p:txBody>
      </p:sp>
      <p:sp>
        <p:nvSpPr>
          <p:cNvPr id="23" name="CasellaDiTesto 22">
            <a:extLst>
              <a:ext uri="{FF2B5EF4-FFF2-40B4-BE49-F238E27FC236}">
                <a16:creationId xmlns:a16="http://schemas.microsoft.com/office/drawing/2014/main" id="{7F852A9D-C46B-CE3C-E8FD-DE761008E63F}"/>
              </a:ext>
            </a:extLst>
          </p:cNvPr>
          <p:cNvSpPr txBox="1"/>
          <p:nvPr/>
        </p:nvSpPr>
        <p:spPr>
          <a:xfrm>
            <a:off x="2879049" y="1663409"/>
            <a:ext cx="9025071" cy="1705595"/>
          </a:xfrm>
          <a:prstGeom prst="rect">
            <a:avLst/>
          </a:prstGeom>
          <a:noFill/>
        </p:spPr>
        <p:txBody>
          <a:bodyPr wrap="square" rtlCol="0">
            <a:spAutoFit/>
          </a:bodyPr>
          <a:lstStyle/>
          <a:p>
            <a:pPr marL="285750" indent="-285750" algn="just">
              <a:spcAft>
                <a:spcPts val="500"/>
              </a:spcAft>
              <a:buFont typeface="Arial" panose="020B0604020202020204" pitchFamily="34" charset="0"/>
              <a:buChar char="•"/>
            </a:pPr>
            <a:r>
              <a:rPr lang="en-US" sz="1400" b="1" dirty="0">
                <a:solidFill>
                  <a:schemeClr val="bg1"/>
                </a:solidFill>
                <a:latin typeface="Alata" pitchFamily="2" charset="0"/>
                <a:cs typeface="Alata" pitchFamily="2" charset="0"/>
              </a:rPr>
              <a:t>Processor</a:t>
            </a:r>
            <a:r>
              <a:rPr lang="en-US" sz="1400" dirty="0">
                <a:solidFill>
                  <a:schemeClr val="bg1"/>
                </a:solidFill>
                <a:latin typeface="Alata" pitchFamily="2" charset="0"/>
                <a:cs typeface="Alata" pitchFamily="2" charset="0"/>
              </a:rPr>
              <a:t>: 1.4GHz 64-bit quad-core Broadcom BCM2837B0, Cortex-A53 (ARMv8) SoC.</a:t>
            </a:r>
          </a:p>
          <a:p>
            <a:pPr marL="285750" indent="-285750" algn="just">
              <a:spcAft>
                <a:spcPts val="500"/>
              </a:spcAft>
              <a:buFont typeface="Arial" panose="020B0604020202020204" pitchFamily="34" charset="0"/>
              <a:buChar char="•"/>
            </a:pPr>
            <a:r>
              <a:rPr lang="en-US" sz="1400" b="1" dirty="0">
                <a:solidFill>
                  <a:schemeClr val="bg1"/>
                </a:solidFill>
                <a:latin typeface="Alata" pitchFamily="2" charset="0"/>
                <a:cs typeface="Alata" pitchFamily="2" charset="0"/>
              </a:rPr>
              <a:t>Memory</a:t>
            </a:r>
            <a:r>
              <a:rPr lang="en-US" sz="1400" dirty="0">
                <a:solidFill>
                  <a:schemeClr val="bg1"/>
                </a:solidFill>
                <a:latin typeface="Alata" pitchFamily="2" charset="0"/>
                <a:cs typeface="Alata" pitchFamily="2" charset="0"/>
              </a:rPr>
              <a:t>: 1GB LPDDR2 SDRAM.</a:t>
            </a:r>
          </a:p>
          <a:p>
            <a:pPr marL="285750" indent="-285750" algn="just">
              <a:spcAft>
                <a:spcPts val="500"/>
              </a:spcAft>
              <a:buFont typeface="Arial" panose="020B0604020202020204" pitchFamily="34" charset="0"/>
              <a:buChar char="•"/>
            </a:pPr>
            <a:r>
              <a:rPr lang="en-US" sz="1400" b="1" dirty="0">
                <a:solidFill>
                  <a:schemeClr val="bg1"/>
                </a:solidFill>
                <a:latin typeface="Alata" pitchFamily="2" charset="0"/>
                <a:cs typeface="Alata" pitchFamily="2" charset="0"/>
              </a:rPr>
              <a:t>Wireless Connectivity</a:t>
            </a:r>
            <a:r>
              <a:rPr lang="en-US" sz="1400" dirty="0">
                <a:solidFill>
                  <a:schemeClr val="bg1"/>
                </a:solidFill>
                <a:latin typeface="Alata" pitchFamily="2" charset="0"/>
                <a:cs typeface="Alata" pitchFamily="2" charset="0"/>
              </a:rPr>
              <a:t>: Dual-band 2.4GHz and 5GHz IEEE 802.11.b/g/n/ac wireless LAN, Bluetooth 4.2/BLE.</a:t>
            </a:r>
          </a:p>
          <a:p>
            <a:pPr marL="285750" indent="-285750" algn="just">
              <a:spcAft>
                <a:spcPts val="500"/>
              </a:spcAft>
              <a:buFont typeface="Arial" panose="020B0604020202020204" pitchFamily="34" charset="0"/>
              <a:buChar char="•"/>
            </a:pPr>
            <a:r>
              <a:rPr lang="en-US" sz="1400" b="1" dirty="0">
                <a:solidFill>
                  <a:schemeClr val="bg1"/>
                </a:solidFill>
                <a:latin typeface="Alata" pitchFamily="2" charset="0"/>
                <a:cs typeface="Alata" pitchFamily="2" charset="0"/>
              </a:rPr>
              <a:t>GPIO</a:t>
            </a:r>
            <a:r>
              <a:rPr lang="en-US" sz="1400" dirty="0">
                <a:solidFill>
                  <a:schemeClr val="bg1"/>
                </a:solidFill>
                <a:latin typeface="Alata" pitchFamily="2" charset="0"/>
                <a:cs typeface="Alata" pitchFamily="2" charset="0"/>
              </a:rPr>
              <a:t>: Extended 40-pin GPIO header.</a:t>
            </a:r>
          </a:p>
          <a:p>
            <a:pPr marL="285750" indent="-285750" algn="just">
              <a:spcAft>
                <a:spcPts val="500"/>
              </a:spcAft>
              <a:buFont typeface="Arial" panose="020B0604020202020204" pitchFamily="34" charset="0"/>
              <a:buChar char="•"/>
            </a:pPr>
            <a:r>
              <a:rPr lang="en-US" sz="1400" b="1" dirty="0">
                <a:solidFill>
                  <a:schemeClr val="bg1"/>
                </a:solidFill>
                <a:latin typeface="Alata" pitchFamily="2" charset="0"/>
                <a:cs typeface="Alata" pitchFamily="2" charset="0"/>
              </a:rPr>
              <a:t>Camera Support</a:t>
            </a:r>
            <a:r>
              <a:rPr lang="en-US" sz="1400" dirty="0">
                <a:solidFill>
                  <a:schemeClr val="bg1"/>
                </a:solidFill>
                <a:latin typeface="Alata" pitchFamily="2" charset="0"/>
                <a:cs typeface="Alata" pitchFamily="2" charset="0"/>
              </a:rPr>
              <a:t>: CSI camera port for connecting a Raspberry Pi camera.</a:t>
            </a:r>
          </a:p>
          <a:p>
            <a:pPr marL="285750" indent="-285750" algn="just">
              <a:spcAft>
                <a:spcPts val="500"/>
              </a:spcAft>
              <a:buFont typeface="Arial" panose="020B0604020202020204" pitchFamily="34" charset="0"/>
              <a:buChar char="•"/>
            </a:pPr>
            <a:r>
              <a:rPr lang="en-US" sz="1400" b="1" dirty="0">
                <a:solidFill>
                  <a:schemeClr val="bg1"/>
                </a:solidFill>
                <a:latin typeface="Alata" pitchFamily="2" charset="0"/>
                <a:cs typeface="Alata" pitchFamily="2" charset="0"/>
              </a:rPr>
              <a:t>Power Input</a:t>
            </a:r>
            <a:r>
              <a:rPr lang="en-US" sz="1400" dirty="0">
                <a:solidFill>
                  <a:schemeClr val="bg1"/>
                </a:solidFill>
                <a:latin typeface="Alata" pitchFamily="2" charset="0"/>
                <a:cs typeface="Alata" pitchFamily="2" charset="0"/>
              </a:rPr>
              <a:t>: 5V/2.5A DC power input.</a:t>
            </a:r>
          </a:p>
        </p:txBody>
      </p:sp>
      <p:sp>
        <p:nvSpPr>
          <p:cNvPr id="27" name="CasellaDiTesto 26">
            <a:extLst>
              <a:ext uri="{FF2B5EF4-FFF2-40B4-BE49-F238E27FC236}">
                <a16:creationId xmlns:a16="http://schemas.microsoft.com/office/drawing/2014/main" id="{D142F220-D096-B652-3CDF-AC70DE2A6075}"/>
              </a:ext>
            </a:extLst>
          </p:cNvPr>
          <p:cNvSpPr txBox="1"/>
          <p:nvPr/>
        </p:nvSpPr>
        <p:spPr>
          <a:xfrm>
            <a:off x="2879049" y="4517393"/>
            <a:ext cx="8586921" cy="1921039"/>
          </a:xfrm>
          <a:prstGeom prst="rect">
            <a:avLst/>
          </a:prstGeom>
          <a:noFill/>
        </p:spPr>
        <p:txBody>
          <a:bodyPr wrap="square" rtlCol="0">
            <a:spAutoFit/>
          </a:bodyPr>
          <a:lstStyle/>
          <a:p>
            <a:pPr marL="285750" indent="-285750" algn="just">
              <a:spcAft>
                <a:spcPts val="500"/>
              </a:spcAft>
              <a:buFont typeface="Courier New" panose="02070309020205020404" pitchFamily="49" charset="0"/>
              <a:buChar char="o"/>
            </a:pPr>
            <a:r>
              <a:rPr lang="en-US" sz="1400" b="1" dirty="0">
                <a:solidFill>
                  <a:schemeClr val="bg1"/>
                </a:solidFill>
                <a:latin typeface="Alata" pitchFamily="2" charset="0"/>
                <a:cs typeface="Alata" pitchFamily="2" charset="0"/>
              </a:rPr>
              <a:t>Sensor</a:t>
            </a:r>
            <a:r>
              <a:rPr lang="en-US" sz="1400" dirty="0">
                <a:solidFill>
                  <a:schemeClr val="bg1"/>
                </a:solidFill>
                <a:latin typeface="Alata" pitchFamily="2" charset="0"/>
                <a:cs typeface="Alata" pitchFamily="2" charset="0"/>
              </a:rPr>
              <a:t>: Sony IMX219, 8-megapixel sensor.</a:t>
            </a:r>
          </a:p>
          <a:p>
            <a:pPr marL="285750" indent="-285750" algn="just">
              <a:spcAft>
                <a:spcPts val="500"/>
              </a:spcAft>
              <a:buFont typeface="Courier New" panose="02070309020205020404" pitchFamily="49" charset="0"/>
              <a:buChar char="o"/>
            </a:pPr>
            <a:r>
              <a:rPr lang="en-US" sz="1400" b="1" dirty="0">
                <a:solidFill>
                  <a:schemeClr val="bg1"/>
                </a:solidFill>
                <a:latin typeface="Alata" pitchFamily="2" charset="0"/>
                <a:cs typeface="Alata" pitchFamily="2" charset="0"/>
              </a:rPr>
              <a:t>Capabilities</a:t>
            </a:r>
            <a:r>
              <a:rPr lang="en-US" sz="1400" dirty="0">
                <a:solidFill>
                  <a:schemeClr val="bg1"/>
                </a:solidFill>
                <a:latin typeface="Alata" pitchFamily="2" charset="0"/>
                <a:cs typeface="Alata" pitchFamily="2" charset="0"/>
              </a:rPr>
              <a:t>:</a:t>
            </a:r>
          </a:p>
          <a:p>
            <a:pPr marL="742950" lvl="1" indent="-285750" algn="just">
              <a:spcAft>
                <a:spcPts val="500"/>
              </a:spcAft>
              <a:buFont typeface="Arial" panose="020B0604020202020204" pitchFamily="34" charset="0"/>
              <a:buChar char="•"/>
            </a:pPr>
            <a:r>
              <a:rPr lang="en-US" sz="1400" dirty="0">
                <a:solidFill>
                  <a:schemeClr val="bg1"/>
                </a:solidFill>
                <a:latin typeface="Alata" pitchFamily="2" charset="0"/>
                <a:cs typeface="Alata" pitchFamily="2" charset="0"/>
              </a:rPr>
              <a:t>High-definition video recording: 1080p30, 720p60, VGA90 video modes.</a:t>
            </a:r>
          </a:p>
          <a:p>
            <a:pPr marL="742950" lvl="1" indent="-285750" algn="just">
              <a:spcAft>
                <a:spcPts val="500"/>
              </a:spcAft>
              <a:buFont typeface="Arial" panose="020B0604020202020204" pitchFamily="34" charset="0"/>
              <a:buChar char="•"/>
            </a:pPr>
            <a:r>
              <a:rPr lang="en-US" sz="1400" dirty="0">
                <a:solidFill>
                  <a:schemeClr val="bg1"/>
                </a:solidFill>
                <a:latin typeface="Alata" pitchFamily="2" charset="0"/>
                <a:cs typeface="Alata" pitchFamily="2" charset="0"/>
              </a:rPr>
              <a:t> Still image capture.</a:t>
            </a:r>
          </a:p>
          <a:p>
            <a:pPr marL="285750" indent="-285750" algn="just">
              <a:spcAft>
                <a:spcPts val="500"/>
              </a:spcAft>
              <a:buFont typeface="Courier New" panose="02070309020205020404" pitchFamily="49" charset="0"/>
              <a:buChar char="o"/>
            </a:pPr>
            <a:r>
              <a:rPr lang="en-US" sz="1400" b="1" dirty="0">
                <a:solidFill>
                  <a:schemeClr val="bg1"/>
                </a:solidFill>
                <a:latin typeface="Alata" pitchFamily="2" charset="0"/>
                <a:cs typeface="Alata" pitchFamily="2" charset="0"/>
              </a:rPr>
              <a:t>Connection</a:t>
            </a:r>
            <a:r>
              <a:rPr lang="en-US" sz="1400" dirty="0">
                <a:solidFill>
                  <a:schemeClr val="bg1"/>
                </a:solidFill>
                <a:latin typeface="Alata" pitchFamily="2" charset="0"/>
                <a:cs typeface="Alata" pitchFamily="2" charset="0"/>
              </a:rPr>
              <a:t>: Attaches via a 15cm ribbon cable to the CSI port on the Raspberry Pi.</a:t>
            </a:r>
          </a:p>
          <a:p>
            <a:pPr marL="285750" indent="-285750" algn="just">
              <a:spcAft>
                <a:spcPts val="500"/>
              </a:spcAft>
              <a:buFont typeface="Courier New" panose="02070309020205020404" pitchFamily="49" charset="0"/>
              <a:buChar char="o"/>
            </a:pPr>
            <a:r>
              <a:rPr lang="en-US" sz="1400" b="1" dirty="0">
                <a:solidFill>
                  <a:schemeClr val="bg1"/>
                </a:solidFill>
                <a:latin typeface="Alata" pitchFamily="2" charset="0"/>
                <a:cs typeface="Alata" pitchFamily="2" charset="0"/>
              </a:rPr>
              <a:t>Software Support</a:t>
            </a:r>
            <a:r>
              <a:rPr lang="en-US" sz="1400" dirty="0">
                <a:solidFill>
                  <a:schemeClr val="bg1"/>
                </a:solidFill>
                <a:latin typeface="Alata" pitchFamily="2" charset="0"/>
                <a:cs typeface="Alata" pitchFamily="2" charset="0"/>
              </a:rPr>
              <a:t>: Numerous third-party libraries are available, including the Picamera Python library. </a:t>
            </a:r>
          </a:p>
        </p:txBody>
      </p:sp>
      <p:sp>
        <p:nvSpPr>
          <p:cNvPr id="29" name="CasellaDiTesto 28">
            <a:extLst>
              <a:ext uri="{FF2B5EF4-FFF2-40B4-BE49-F238E27FC236}">
                <a16:creationId xmlns:a16="http://schemas.microsoft.com/office/drawing/2014/main" id="{3E615646-9B59-7688-128C-7EFDA74B71E1}"/>
              </a:ext>
            </a:extLst>
          </p:cNvPr>
          <p:cNvSpPr txBox="1"/>
          <p:nvPr/>
        </p:nvSpPr>
        <p:spPr>
          <a:xfrm>
            <a:off x="881601" y="4107231"/>
            <a:ext cx="6939097" cy="307777"/>
          </a:xfrm>
          <a:prstGeom prst="rect">
            <a:avLst/>
          </a:prstGeom>
          <a:noFill/>
        </p:spPr>
        <p:txBody>
          <a:bodyPr wrap="square" rtlCol="0">
            <a:spAutoFit/>
          </a:bodyPr>
          <a:lstStyle/>
          <a:p>
            <a:r>
              <a:rPr lang="it-IT" sz="1400" b="1" spc="300" dirty="0">
                <a:solidFill>
                  <a:schemeClr val="bg1"/>
                </a:solidFill>
                <a:latin typeface="Alata" pitchFamily="2" charset="0"/>
                <a:cs typeface="Alata" pitchFamily="2" charset="0"/>
              </a:rPr>
              <a:t>RASPBERRY PI CAMERA MODULE (V2.1)</a:t>
            </a:r>
          </a:p>
        </p:txBody>
      </p:sp>
      <p:sp>
        <p:nvSpPr>
          <p:cNvPr id="5" name="Rettangolo 4">
            <a:extLst>
              <a:ext uri="{FF2B5EF4-FFF2-40B4-BE49-F238E27FC236}">
                <a16:creationId xmlns:a16="http://schemas.microsoft.com/office/drawing/2014/main" id="{8A53DCE4-8C1D-AD03-1C19-F0B304EAC43B}"/>
              </a:ext>
            </a:extLst>
          </p:cNvPr>
          <p:cNvSpPr/>
          <p:nvPr/>
        </p:nvSpPr>
        <p:spPr>
          <a:xfrm>
            <a:off x="563683" y="308488"/>
            <a:ext cx="4127648" cy="461665"/>
          </a:xfrm>
          <a:prstGeom prst="rect">
            <a:avLst/>
          </a:prstGeom>
          <a:noFill/>
          <a:ln>
            <a:noFill/>
          </a:ln>
        </p:spPr>
        <p:txBody>
          <a:bodyPr wrap="square" lIns="91440" tIns="45720" rIns="91440" bIns="45720">
            <a:spAutoFit/>
          </a:bodyPr>
          <a:lstStyle/>
          <a:p>
            <a:pPr algn="ctr"/>
            <a:r>
              <a:rPr lang="it-IT" sz="2400"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HARDWARE SETUP</a:t>
            </a:r>
          </a:p>
        </p:txBody>
      </p:sp>
      <p:pic>
        <p:nvPicPr>
          <p:cNvPr id="8" name="Immagine 7">
            <a:extLst>
              <a:ext uri="{FF2B5EF4-FFF2-40B4-BE49-F238E27FC236}">
                <a16:creationId xmlns:a16="http://schemas.microsoft.com/office/drawing/2014/main" id="{86A1E56F-3CCD-7B19-D039-38D13A2B67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975" y="13818"/>
            <a:ext cx="1199418" cy="1199418"/>
          </a:xfrm>
          <a:prstGeom prst="rect">
            <a:avLst/>
          </a:prstGeom>
        </p:spPr>
      </p:pic>
    </p:spTree>
    <p:extLst>
      <p:ext uri="{BB962C8B-B14F-4D97-AF65-F5344CB8AC3E}">
        <p14:creationId xmlns:p14="http://schemas.microsoft.com/office/powerpoint/2010/main" val="17014233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ACF0F0E-0D42-E434-F9E8-8359B5600C13}"/>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4A218E6-4F58-BEB6-62C6-316241D61D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A6839C07-5460-3728-4355-1C50063B55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52E92819-1827-1737-C535-7B206B57C3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9FFF688C-D2D0-0413-566E-6B8CB8FB14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7EBAEB32-5B3D-2FD8-7ABC-19F892103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8911F13F-B036-436B-B2BF-3BDBD2FD1C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A2E969D5-DB45-A6D7-73CF-EB55D65BD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8E8C9484-CD57-5F72-E397-4C60A85587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 name="Gruppo 1">
            <a:extLst>
              <a:ext uri="{FF2B5EF4-FFF2-40B4-BE49-F238E27FC236}">
                <a16:creationId xmlns:a16="http://schemas.microsoft.com/office/drawing/2014/main" id="{D2147FE0-D8CC-D558-4E53-51CF94F7C11E}"/>
              </a:ext>
            </a:extLst>
          </p:cNvPr>
          <p:cNvGrpSpPr/>
          <p:nvPr/>
        </p:nvGrpSpPr>
        <p:grpSpPr>
          <a:xfrm>
            <a:off x="3505472" y="2374238"/>
            <a:ext cx="5181056" cy="2109528"/>
            <a:chOff x="3440334" y="2172272"/>
            <a:chExt cx="5181056" cy="2109528"/>
          </a:xfrm>
        </p:grpSpPr>
        <p:grpSp>
          <p:nvGrpSpPr>
            <p:cNvPr id="6" name="Gruppo 5">
              <a:extLst>
                <a:ext uri="{FF2B5EF4-FFF2-40B4-BE49-F238E27FC236}">
                  <a16:creationId xmlns:a16="http://schemas.microsoft.com/office/drawing/2014/main" id="{856B7C79-58CC-B565-C710-0365AD2D4D3B}"/>
                </a:ext>
              </a:extLst>
            </p:cNvPr>
            <p:cNvGrpSpPr/>
            <p:nvPr/>
          </p:nvGrpSpPr>
          <p:grpSpPr>
            <a:xfrm>
              <a:off x="3546794" y="2579464"/>
              <a:ext cx="1807717" cy="1702336"/>
              <a:chOff x="5918522" y="1697568"/>
              <a:chExt cx="1373808" cy="1293722"/>
            </a:xfrm>
          </p:grpSpPr>
          <p:pic>
            <p:nvPicPr>
              <p:cNvPr id="7" name="Immagine 6">
                <a:extLst>
                  <a:ext uri="{FF2B5EF4-FFF2-40B4-BE49-F238E27FC236}">
                    <a16:creationId xmlns:a16="http://schemas.microsoft.com/office/drawing/2014/main" id="{DCD28AA3-B6D5-F2FC-1703-244D54AD193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75734" y="1932123"/>
                <a:ext cx="837876" cy="837877"/>
              </a:xfrm>
              <a:prstGeom prst="rect">
                <a:avLst/>
              </a:prstGeom>
            </p:spPr>
          </p:pic>
          <p:sp>
            <p:nvSpPr>
              <p:cNvPr id="9" name="Rettangolo con angoli arrotondati 8">
                <a:extLst>
                  <a:ext uri="{FF2B5EF4-FFF2-40B4-BE49-F238E27FC236}">
                    <a16:creationId xmlns:a16="http://schemas.microsoft.com/office/drawing/2014/main" id="{9B981007-ADA7-A229-D00D-47DE45FF49A8}"/>
                  </a:ext>
                </a:extLst>
              </p:cNvPr>
              <p:cNvSpPr/>
              <p:nvPr/>
            </p:nvSpPr>
            <p:spPr>
              <a:xfrm>
                <a:off x="5918522" y="1697568"/>
                <a:ext cx="1373808" cy="1293722"/>
              </a:xfrm>
              <a:prstGeom prst="roundRect">
                <a:avLst>
                  <a:gd name="adj" fmla="val 7027"/>
                </a:avLst>
              </a:prstGeom>
              <a:noFill/>
              <a:ln w="28575">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grpSp>
        <p:sp>
          <p:nvSpPr>
            <p:cNvPr id="19" name="CasellaDiTesto 18">
              <a:extLst>
                <a:ext uri="{FF2B5EF4-FFF2-40B4-BE49-F238E27FC236}">
                  <a16:creationId xmlns:a16="http://schemas.microsoft.com/office/drawing/2014/main" id="{1C685000-C006-2F4E-7693-33E36DB4FAF2}"/>
                </a:ext>
              </a:extLst>
            </p:cNvPr>
            <p:cNvSpPr txBox="1"/>
            <p:nvPr/>
          </p:nvSpPr>
          <p:spPr>
            <a:xfrm>
              <a:off x="3440334" y="2172272"/>
              <a:ext cx="5181056" cy="307777"/>
            </a:xfrm>
            <a:prstGeom prst="rect">
              <a:avLst/>
            </a:prstGeom>
            <a:noFill/>
          </p:spPr>
          <p:txBody>
            <a:bodyPr wrap="square" rtlCol="0">
              <a:spAutoFit/>
            </a:bodyPr>
            <a:lstStyle/>
            <a:p>
              <a:r>
                <a:rPr lang="it-IT" sz="1400" b="1" spc="300" dirty="0">
                  <a:solidFill>
                    <a:schemeClr val="bg1"/>
                  </a:solidFill>
                  <a:latin typeface="Alata" pitchFamily="2" charset="0"/>
                  <a:cs typeface="Alata" pitchFamily="2" charset="0"/>
                </a:rPr>
                <a:t>C MEDIA ELECTRONICS USB SOUND DEVICE</a:t>
              </a:r>
            </a:p>
          </p:txBody>
        </p:sp>
        <p:sp>
          <p:nvSpPr>
            <p:cNvPr id="23" name="CasellaDiTesto 22">
              <a:extLst>
                <a:ext uri="{FF2B5EF4-FFF2-40B4-BE49-F238E27FC236}">
                  <a16:creationId xmlns:a16="http://schemas.microsoft.com/office/drawing/2014/main" id="{1139BC25-85A3-AF5A-9027-171EE81BEE2B}"/>
                </a:ext>
              </a:extLst>
            </p:cNvPr>
            <p:cNvSpPr txBox="1"/>
            <p:nvPr/>
          </p:nvSpPr>
          <p:spPr>
            <a:xfrm>
              <a:off x="5437782" y="2576202"/>
              <a:ext cx="2868975" cy="1705595"/>
            </a:xfrm>
            <a:prstGeom prst="rect">
              <a:avLst/>
            </a:prstGeom>
            <a:noFill/>
          </p:spPr>
          <p:txBody>
            <a:bodyPr wrap="square" rtlCol="0">
              <a:spAutoFit/>
            </a:bodyPr>
            <a:lstStyle/>
            <a:p>
              <a:pPr marL="285750" indent="-285750" algn="just">
                <a:spcAft>
                  <a:spcPts val="500"/>
                </a:spcAft>
                <a:buFont typeface="Arial" panose="020B0604020202020204" pitchFamily="34" charset="0"/>
                <a:buChar char="•"/>
              </a:pPr>
              <a:r>
                <a:rPr lang="en-US" sz="1400" b="1" dirty="0">
                  <a:solidFill>
                    <a:schemeClr val="bg1"/>
                  </a:solidFill>
                  <a:latin typeface="Alata" pitchFamily="2" charset="0"/>
                  <a:cs typeface="Alata" pitchFamily="2" charset="0"/>
                </a:rPr>
                <a:t>Processor : insert specs</a:t>
              </a:r>
              <a:r>
                <a:rPr lang="en-US" sz="1400" dirty="0">
                  <a:solidFill>
                    <a:schemeClr val="bg1"/>
                  </a:solidFill>
                  <a:latin typeface="Alata" pitchFamily="2" charset="0"/>
                  <a:cs typeface="Alata" pitchFamily="2" charset="0"/>
                </a:rPr>
                <a:t>.</a:t>
              </a:r>
            </a:p>
            <a:p>
              <a:pPr marL="285750" indent="-285750" algn="just">
                <a:spcAft>
                  <a:spcPts val="500"/>
                </a:spcAft>
                <a:buFont typeface="Arial" panose="020B0604020202020204" pitchFamily="34" charset="0"/>
                <a:buChar char="•"/>
              </a:pPr>
              <a:r>
                <a:rPr lang="en-US" sz="1400" b="1" dirty="0">
                  <a:solidFill>
                    <a:schemeClr val="bg1"/>
                  </a:solidFill>
                  <a:latin typeface="Alata" pitchFamily="2" charset="0"/>
                  <a:cs typeface="Alata" pitchFamily="2" charset="0"/>
                </a:rPr>
                <a:t>USB Version </a:t>
              </a:r>
              <a:r>
                <a:rPr lang="en-US" sz="1400" dirty="0">
                  <a:solidFill>
                    <a:schemeClr val="bg1"/>
                  </a:solidFill>
                  <a:latin typeface="Alata" pitchFamily="2" charset="0"/>
                  <a:cs typeface="Alata" pitchFamily="2" charset="0"/>
                </a:rPr>
                <a:t>: 1.1</a:t>
              </a:r>
            </a:p>
            <a:p>
              <a:pPr marL="285750" indent="-285750" algn="just">
                <a:spcAft>
                  <a:spcPts val="500"/>
                </a:spcAft>
                <a:buFont typeface="Arial" panose="020B0604020202020204" pitchFamily="34" charset="0"/>
                <a:buChar char="•"/>
              </a:pPr>
              <a:r>
                <a:rPr lang="en-US" sz="1400" b="1" dirty="0">
                  <a:solidFill>
                    <a:schemeClr val="bg1"/>
                  </a:solidFill>
                  <a:latin typeface="Alata" pitchFamily="2" charset="0"/>
                  <a:cs typeface="Alata" pitchFamily="2" charset="0"/>
                </a:rPr>
                <a:t>Channels </a:t>
              </a:r>
              <a:r>
                <a:rPr lang="en-US" sz="1400" dirty="0">
                  <a:solidFill>
                    <a:schemeClr val="bg1"/>
                  </a:solidFill>
                  <a:latin typeface="Alata" pitchFamily="2" charset="0"/>
                  <a:cs typeface="Alata" pitchFamily="2" charset="0"/>
                </a:rPr>
                <a:t>: 1.</a:t>
              </a:r>
            </a:p>
            <a:p>
              <a:pPr marL="285750" indent="-285750" algn="just">
                <a:spcAft>
                  <a:spcPts val="500"/>
                </a:spcAft>
                <a:buFont typeface="Arial" panose="020B0604020202020204" pitchFamily="34" charset="0"/>
                <a:buChar char="•"/>
              </a:pPr>
              <a:r>
                <a:rPr lang="en-US" sz="1400" b="1" dirty="0">
                  <a:solidFill>
                    <a:schemeClr val="bg1"/>
                  </a:solidFill>
                  <a:latin typeface="Alata" pitchFamily="2" charset="0"/>
                  <a:cs typeface="Alata" pitchFamily="2" charset="0"/>
                </a:rPr>
                <a:t>Sample Rate </a:t>
              </a:r>
              <a:r>
                <a:rPr lang="en-US" sz="1400" dirty="0">
                  <a:solidFill>
                    <a:schemeClr val="bg1"/>
                  </a:solidFill>
                  <a:latin typeface="Alata" pitchFamily="2" charset="0"/>
                  <a:cs typeface="Alata" pitchFamily="2" charset="0"/>
                </a:rPr>
                <a:t>: 44100 Hz.</a:t>
              </a:r>
            </a:p>
            <a:p>
              <a:pPr marL="285750" indent="-285750" algn="just">
                <a:spcAft>
                  <a:spcPts val="500"/>
                </a:spcAft>
                <a:buFont typeface="Arial" panose="020B0604020202020204" pitchFamily="34" charset="0"/>
                <a:buChar char="•"/>
              </a:pPr>
              <a:r>
                <a:rPr lang="en-US" sz="1400" b="1" dirty="0">
                  <a:solidFill>
                    <a:schemeClr val="bg1"/>
                  </a:solidFill>
                  <a:latin typeface="Alata" pitchFamily="2" charset="0"/>
                  <a:cs typeface="Alata" pitchFamily="2" charset="0"/>
                </a:rPr>
                <a:t>Audio Format </a:t>
              </a:r>
              <a:r>
                <a:rPr lang="en-US" sz="1400" dirty="0">
                  <a:solidFill>
                    <a:schemeClr val="bg1"/>
                  </a:solidFill>
                  <a:latin typeface="Alata" pitchFamily="2" charset="0"/>
                  <a:cs typeface="Alata" pitchFamily="2" charset="0"/>
                </a:rPr>
                <a:t>: PCM.</a:t>
              </a:r>
            </a:p>
            <a:p>
              <a:pPr marL="285750" indent="-285750" algn="just">
                <a:spcAft>
                  <a:spcPts val="500"/>
                </a:spcAft>
                <a:buFont typeface="Arial" panose="020B0604020202020204" pitchFamily="34" charset="0"/>
                <a:buChar char="•"/>
              </a:pPr>
              <a:r>
                <a:rPr lang="en-US" sz="1400" b="1" dirty="0">
                  <a:solidFill>
                    <a:schemeClr val="bg1"/>
                  </a:solidFill>
                  <a:latin typeface="Alata" pitchFamily="2" charset="0"/>
                  <a:cs typeface="Alata" pitchFamily="2" charset="0"/>
                </a:rPr>
                <a:t>Bit Resolution </a:t>
              </a:r>
              <a:r>
                <a:rPr lang="en-US" sz="1400" dirty="0">
                  <a:solidFill>
                    <a:schemeClr val="bg1"/>
                  </a:solidFill>
                  <a:latin typeface="Alata" pitchFamily="2" charset="0"/>
                  <a:cs typeface="Alata" pitchFamily="2" charset="0"/>
                </a:rPr>
                <a:t>: 16 bits.</a:t>
              </a:r>
            </a:p>
          </p:txBody>
        </p:sp>
      </p:grpSp>
      <p:sp>
        <p:nvSpPr>
          <p:cNvPr id="3" name="Rettangolo 2">
            <a:extLst>
              <a:ext uri="{FF2B5EF4-FFF2-40B4-BE49-F238E27FC236}">
                <a16:creationId xmlns:a16="http://schemas.microsoft.com/office/drawing/2014/main" id="{893E238A-9E94-5E29-868C-CE73FD4835A8}"/>
              </a:ext>
            </a:extLst>
          </p:cNvPr>
          <p:cNvSpPr/>
          <p:nvPr/>
        </p:nvSpPr>
        <p:spPr>
          <a:xfrm>
            <a:off x="563683" y="308488"/>
            <a:ext cx="4127648" cy="461665"/>
          </a:xfrm>
          <a:prstGeom prst="rect">
            <a:avLst/>
          </a:prstGeom>
          <a:noFill/>
          <a:ln>
            <a:noFill/>
          </a:ln>
        </p:spPr>
        <p:txBody>
          <a:bodyPr wrap="square" lIns="91440" tIns="45720" rIns="91440" bIns="45720">
            <a:spAutoFit/>
          </a:bodyPr>
          <a:lstStyle/>
          <a:p>
            <a:pPr algn="ctr"/>
            <a:r>
              <a:rPr lang="it-IT" sz="2400"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HARDWARE SETUP</a:t>
            </a:r>
          </a:p>
        </p:txBody>
      </p:sp>
      <p:pic>
        <p:nvPicPr>
          <p:cNvPr id="4" name="Immagine 3">
            <a:extLst>
              <a:ext uri="{FF2B5EF4-FFF2-40B4-BE49-F238E27FC236}">
                <a16:creationId xmlns:a16="http://schemas.microsoft.com/office/drawing/2014/main" id="{A1FA4C6C-8BBE-6732-013D-8E6C0F7516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75" y="13818"/>
            <a:ext cx="1199418" cy="1199418"/>
          </a:xfrm>
          <a:prstGeom prst="rect">
            <a:avLst/>
          </a:prstGeom>
        </p:spPr>
      </p:pic>
    </p:spTree>
    <p:extLst>
      <p:ext uri="{BB962C8B-B14F-4D97-AF65-F5344CB8AC3E}">
        <p14:creationId xmlns:p14="http://schemas.microsoft.com/office/powerpoint/2010/main" val="19632789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A32503-C698-4192-6171-75EFC718F13E}"/>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DC57175-5B5A-3973-5DC3-ED8EBD0EBC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FA390290-A319-7D94-5454-934FBB431F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3AF2F42-7514-EB0E-A53C-F3F1B9317F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E790B7EB-DE66-0671-151E-D05243131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65E4AF4F-1634-A3A5-F873-7C678070FC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5737A3EF-D7A9-E92D-9599-E255BABD66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08A4280B-BD02-C8A8-B8A1-2CC555A0A2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E911D1C6-601E-27B1-083D-D6C02E39AE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What you will need | Getting started with the Camera Module | Python |  Coding projects for kids and teens">
            <a:extLst>
              <a:ext uri="{FF2B5EF4-FFF2-40B4-BE49-F238E27FC236}">
                <a16:creationId xmlns:a16="http://schemas.microsoft.com/office/drawing/2014/main" id="{CDBD51D1-D9B1-B2BE-837A-227DD095A9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364" y="2505767"/>
            <a:ext cx="1807716" cy="1506430"/>
          </a:xfrm>
          <a:prstGeom prst="rect">
            <a:avLst/>
          </a:prstGeom>
          <a:noFill/>
          <a:extLst>
            <a:ext uri="{909E8E84-426E-40DD-AFC4-6F175D3DCCD1}">
              <a14:hiddenFill xmlns:a14="http://schemas.microsoft.com/office/drawing/2010/main">
                <a:solidFill>
                  <a:srgbClr val="FFFFFF"/>
                </a:solidFill>
              </a14:hiddenFill>
            </a:ext>
          </a:extLst>
        </p:spPr>
      </p:pic>
      <p:pic>
        <p:nvPicPr>
          <p:cNvPr id="2" name="Immagine 1">
            <a:extLst>
              <a:ext uri="{FF2B5EF4-FFF2-40B4-BE49-F238E27FC236}">
                <a16:creationId xmlns:a16="http://schemas.microsoft.com/office/drawing/2014/main" id="{448872EB-8027-81E8-A679-F1FBAE09D97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631242" y="2657898"/>
            <a:ext cx="1102514" cy="1102515"/>
          </a:xfrm>
          <a:prstGeom prst="rect">
            <a:avLst/>
          </a:prstGeom>
        </p:spPr>
      </p:pic>
      <p:pic>
        <p:nvPicPr>
          <p:cNvPr id="7" name="Immagine 6" descr="Immagine che contiene Elementi grafici, schermata, design&#10;&#10;Il contenuto generato dall'IA potrebbe non essere corretto.">
            <a:extLst>
              <a:ext uri="{FF2B5EF4-FFF2-40B4-BE49-F238E27FC236}">
                <a16:creationId xmlns:a16="http://schemas.microsoft.com/office/drawing/2014/main" id="{2DEFD0DB-B72F-A932-3D2B-8EED46D49D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85798" y="2447650"/>
            <a:ext cx="1622664" cy="1622664"/>
          </a:xfrm>
          <a:prstGeom prst="rect">
            <a:avLst/>
          </a:prstGeom>
        </p:spPr>
      </p:pic>
      <p:grpSp>
        <p:nvGrpSpPr>
          <p:cNvPr id="21" name="Gruppo 20">
            <a:extLst>
              <a:ext uri="{FF2B5EF4-FFF2-40B4-BE49-F238E27FC236}">
                <a16:creationId xmlns:a16="http://schemas.microsoft.com/office/drawing/2014/main" id="{D23E951F-8780-1649-BCF8-BF4E3D5AD512}"/>
              </a:ext>
            </a:extLst>
          </p:cNvPr>
          <p:cNvGrpSpPr/>
          <p:nvPr/>
        </p:nvGrpSpPr>
        <p:grpSpPr>
          <a:xfrm>
            <a:off x="7505816" y="2800733"/>
            <a:ext cx="2054942" cy="1394412"/>
            <a:chOff x="4510524" y="2505767"/>
            <a:chExt cx="2054942" cy="1394412"/>
          </a:xfrm>
        </p:grpSpPr>
        <p:sp>
          <p:nvSpPr>
            <p:cNvPr id="8" name="CasellaDiTesto 7">
              <a:extLst>
                <a:ext uri="{FF2B5EF4-FFF2-40B4-BE49-F238E27FC236}">
                  <a16:creationId xmlns:a16="http://schemas.microsoft.com/office/drawing/2014/main" id="{99EA24D6-EA04-7F5D-8E58-A09E2B939B6C}"/>
                </a:ext>
              </a:extLst>
            </p:cNvPr>
            <p:cNvSpPr txBox="1"/>
            <p:nvPr/>
          </p:nvSpPr>
          <p:spPr>
            <a:xfrm>
              <a:off x="4510524" y="3500069"/>
              <a:ext cx="2054942" cy="400110"/>
            </a:xfrm>
            <a:prstGeom prst="rect">
              <a:avLst/>
            </a:prstGeom>
            <a:noFill/>
          </p:spPr>
          <p:txBody>
            <a:bodyPr wrap="square" rtlCol="0" anchor="ctr">
              <a:spAutoFit/>
            </a:bodyPr>
            <a:lstStyle/>
            <a:p>
              <a:pPr algn="ctr"/>
              <a:r>
                <a:rPr lang="it-IT" sz="2000" b="1" dirty="0">
                  <a:solidFill>
                    <a:schemeClr val="bg1"/>
                  </a:solidFill>
                  <a:latin typeface="Alata" pitchFamily="2" charset="0"/>
                  <a:cs typeface="Alata" pitchFamily="2" charset="0"/>
                </a:rPr>
                <a:t>OpenCV</a:t>
              </a:r>
            </a:p>
          </p:txBody>
        </p:sp>
        <p:pic>
          <p:nvPicPr>
            <p:cNvPr id="17" name="Immagine 16" descr="Immagine che contiene Elementi grafici, cerchio, grafica, Carattere&#10;&#10;Il contenuto generato dall'IA potrebbe non essere corretto.">
              <a:extLst>
                <a:ext uri="{FF2B5EF4-FFF2-40B4-BE49-F238E27FC236}">
                  <a16:creationId xmlns:a16="http://schemas.microsoft.com/office/drawing/2014/main" id="{CCBB8376-9921-6196-FD35-3723552739DC}"/>
                </a:ext>
              </a:extLst>
            </p:cNvPr>
            <p:cNvPicPr>
              <a:picLocks noChangeAspect="1"/>
            </p:cNvPicPr>
            <p:nvPr/>
          </p:nvPicPr>
          <p:blipFill>
            <a:blip r:embed="rId5">
              <a:extLst>
                <a:ext uri="{28A0092B-C50C-407E-A947-70E740481C1C}">
                  <a14:useLocalDpi xmlns:a14="http://schemas.microsoft.com/office/drawing/2010/main" val="0"/>
                </a:ext>
              </a:extLst>
            </a:blip>
            <a:srcRect b="23584"/>
            <a:stretch>
              <a:fillRect/>
            </a:stretch>
          </p:blipFill>
          <p:spPr>
            <a:xfrm>
              <a:off x="5027210" y="2505767"/>
              <a:ext cx="1102514" cy="1037533"/>
            </a:xfrm>
            <a:prstGeom prst="rect">
              <a:avLst/>
            </a:prstGeom>
          </p:spPr>
        </p:pic>
      </p:grpSp>
      <p:pic>
        <p:nvPicPr>
          <p:cNvPr id="25" name="Immagine 24" descr="Immagine che contiene Carattere, Elementi grafici, testo, grafica&#10;&#10;Il contenuto generato dall'IA potrebbe non essere corretto.">
            <a:extLst>
              <a:ext uri="{FF2B5EF4-FFF2-40B4-BE49-F238E27FC236}">
                <a16:creationId xmlns:a16="http://schemas.microsoft.com/office/drawing/2014/main" id="{178206E4-7B45-D7BF-232C-CED27C71651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87457" y="3055243"/>
            <a:ext cx="2283462" cy="482064"/>
          </a:xfrm>
          <a:prstGeom prst="rect">
            <a:avLst/>
          </a:prstGeom>
        </p:spPr>
      </p:pic>
      <p:sp>
        <p:nvSpPr>
          <p:cNvPr id="27" name="CasellaDiTesto 26">
            <a:extLst>
              <a:ext uri="{FF2B5EF4-FFF2-40B4-BE49-F238E27FC236}">
                <a16:creationId xmlns:a16="http://schemas.microsoft.com/office/drawing/2014/main" id="{5A693716-8B33-BEFD-FC48-4B98DEAE05DF}"/>
              </a:ext>
            </a:extLst>
          </p:cNvPr>
          <p:cNvSpPr txBox="1"/>
          <p:nvPr/>
        </p:nvSpPr>
        <p:spPr>
          <a:xfrm>
            <a:off x="2230071" y="3890429"/>
            <a:ext cx="2054942" cy="400110"/>
          </a:xfrm>
          <a:prstGeom prst="rect">
            <a:avLst/>
          </a:prstGeom>
          <a:noFill/>
        </p:spPr>
        <p:txBody>
          <a:bodyPr wrap="square" rtlCol="0" anchor="ctr">
            <a:spAutoFit/>
          </a:bodyPr>
          <a:lstStyle/>
          <a:p>
            <a:pPr algn="ctr"/>
            <a:r>
              <a:rPr lang="it-IT" sz="2000" b="1" dirty="0">
                <a:solidFill>
                  <a:schemeClr val="bg1"/>
                </a:solidFill>
                <a:latin typeface="Alata" pitchFamily="2" charset="0"/>
                <a:cs typeface="Alata" pitchFamily="2" charset="0"/>
              </a:rPr>
              <a:t>Raspberry Pi 3 +</a:t>
            </a:r>
          </a:p>
        </p:txBody>
      </p:sp>
      <p:sp>
        <p:nvSpPr>
          <p:cNvPr id="29" name="CasellaDiTesto 28">
            <a:extLst>
              <a:ext uri="{FF2B5EF4-FFF2-40B4-BE49-F238E27FC236}">
                <a16:creationId xmlns:a16="http://schemas.microsoft.com/office/drawing/2014/main" id="{B2B88C82-16C2-D6AD-50B0-34CE437F9BBF}"/>
              </a:ext>
            </a:extLst>
          </p:cNvPr>
          <p:cNvSpPr txBox="1"/>
          <p:nvPr/>
        </p:nvSpPr>
        <p:spPr>
          <a:xfrm>
            <a:off x="104751" y="3841202"/>
            <a:ext cx="2054942" cy="707886"/>
          </a:xfrm>
          <a:prstGeom prst="rect">
            <a:avLst/>
          </a:prstGeom>
          <a:noFill/>
        </p:spPr>
        <p:txBody>
          <a:bodyPr wrap="square" rtlCol="0" anchor="ctr">
            <a:spAutoFit/>
          </a:bodyPr>
          <a:lstStyle/>
          <a:p>
            <a:pPr algn="ctr"/>
            <a:r>
              <a:rPr lang="it-IT" sz="2000" b="1" dirty="0">
                <a:solidFill>
                  <a:schemeClr val="bg1"/>
                </a:solidFill>
                <a:latin typeface="Alata" pitchFamily="2" charset="0"/>
                <a:cs typeface="Alata" pitchFamily="2" charset="0"/>
              </a:rPr>
              <a:t>Raspberry Pi</a:t>
            </a:r>
          </a:p>
          <a:p>
            <a:pPr algn="ctr"/>
            <a:r>
              <a:rPr lang="it-IT" sz="2000" b="1" dirty="0">
                <a:solidFill>
                  <a:schemeClr val="bg1"/>
                </a:solidFill>
                <a:latin typeface="Alata" pitchFamily="2" charset="0"/>
                <a:cs typeface="Alata" pitchFamily="2" charset="0"/>
              </a:rPr>
              <a:t>Camera</a:t>
            </a:r>
          </a:p>
        </p:txBody>
      </p:sp>
      <p:sp>
        <p:nvSpPr>
          <p:cNvPr id="30" name="CasellaDiTesto 29">
            <a:extLst>
              <a:ext uri="{FF2B5EF4-FFF2-40B4-BE49-F238E27FC236}">
                <a16:creationId xmlns:a16="http://schemas.microsoft.com/office/drawing/2014/main" id="{16BCB0CB-5453-A9F6-35DB-07CE41D0B0E5}"/>
              </a:ext>
            </a:extLst>
          </p:cNvPr>
          <p:cNvSpPr txBox="1"/>
          <p:nvPr/>
        </p:nvSpPr>
        <p:spPr>
          <a:xfrm>
            <a:off x="9961929" y="3995090"/>
            <a:ext cx="2054942" cy="400110"/>
          </a:xfrm>
          <a:prstGeom prst="rect">
            <a:avLst/>
          </a:prstGeom>
          <a:noFill/>
        </p:spPr>
        <p:txBody>
          <a:bodyPr wrap="square" rtlCol="0" anchor="ctr">
            <a:spAutoFit/>
          </a:bodyPr>
          <a:lstStyle/>
          <a:p>
            <a:pPr algn="ctr"/>
            <a:r>
              <a:rPr lang="it-IT" sz="2000" b="1" dirty="0">
                <a:solidFill>
                  <a:schemeClr val="bg1"/>
                </a:solidFill>
                <a:latin typeface="Alata" pitchFamily="2" charset="0"/>
                <a:cs typeface="Alata" pitchFamily="2" charset="0"/>
              </a:rPr>
              <a:t>Image</a:t>
            </a:r>
          </a:p>
        </p:txBody>
      </p:sp>
      <p:sp>
        <p:nvSpPr>
          <p:cNvPr id="33" name="Freccia a destra 32">
            <a:extLst>
              <a:ext uri="{FF2B5EF4-FFF2-40B4-BE49-F238E27FC236}">
                <a16:creationId xmlns:a16="http://schemas.microsoft.com/office/drawing/2014/main" id="{392E34FE-036E-3623-48DE-024DFF79C888}"/>
              </a:ext>
            </a:extLst>
          </p:cNvPr>
          <p:cNvSpPr/>
          <p:nvPr/>
        </p:nvSpPr>
        <p:spPr>
          <a:xfrm>
            <a:off x="1708272" y="3187968"/>
            <a:ext cx="640764" cy="241032"/>
          </a:xfrm>
          <a:prstGeom prst="rightArrow">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34" name="Freccia a destra 33">
            <a:extLst>
              <a:ext uri="{FF2B5EF4-FFF2-40B4-BE49-F238E27FC236}">
                <a16:creationId xmlns:a16="http://schemas.microsoft.com/office/drawing/2014/main" id="{621CD6DF-AEBE-FA8F-5D9B-11DC2B1AA60C}"/>
              </a:ext>
            </a:extLst>
          </p:cNvPr>
          <p:cNvSpPr/>
          <p:nvPr/>
        </p:nvSpPr>
        <p:spPr>
          <a:xfrm>
            <a:off x="3867056" y="3196073"/>
            <a:ext cx="640764" cy="241032"/>
          </a:xfrm>
          <a:prstGeom prst="rightArrow">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35" name="Freccia a destra 34">
            <a:extLst>
              <a:ext uri="{FF2B5EF4-FFF2-40B4-BE49-F238E27FC236}">
                <a16:creationId xmlns:a16="http://schemas.microsoft.com/office/drawing/2014/main" id="{353C6A9A-BEC1-EE5D-41D9-F30E9130B2E0}"/>
              </a:ext>
            </a:extLst>
          </p:cNvPr>
          <p:cNvSpPr/>
          <p:nvPr/>
        </p:nvSpPr>
        <p:spPr>
          <a:xfrm>
            <a:off x="7150903" y="3187968"/>
            <a:ext cx="640764" cy="241032"/>
          </a:xfrm>
          <a:prstGeom prst="rightArrow">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36" name="Freccia a destra 35">
            <a:extLst>
              <a:ext uri="{FF2B5EF4-FFF2-40B4-BE49-F238E27FC236}">
                <a16:creationId xmlns:a16="http://schemas.microsoft.com/office/drawing/2014/main" id="{16248CF8-6001-E796-2C4F-3DF3C4CC0F5F}"/>
              </a:ext>
            </a:extLst>
          </p:cNvPr>
          <p:cNvSpPr/>
          <p:nvPr/>
        </p:nvSpPr>
        <p:spPr>
          <a:xfrm>
            <a:off x="9331439" y="3194531"/>
            <a:ext cx="640764" cy="241032"/>
          </a:xfrm>
          <a:prstGeom prst="rightArrow">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4" name="Rettangolo 3">
            <a:extLst>
              <a:ext uri="{FF2B5EF4-FFF2-40B4-BE49-F238E27FC236}">
                <a16:creationId xmlns:a16="http://schemas.microsoft.com/office/drawing/2014/main" id="{0428A785-6FE3-811D-86F5-2B136C3E70E6}"/>
              </a:ext>
            </a:extLst>
          </p:cNvPr>
          <p:cNvSpPr/>
          <p:nvPr/>
        </p:nvSpPr>
        <p:spPr>
          <a:xfrm>
            <a:off x="1004292" y="308488"/>
            <a:ext cx="4127648" cy="461665"/>
          </a:xfrm>
          <a:prstGeom prst="rect">
            <a:avLst/>
          </a:prstGeom>
          <a:noFill/>
          <a:ln>
            <a:noFill/>
          </a:ln>
        </p:spPr>
        <p:txBody>
          <a:bodyPr wrap="square" lIns="91440" tIns="45720" rIns="91440" bIns="45720">
            <a:spAutoFit/>
          </a:bodyPr>
          <a:lstStyle/>
          <a:p>
            <a:pPr algn="ctr"/>
            <a:r>
              <a:rPr lang="it-IT" sz="2400"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CAMERA INTEGRATION</a:t>
            </a:r>
          </a:p>
        </p:txBody>
      </p:sp>
      <p:pic>
        <p:nvPicPr>
          <p:cNvPr id="5" name="Immagine 4">
            <a:extLst>
              <a:ext uri="{FF2B5EF4-FFF2-40B4-BE49-F238E27FC236}">
                <a16:creationId xmlns:a16="http://schemas.microsoft.com/office/drawing/2014/main" id="{0BC36EE7-2957-A593-5BC4-DDEA16B2483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2975" y="13818"/>
            <a:ext cx="1199418" cy="1199418"/>
          </a:xfrm>
          <a:prstGeom prst="rect">
            <a:avLst/>
          </a:prstGeom>
        </p:spPr>
      </p:pic>
    </p:spTree>
    <p:extLst>
      <p:ext uri="{BB962C8B-B14F-4D97-AF65-F5344CB8AC3E}">
        <p14:creationId xmlns:p14="http://schemas.microsoft.com/office/powerpoint/2010/main" val="30089986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3927BE-DEA9-5572-BF3A-B6DF806039A6}"/>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899BCF4F-A1EA-88D4-8039-2A5CEBD62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4D2623AD-1587-21BA-1353-0D1D3ADD5B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1CF061AB-1B73-A23C-9901-E83A64F170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43A6E8C7-03C8-EB5B-274A-15ED52E6E1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C1290439-288E-3680-37B0-380CE6AE18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FAF36C57-6F2E-464E-3ECA-33FC560DE7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757B022F-7045-47E4-21ED-0E0D24B8E6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6503A968-B446-89DD-E998-8A5495F17D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What you will need | Getting started with the Camera Module | Python |  Coding projects for kids and teens">
            <a:extLst>
              <a:ext uri="{FF2B5EF4-FFF2-40B4-BE49-F238E27FC236}">
                <a16:creationId xmlns:a16="http://schemas.microsoft.com/office/drawing/2014/main" id="{EF2F153C-88C0-225F-7AED-86F9F0A485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9394" y="1310439"/>
            <a:ext cx="1807716" cy="1506430"/>
          </a:xfrm>
          <a:prstGeom prst="rect">
            <a:avLst/>
          </a:prstGeom>
          <a:noFill/>
          <a:extLst>
            <a:ext uri="{909E8E84-426E-40DD-AFC4-6F175D3DCCD1}">
              <a14:hiddenFill xmlns:a14="http://schemas.microsoft.com/office/drawing/2010/main">
                <a:solidFill>
                  <a:srgbClr val="FFFFFF"/>
                </a:solidFill>
              </a14:hiddenFill>
            </a:ext>
          </a:extLst>
        </p:spPr>
      </p:pic>
      <p:sp>
        <p:nvSpPr>
          <p:cNvPr id="5" name="Rettangolo 4">
            <a:extLst>
              <a:ext uri="{FF2B5EF4-FFF2-40B4-BE49-F238E27FC236}">
                <a16:creationId xmlns:a16="http://schemas.microsoft.com/office/drawing/2014/main" id="{54FABAC0-495C-1B40-0940-54E7B9E87780}"/>
              </a:ext>
            </a:extLst>
          </p:cNvPr>
          <p:cNvSpPr/>
          <p:nvPr/>
        </p:nvSpPr>
        <p:spPr>
          <a:xfrm>
            <a:off x="0" y="284254"/>
            <a:ext cx="4813478" cy="461665"/>
          </a:xfrm>
          <a:prstGeom prst="rect">
            <a:avLst/>
          </a:prstGeom>
          <a:noFill/>
          <a:ln>
            <a:noFill/>
          </a:ln>
        </p:spPr>
        <p:txBody>
          <a:bodyPr wrap="square" lIns="91440" tIns="45720" rIns="91440" bIns="45720">
            <a:spAutoFit/>
          </a:bodyPr>
          <a:lstStyle/>
          <a:p>
            <a:pPr algn="ctr"/>
            <a:r>
              <a:rPr lang="it-IT" sz="24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EYE MODULE</a:t>
            </a:r>
            <a:endParaRPr lang="it-IT" sz="2400"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endParaRPr>
          </a:p>
        </p:txBody>
      </p:sp>
      <p:pic>
        <p:nvPicPr>
          <p:cNvPr id="4" name="Immagine 3" descr="Immagine che contiene cerchio, cartone animato, creatività, arte&#10;&#10;Il contenuto generato dall'IA potrebbe non essere corretto.">
            <a:extLst>
              <a:ext uri="{FF2B5EF4-FFF2-40B4-BE49-F238E27FC236}">
                <a16:creationId xmlns:a16="http://schemas.microsoft.com/office/drawing/2014/main" id="{0A647E41-442F-5827-870F-2AA8ECC299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054" y="-118099"/>
            <a:ext cx="1266372" cy="1266372"/>
          </a:xfrm>
          <a:prstGeom prst="rect">
            <a:avLst/>
          </a:prstGeom>
        </p:spPr>
      </p:pic>
      <p:sp>
        <p:nvSpPr>
          <p:cNvPr id="7" name="Rettangolo con angoli arrotondati 6">
            <a:extLst>
              <a:ext uri="{FF2B5EF4-FFF2-40B4-BE49-F238E27FC236}">
                <a16:creationId xmlns:a16="http://schemas.microsoft.com/office/drawing/2014/main" id="{7D23F818-8084-C032-7670-5262B183F7A4}"/>
              </a:ext>
            </a:extLst>
          </p:cNvPr>
          <p:cNvSpPr/>
          <p:nvPr/>
        </p:nvSpPr>
        <p:spPr>
          <a:xfrm>
            <a:off x="1469628" y="4871922"/>
            <a:ext cx="1875513" cy="1001143"/>
          </a:xfrm>
          <a:prstGeom prst="roundRect">
            <a:avLst/>
          </a:prstGeom>
          <a:noFill/>
          <a:ln>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latin typeface="Alata" pitchFamily="2" charset="0"/>
                <a:cs typeface="Alata" pitchFamily="2" charset="0"/>
              </a:rPr>
              <a:t>Frame</a:t>
            </a:r>
          </a:p>
          <a:p>
            <a:pPr algn="ctr"/>
            <a:r>
              <a:rPr lang="it-IT" dirty="0">
                <a:latin typeface="Alata" pitchFamily="2" charset="0"/>
                <a:cs typeface="Alata" pitchFamily="2" charset="0"/>
              </a:rPr>
              <a:t>pre-processing Pipeline</a:t>
            </a:r>
          </a:p>
        </p:txBody>
      </p:sp>
      <p:pic>
        <p:nvPicPr>
          <p:cNvPr id="15" name="Immagine 14" descr="Immagine che contiene Elementi grafici, schermata, design&#10;&#10;Il contenuto generato dall'IA potrebbe non essere corretto.">
            <a:extLst>
              <a:ext uri="{FF2B5EF4-FFF2-40B4-BE49-F238E27FC236}">
                <a16:creationId xmlns:a16="http://schemas.microsoft.com/office/drawing/2014/main" id="{155FB121-E81A-375C-A038-D492C870F0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5542" y="3175454"/>
            <a:ext cx="882884" cy="882884"/>
          </a:xfrm>
          <a:prstGeom prst="rect">
            <a:avLst/>
          </a:prstGeom>
        </p:spPr>
      </p:pic>
      <p:pic>
        <p:nvPicPr>
          <p:cNvPr id="23" name="Immagine 22" descr="Immagine che contiene schermata, Elementi grafici, Policromia, cerchio&#10;&#10;Il contenuto generato dall'IA potrebbe non essere corretto.">
            <a:extLst>
              <a:ext uri="{FF2B5EF4-FFF2-40B4-BE49-F238E27FC236}">
                <a16:creationId xmlns:a16="http://schemas.microsoft.com/office/drawing/2014/main" id="{06072922-99C9-254F-3465-8F52D428E04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97205" y="4431773"/>
            <a:ext cx="1060200" cy="1060200"/>
          </a:xfrm>
          <a:prstGeom prst="rect">
            <a:avLst/>
          </a:prstGeom>
        </p:spPr>
      </p:pic>
      <p:grpSp>
        <p:nvGrpSpPr>
          <p:cNvPr id="37" name="Gruppo 36">
            <a:extLst>
              <a:ext uri="{FF2B5EF4-FFF2-40B4-BE49-F238E27FC236}">
                <a16:creationId xmlns:a16="http://schemas.microsoft.com/office/drawing/2014/main" id="{D3CAA743-9985-5E69-36AF-3BA07EECCDB7}"/>
              </a:ext>
            </a:extLst>
          </p:cNvPr>
          <p:cNvGrpSpPr/>
          <p:nvPr/>
        </p:nvGrpSpPr>
        <p:grpSpPr>
          <a:xfrm>
            <a:off x="7776166" y="4433514"/>
            <a:ext cx="892234" cy="862247"/>
            <a:chOff x="7520913" y="4900242"/>
            <a:chExt cx="892234" cy="862247"/>
          </a:xfrm>
        </p:grpSpPr>
        <p:pic>
          <p:nvPicPr>
            <p:cNvPr id="27" name="Immagine 26" descr="Immagine che contiene simbolo&#10;&#10;Il contenuto generato dall'IA potrebbe non essere corretto.">
              <a:extLst>
                <a:ext uri="{FF2B5EF4-FFF2-40B4-BE49-F238E27FC236}">
                  <a16:creationId xmlns:a16="http://schemas.microsoft.com/office/drawing/2014/main" id="{AEF3BF15-6994-EB03-34DA-2C0F9229A16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20913" y="4900242"/>
              <a:ext cx="621005" cy="621005"/>
            </a:xfrm>
            <a:prstGeom prst="rect">
              <a:avLst/>
            </a:prstGeom>
          </p:spPr>
        </p:pic>
        <p:pic>
          <p:nvPicPr>
            <p:cNvPr id="29" name="Immagine 28" descr="Immagine che contiene simbolo&#10;&#10;Il contenuto generato dall'IA potrebbe non essere corretto.">
              <a:extLst>
                <a:ext uri="{FF2B5EF4-FFF2-40B4-BE49-F238E27FC236}">
                  <a16:creationId xmlns:a16="http://schemas.microsoft.com/office/drawing/2014/main" id="{6B8CC9BD-1FED-5F3A-288C-A956BEF2E08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92142" y="5141484"/>
              <a:ext cx="621005" cy="621005"/>
            </a:xfrm>
            <a:prstGeom prst="rect">
              <a:avLst/>
            </a:prstGeom>
          </p:spPr>
        </p:pic>
      </p:grpSp>
      <p:sp>
        <p:nvSpPr>
          <p:cNvPr id="30" name="Segno di addizione 29">
            <a:extLst>
              <a:ext uri="{FF2B5EF4-FFF2-40B4-BE49-F238E27FC236}">
                <a16:creationId xmlns:a16="http://schemas.microsoft.com/office/drawing/2014/main" id="{6E5ABC34-ECA3-DBF5-D19F-227E6AF13591}"/>
              </a:ext>
            </a:extLst>
          </p:cNvPr>
          <p:cNvSpPr/>
          <p:nvPr/>
        </p:nvSpPr>
        <p:spPr>
          <a:xfrm>
            <a:off x="6473686" y="4478114"/>
            <a:ext cx="787617" cy="787617"/>
          </a:xfrm>
          <a:prstGeom prst="mathPlus">
            <a:avLst/>
          </a:prstGeom>
          <a:solidFill>
            <a:srgbClr val="FF9900"/>
          </a:solidFill>
          <a:ln>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b="1" dirty="0">
              <a:ln w="22225">
                <a:solidFill>
                  <a:schemeClr val="accent2"/>
                </a:solidFill>
                <a:prstDash val="solid"/>
              </a:ln>
              <a:solidFill>
                <a:schemeClr val="accent2">
                  <a:lumMod val="40000"/>
                  <a:lumOff val="60000"/>
                </a:schemeClr>
              </a:solidFill>
            </a:endParaRPr>
          </a:p>
        </p:txBody>
      </p:sp>
      <p:sp>
        <p:nvSpPr>
          <p:cNvPr id="31" name="Uguale a 30">
            <a:extLst>
              <a:ext uri="{FF2B5EF4-FFF2-40B4-BE49-F238E27FC236}">
                <a16:creationId xmlns:a16="http://schemas.microsoft.com/office/drawing/2014/main" id="{43D7EB14-9887-F4E1-D92F-C271238218EF}"/>
              </a:ext>
            </a:extLst>
          </p:cNvPr>
          <p:cNvSpPr/>
          <p:nvPr/>
        </p:nvSpPr>
        <p:spPr>
          <a:xfrm>
            <a:off x="9452968" y="4571763"/>
            <a:ext cx="600321" cy="600321"/>
          </a:xfrm>
          <a:prstGeom prst="mathEqual">
            <a:avLst/>
          </a:prstGeom>
          <a:solidFill>
            <a:srgbClr val="FF9900"/>
          </a:solidFill>
          <a:ln>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solidFill>
                <a:schemeClr val="tx1"/>
              </a:solidFill>
            </a:endParaRPr>
          </a:p>
        </p:txBody>
      </p:sp>
      <p:pic>
        <p:nvPicPr>
          <p:cNvPr id="33" name="Immagine 32" descr="Immagine che contiene clipart, cartone animato&#10;&#10;Il contenuto generato dall'IA potrebbe non essere corretto.">
            <a:extLst>
              <a:ext uri="{FF2B5EF4-FFF2-40B4-BE49-F238E27FC236}">
                <a16:creationId xmlns:a16="http://schemas.microsoft.com/office/drawing/2014/main" id="{5BE3F38E-1CEE-3BDD-04E8-C82BB32D647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515932" y="4346027"/>
            <a:ext cx="954231" cy="954231"/>
          </a:xfrm>
          <a:prstGeom prst="rect">
            <a:avLst/>
          </a:prstGeom>
        </p:spPr>
      </p:pic>
      <p:grpSp>
        <p:nvGrpSpPr>
          <p:cNvPr id="36" name="Gruppo 35">
            <a:extLst>
              <a:ext uri="{FF2B5EF4-FFF2-40B4-BE49-F238E27FC236}">
                <a16:creationId xmlns:a16="http://schemas.microsoft.com/office/drawing/2014/main" id="{904D95BB-CEF6-E360-F7D0-100BEDAF8572}"/>
              </a:ext>
            </a:extLst>
          </p:cNvPr>
          <p:cNvGrpSpPr/>
          <p:nvPr/>
        </p:nvGrpSpPr>
        <p:grpSpPr>
          <a:xfrm>
            <a:off x="4274001" y="1490648"/>
            <a:ext cx="4696825" cy="2080377"/>
            <a:chOff x="3608175" y="1406013"/>
            <a:chExt cx="5368677" cy="2377962"/>
          </a:xfrm>
        </p:grpSpPr>
        <p:sp>
          <p:nvSpPr>
            <p:cNvPr id="9" name="Rettangolo con angoli arrotondati 8">
              <a:extLst>
                <a:ext uri="{FF2B5EF4-FFF2-40B4-BE49-F238E27FC236}">
                  <a16:creationId xmlns:a16="http://schemas.microsoft.com/office/drawing/2014/main" id="{E6B1D32E-A6AA-88C5-593F-EE91D92B2EF8}"/>
                </a:ext>
              </a:extLst>
            </p:cNvPr>
            <p:cNvSpPr/>
            <p:nvPr/>
          </p:nvSpPr>
          <p:spPr>
            <a:xfrm>
              <a:off x="3608175" y="1406013"/>
              <a:ext cx="5368677" cy="2377962"/>
            </a:xfrm>
            <a:prstGeom prst="round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it-IT" dirty="0"/>
            </a:p>
          </p:txBody>
        </p:sp>
        <p:pic>
          <p:nvPicPr>
            <p:cNvPr id="13" name="Immagine 12" descr="Immagine che contiene testo, Carattere, schermata, Elementi grafici&#10;&#10;Il contenuto generato dall'IA potrebbe non essere corretto.">
              <a:extLst>
                <a:ext uri="{FF2B5EF4-FFF2-40B4-BE49-F238E27FC236}">
                  <a16:creationId xmlns:a16="http://schemas.microsoft.com/office/drawing/2014/main" id="{3B23D145-27C6-DE27-6715-2949E860D2E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292732" y="2416172"/>
              <a:ext cx="2070721" cy="1165520"/>
            </a:xfrm>
            <a:prstGeom prst="roundRect">
              <a:avLst>
                <a:gd name="adj" fmla="val 8594"/>
              </a:avLst>
            </a:prstGeom>
            <a:solidFill>
              <a:srgbClr val="FFFFFF">
                <a:shade val="85000"/>
              </a:srgbClr>
            </a:solidFill>
            <a:ln>
              <a:noFill/>
            </a:ln>
            <a:effectLst/>
          </p:spPr>
        </p:pic>
        <p:pic>
          <p:nvPicPr>
            <p:cNvPr id="35" name="Immagine 34" descr="Immagine che contiene Carattere, Elementi grafici, grafica, logo&#10;&#10;Il contenuto generato dall'IA potrebbe non essere corretto.">
              <a:extLst>
                <a:ext uri="{FF2B5EF4-FFF2-40B4-BE49-F238E27FC236}">
                  <a16:creationId xmlns:a16="http://schemas.microsoft.com/office/drawing/2014/main" id="{6EA85A16-4D5A-D584-B8C4-13A2D0640B9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116436" y="1539637"/>
              <a:ext cx="4367629" cy="674253"/>
            </a:xfrm>
            <a:prstGeom prst="rect">
              <a:avLst/>
            </a:prstGeom>
          </p:spPr>
        </p:pic>
      </p:grpSp>
      <p:cxnSp>
        <p:nvCxnSpPr>
          <p:cNvPr id="57" name="Connettore 2 56">
            <a:extLst>
              <a:ext uri="{FF2B5EF4-FFF2-40B4-BE49-F238E27FC236}">
                <a16:creationId xmlns:a16="http://schemas.microsoft.com/office/drawing/2014/main" id="{9C2DAEDE-992A-B043-811F-00A056A6323E}"/>
              </a:ext>
            </a:extLst>
          </p:cNvPr>
          <p:cNvCxnSpPr/>
          <p:nvPr/>
        </p:nvCxnSpPr>
        <p:spPr>
          <a:xfrm flipV="1">
            <a:off x="5127305" y="3706761"/>
            <a:ext cx="0" cy="560439"/>
          </a:xfrm>
          <a:prstGeom prst="straightConnector1">
            <a:avLst/>
          </a:prstGeom>
          <a:ln w="38100">
            <a:solidFill>
              <a:srgbClr val="FF9900"/>
            </a:solidFill>
            <a:tailEnd type="triangle"/>
          </a:ln>
        </p:spPr>
        <p:style>
          <a:lnRef idx="2">
            <a:schemeClr val="accent1"/>
          </a:lnRef>
          <a:fillRef idx="0">
            <a:schemeClr val="accent1"/>
          </a:fillRef>
          <a:effectRef idx="1">
            <a:schemeClr val="accent1"/>
          </a:effectRef>
          <a:fontRef idx="minor">
            <a:schemeClr val="tx1"/>
          </a:fontRef>
        </p:style>
      </p:cxnSp>
      <p:cxnSp>
        <p:nvCxnSpPr>
          <p:cNvPr id="59" name="Connettore 2 58">
            <a:extLst>
              <a:ext uri="{FF2B5EF4-FFF2-40B4-BE49-F238E27FC236}">
                <a16:creationId xmlns:a16="http://schemas.microsoft.com/office/drawing/2014/main" id="{D2B0B174-C442-6A6D-3D10-BC7541BD1B5A}"/>
              </a:ext>
            </a:extLst>
          </p:cNvPr>
          <p:cNvCxnSpPr>
            <a:cxnSpLocks/>
          </p:cNvCxnSpPr>
          <p:nvPr/>
        </p:nvCxnSpPr>
        <p:spPr>
          <a:xfrm>
            <a:off x="8185137" y="3752166"/>
            <a:ext cx="0" cy="529782"/>
          </a:xfrm>
          <a:prstGeom prst="straightConnector1">
            <a:avLst/>
          </a:prstGeom>
          <a:ln w="38100">
            <a:solidFill>
              <a:srgbClr val="FF9900"/>
            </a:solidFill>
            <a:tailEnd type="triangle"/>
          </a:ln>
        </p:spPr>
        <p:style>
          <a:lnRef idx="2">
            <a:schemeClr val="accent1"/>
          </a:lnRef>
          <a:fillRef idx="0">
            <a:schemeClr val="accent1"/>
          </a:fillRef>
          <a:effectRef idx="1">
            <a:schemeClr val="accent1"/>
          </a:effectRef>
          <a:fontRef idx="minor">
            <a:schemeClr val="tx1"/>
          </a:fontRef>
        </p:style>
      </p:cxnSp>
      <p:cxnSp>
        <p:nvCxnSpPr>
          <p:cNvPr id="69" name="Connettore diritto 68">
            <a:extLst>
              <a:ext uri="{FF2B5EF4-FFF2-40B4-BE49-F238E27FC236}">
                <a16:creationId xmlns:a16="http://schemas.microsoft.com/office/drawing/2014/main" id="{280902D3-1A83-6F0E-F4E0-DB42DBCF759A}"/>
              </a:ext>
            </a:extLst>
          </p:cNvPr>
          <p:cNvCxnSpPr/>
          <p:nvPr/>
        </p:nvCxnSpPr>
        <p:spPr>
          <a:xfrm flipH="1">
            <a:off x="1006984" y="2063654"/>
            <a:ext cx="441442" cy="0"/>
          </a:xfrm>
          <a:prstGeom prst="line">
            <a:avLst/>
          </a:prstGeom>
          <a:ln w="38100">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71" name="Connettore 2 70">
            <a:extLst>
              <a:ext uri="{FF2B5EF4-FFF2-40B4-BE49-F238E27FC236}">
                <a16:creationId xmlns:a16="http://schemas.microsoft.com/office/drawing/2014/main" id="{6BDCF10F-7CE9-540E-C939-9AB063708AC6}"/>
              </a:ext>
            </a:extLst>
          </p:cNvPr>
          <p:cNvCxnSpPr/>
          <p:nvPr/>
        </p:nvCxnSpPr>
        <p:spPr>
          <a:xfrm>
            <a:off x="1006984" y="2048495"/>
            <a:ext cx="0" cy="964681"/>
          </a:xfrm>
          <a:prstGeom prst="straightConnector1">
            <a:avLst/>
          </a:prstGeom>
          <a:ln w="38100">
            <a:solidFill>
              <a:srgbClr val="FF9900"/>
            </a:solidFill>
            <a:tailEnd type="triangle"/>
          </a:ln>
        </p:spPr>
        <p:style>
          <a:lnRef idx="2">
            <a:schemeClr val="accent1"/>
          </a:lnRef>
          <a:fillRef idx="0">
            <a:schemeClr val="accent1"/>
          </a:fillRef>
          <a:effectRef idx="1">
            <a:schemeClr val="accent1"/>
          </a:effectRef>
          <a:fontRef idx="minor">
            <a:schemeClr val="tx1"/>
          </a:fontRef>
        </p:style>
      </p:cxnSp>
      <p:cxnSp>
        <p:nvCxnSpPr>
          <p:cNvPr id="73" name="Connettore diritto 72">
            <a:extLst>
              <a:ext uri="{FF2B5EF4-FFF2-40B4-BE49-F238E27FC236}">
                <a16:creationId xmlns:a16="http://schemas.microsoft.com/office/drawing/2014/main" id="{D31DFE8C-4DEC-9B8F-33C0-C1488CEEDB8A}"/>
              </a:ext>
            </a:extLst>
          </p:cNvPr>
          <p:cNvCxnSpPr/>
          <p:nvPr/>
        </p:nvCxnSpPr>
        <p:spPr>
          <a:xfrm>
            <a:off x="1006984" y="4267200"/>
            <a:ext cx="0" cy="1150374"/>
          </a:xfrm>
          <a:prstGeom prst="line">
            <a:avLst/>
          </a:prstGeom>
          <a:ln w="38100">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75" name="Connettore 2 74">
            <a:extLst>
              <a:ext uri="{FF2B5EF4-FFF2-40B4-BE49-F238E27FC236}">
                <a16:creationId xmlns:a16="http://schemas.microsoft.com/office/drawing/2014/main" id="{6B36FBEA-C9E8-B03E-9B3C-439883BC9666}"/>
              </a:ext>
            </a:extLst>
          </p:cNvPr>
          <p:cNvCxnSpPr/>
          <p:nvPr/>
        </p:nvCxnSpPr>
        <p:spPr>
          <a:xfrm>
            <a:off x="988204" y="5420507"/>
            <a:ext cx="441442" cy="0"/>
          </a:xfrm>
          <a:prstGeom prst="straightConnector1">
            <a:avLst/>
          </a:prstGeom>
          <a:ln w="38100">
            <a:solidFill>
              <a:srgbClr val="FF9900"/>
            </a:solidFill>
            <a:tailEnd type="triangle"/>
          </a:ln>
        </p:spPr>
        <p:style>
          <a:lnRef idx="2">
            <a:schemeClr val="accent1"/>
          </a:lnRef>
          <a:fillRef idx="0">
            <a:schemeClr val="accent1"/>
          </a:fillRef>
          <a:effectRef idx="1">
            <a:schemeClr val="accent1"/>
          </a:effectRef>
          <a:fontRef idx="minor">
            <a:schemeClr val="tx1"/>
          </a:fontRef>
        </p:style>
      </p:cxnSp>
      <p:cxnSp>
        <p:nvCxnSpPr>
          <p:cNvPr id="77" name="Connettore 2 76">
            <a:extLst>
              <a:ext uri="{FF2B5EF4-FFF2-40B4-BE49-F238E27FC236}">
                <a16:creationId xmlns:a16="http://schemas.microsoft.com/office/drawing/2014/main" id="{ABEC7A77-AD31-6085-898B-E65D831D6F10}"/>
              </a:ext>
            </a:extLst>
          </p:cNvPr>
          <p:cNvCxnSpPr/>
          <p:nvPr/>
        </p:nvCxnSpPr>
        <p:spPr>
          <a:xfrm>
            <a:off x="3952568" y="4744016"/>
            <a:ext cx="501445" cy="0"/>
          </a:xfrm>
          <a:prstGeom prst="straightConnector1">
            <a:avLst/>
          </a:prstGeom>
          <a:ln w="38100">
            <a:solidFill>
              <a:srgbClr val="FF9900"/>
            </a:solidFill>
            <a:tailEnd type="triangle"/>
          </a:ln>
        </p:spPr>
        <p:style>
          <a:lnRef idx="2">
            <a:schemeClr val="accent1"/>
          </a:lnRef>
          <a:fillRef idx="0">
            <a:schemeClr val="accent1"/>
          </a:fillRef>
          <a:effectRef idx="1">
            <a:schemeClr val="accent1"/>
          </a:effectRef>
          <a:fontRef idx="minor">
            <a:schemeClr val="tx1"/>
          </a:fontRef>
        </p:style>
      </p:cxnSp>
      <p:cxnSp>
        <p:nvCxnSpPr>
          <p:cNvPr id="79" name="Connettore diritto 78">
            <a:extLst>
              <a:ext uri="{FF2B5EF4-FFF2-40B4-BE49-F238E27FC236}">
                <a16:creationId xmlns:a16="http://schemas.microsoft.com/office/drawing/2014/main" id="{BF5FD260-CD9A-94AC-C731-33C4D3958E48}"/>
              </a:ext>
            </a:extLst>
          </p:cNvPr>
          <p:cNvCxnSpPr/>
          <p:nvPr/>
        </p:nvCxnSpPr>
        <p:spPr>
          <a:xfrm>
            <a:off x="3421626" y="5417574"/>
            <a:ext cx="530942" cy="0"/>
          </a:xfrm>
          <a:prstGeom prst="line">
            <a:avLst/>
          </a:prstGeom>
          <a:ln w="38100">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81" name="Connettore diritto 80">
            <a:extLst>
              <a:ext uri="{FF2B5EF4-FFF2-40B4-BE49-F238E27FC236}">
                <a16:creationId xmlns:a16="http://schemas.microsoft.com/office/drawing/2014/main" id="{ACC89885-532B-6C98-8FF2-DFD7616B58C8}"/>
              </a:ext>
            </a:extLst>
          </p:cNvPr>
          <p:cNvCxnSpPr>
            <a:cxnSpLocks/>
          </p:cNvCxnSpPr>
          <p:nvPr/>
        </p:nvCxnSpPr>
        <p:spPr>
          <a:xfrm flipV="1">
            <a:off x="3952568" y="4724400"/>
            <a:ext cx="0" cy="714375"/>
          </a:xfrm>
          <a:prstGeom prst="line">
            <a:avLst/>
          </a:prstGeom>
          <a:ln w="38100">
            <a:solidFill>
              <a:srgbClr val="FF9900"/>
            </a:solidFill>
          </a:ln>
        </p:spPr>
        <p:style>
          <a:lnRef idx="2">
            <a:schemeClr val="accent1"/>
          </a:lnRef>
          <a:fillRef idx="0">
            <a:schemeClr val="accent1"/>
          </a:fillRef>
          <a:effectRef idx="1">
            <a:schemeClr val="accent1"/>
          </a:effectRef>
          <a:fontRef idx="minor">
            <a:schemeClr val="tx1"/>
          </a:fontRef>
        </p:style>
      </p:cxnSp>
      <p:sp>
        <p:nvSpPr>
          <p:cNvPr id="84" name="CasellaDiTesto 83">
            <a:extLst>
              <a:ext uri="{FF2B5EF4-FFF2-40B4-BE49-F238E27FC236}">
                <a16:creationId xmlns:a16="http://schemas.microsoft.com/office/drawing/2014/main" id="{930985BE-4663-FCD6-F282-B33C06729A5C}"/>
              </a:ext>
            </a:extLst>
          </p:cNvPr>
          <p:cNvSpPr txBox="1"/>
          <p:nvPr/>
        </p:nvSpPr>
        <p:spPr>
          <a:xfrm>
            <a:off x="1451566" y="3293730"/>
            <a:ext cx="1159823" cy="646331"/>
          </a:xfrm>
          <a:prstGeom prst="rect">
            <a:avLst/>
          </a:prstGeom>
          <a:noFill/>
        </p:spPr>
        <p:txBody>
          <a:bodyPr wrap="square" rtlCol="0">
            <a:spAutoFit/>
          </a:bodyPr>
          <a:lstStyle/>
          <a:p>
            <a:pPr algn="ctr"/>
            <a:r>
              <a:rPr lang="it-IT" dirty="0">
                <a:solidFill>
                  <a:schemeClr val="bg1"/>
                </a:solidFill>
                <a:latin typeface="Alata" pitchFamily="2" charset="0"/>
                <a:cs typeface="Alata" pitchFamily="2" charset="0"/>
              </a:rPr>
              <a:t>Acquired frame</a:t>
            </a:r>
          </a:p>
        </p:txBody>
      </p:sp>
      <p:sp>
        <p:nvSpPr>
          <p:cNvPr id="85" name="CasellaDiTesto 84">
            <a:extLst>
              <a:ext uri="{FF2B5EF4-FFF2-40B4-BE49-F238E27FC236}">
                <a16:creationId xmlns:a16="http://schemas.microsoft.com/office/drawing/2014/main" id="{17B5426A-57EE-8962-F700-0D58788DFAF8}"/>
              </a:ext>
            </a:extLst>
          </p:cNvPr>
          <p:cNvSpPr txBox="1"/>
          <p:nvPr/>
        </p:nvSpPr>
        <p:spPr>
          <a:xfrm>
            <a:off x="4437139" y="5509128"/>
            <a:ext cx="1378845" cy="646331"/>
          </a:xfrm>
          <a:prstGeom prst="rect">
            <a:avLst/>
          </a:prstGeom>
          <a:noFill/>
        </p:spPr>
        <p:txBody>
          <a:bodyPr wrap="square" rtlCol="0">
            <a:spAutoFit/>
          </a:bodyPr>
          <a:lstStyle/>
          <a:p>
            <a:pPr algn="ctr"/>
            <a:r>
              <a:rPr lang="it-IT" dirty="0">
                <a:solidFill>
                  <a:schemeClr val="bg1"/>
                </a:solidFill>
                <a:latin typeface="Alata" pitchFamily="2" charset="0"/>
                <a:cs typeface="Alata" pitchFamily="2" charset="0"/>
              </a:rPr>
              <a:t>Processed</a:t>
            </a:r>
          </a:p>
          <a:p>
            <a:pPr algn="ctr"/>
            <a:r>
              <a:rPr lang="it-IT" dirty="0">
                <a:solidFill>
                  <a:schemeClr val="bg1"/>
                </a:solidFill>
                <a:latin typeface="Alata" pitchFamily="2" charset="0"/>
                <a:cs typeface="Alata" pitchFamily="2" charset="0"/>
              </a:rPr>
              <a:t>frame</a:t>
            </a:r>
          </a:p>
        </p:txBody>
      </p:sp>
      <p:sp>
        <p:nvSpPr>
          <p:cNvPr id="86" name="CasellaDiTesto 85">
            <a:extLst>
              <a:ext uri="{FF2B5EF4-FFF2-40B4-BE49-F238E27FC236}">
                <a16:creationId xmlns:a16="http://schemas.microsoft.com/office/drawing/2014/main" id="{1A62B144-03D0-3512-8427-6D4B5916AFFB}"/>
              </a:ext>
            </a:extLst>
          </p:cNvPr>
          <p:cNvSpPr txBox="1"/>
          <p:nvPr/>
        </p:nvSpPr>
        <p:spPr>
          <a:xfrm>
            <a:off x="7196969" y="5370628"/>
            <a:ext cx="2255999" cy="923330"/>
          </a:xfrm>
          <a:prstGeom prst="rect">
            <a:avLst/>
          </a:prstGeom>
          <a:noFill/>
        </p:spPr>
        <p:txBody>
          <a:bodyPr wrap="square" rtlCol="0">
            <a:spAutoFit/>
          </a:bodyPr>
          <a:lstStyle/>
          <a:p>
            <a:pPr algn="ctr"/>
            <a:r>
              <a:rPr lang="it-IT" dirty="0">
                <a:solidFill>
                  <a:schemeClr val="bg1"/>
                </a:solidFill>
                <a:latin typeface="Alata" pitchFamily="2" charset="0"/>
                <a:cs typeface="Alata" pitchFamily="2" charset="0"/>
              </a:rPr>
              <a:t>Bounding Boxes</a:t>
            </a:r>
          </a:p>
          <a:p>
            <a:pPr algn="ctr"/>
            <a:r>
              <a:rPr lang="it-IT" dirty="0">
                <a:solidFill>
                  <a:schemeClr val="bg1"/>
                </a:solidFill>
                <a:latin typeface="Alata" pitchFamily="2" charset="0"/>
                <a:cs typeface="Alata" pitchFamily="2" charset="0"/>
              </a:rPr>
              <a:t>&amp;</a:t>
            </a:r>
          </a:p>
          <a:p>
            <a:pPr algn="ctr"/>
            <a:r>
              <a:rPr lang="it-IT" dirty="0">
                <a:solidFill>
                  <a:schemeClr val="bg1"/>
                </a:solidFill>
                <a:latin typeface="Alata" pitchFamily="2" charset="0"/>
                <a:cs typeface="Alata" pitchFamily="2" charset="0"/>
              </a:rPr>
              <a:t>Labels</a:t>
            </a:r>
          </a:p>
        </p:txBody>
      </p:sp>
      <p:sp>
        <p:nvSpPr>
          <p:cNvPr id="87" name="CasellaDiTesto 86">
            <a:extLst>
              <a:ext uri="{FF2B5EF4-FFF2-40B4-BE49-F238E27FC236}">
                <a16:creationId xmlns:a16="http://schemas.microsoft.com/office/drawing/2014/main" id="{D8FF4FF0-2629-2216-E6AD-8150888245A7}"/>
              </a:ext>
            </a:extLst>
          </p:cNvPr>
          <p:cNvSpPr txBox="1"/>
          <p:nvPr/>
        </p:nvSpPr>
        <p:spPr>
          <a:xfrm>
            <a:off x="9865047" y="5509128"/>
            <a:ext cx="2255999" cy="646331"/>
          </a:xfrm>
          <a:prstGeom prst="rect">
            <a:avLst/>
          </a:prstGeom>
          <a:noFill/>
        </p:spPr>
        <p:txBody>
          <a:bodyPr wrap="square" rtlCol="0">
            <a:spAutoFit/>
          </a:bodyPr>
          <a:lstStyle/>
          <a:p>
            <a:pPr algn="ctr"/>
            <a:r>
              <a:rPr lang="it-IT" dirty="0">
                <a:solidFill>
                  <a:schemeClr val="bg1"/>
                </a:solidFill>
                <a:latin typeface="Alata" pitchFamily="2" charset="0"/>
                <a:cs typeface="Alata" pitchFamily="2" charset="0"/>
              </a:rPr>
              <a:t>Image with detections</a:t>
            </a:r>
          </a:p>
        </p:txBody>
      </p:sp>
    </p:spTree>
    <p:extLst>
      <p:ext uri="{BB962C8B-B14F-4D97-AF65-F5344CB8AC3E}">
        <p14:creationId xmlns:p14="http://schemas.microsoft.com/office/powerpoint/2010/main" val="22379387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B9A616-523D-8EDC-8CB1-E723AB8D3067}"/>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29D6931-8331-ED4A-FFA5-EB3395459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BCD2EFFA-D857-87A8-07B9-C2188CA022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FFD34A5A-A210-37AB-DEDB-08FA5C4572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4E60DFD2-41DE-9A1A-BEB7-24420DBBED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B3387CF2-0830-8F01-AD2B-9C7CFE6CB8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915D02B0-24A4-A0FA-948E-0F4623F25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DE6E16F3-C329-889B-74CE-AC182A7D76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4EDB3A50-2639-3740-3EC1-4D17B89B24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Immagine 1">
            <a:extLst>
              <a:ext uri="{FF2B5EF4-FFF2-40B4-BE49-F238E27FC236}">
                <a16:creationId xmlns:a16="http://schemas.microsoft.com/office/drawing/2014/main" id="{E1E37383-6C71-6A37-2D5A-57A022F152E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664054" y="2662408"/>
            <a:ext cx="1102514" cy="1102515"/>
          </a:xfrm>
          <a:prstGeom prst="rect">
            <a:avLst/>
          </a:prstGeom>
        </p:spPr>
      </p:pic>
      <p:sp>
        <p:nvSpPr>
          <p:cNvPr id="3" name="Freccia a destra 2">
            <a:extLst>
              <a:ext uri="{FF2B5EF4-FFF2-40B4-BE49-F238E27FC236}">
                <a16:creationId xmlns:a16="http://schemas.microsoft.com/office/drawing/2014/main" id="{1232937D-15B4-B6EC-E6C9-777B328D507A}"/>
              </a:ext>
            </a:extLst>
          </p:cNvPr>
          <p:cNvSpPr/>
          <p:nvPr/>
        </p:nvSpPr>
        <p:spPr>
          <a:xfrm>
            <a:off x="3963875" y="3093149"/>
            <a:ext cx="640764" cy="241032"/>
          </a:xfrm>
          <a:prstGeom prst="rightArrow">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8" name="Rettangolo con angoli arrotondati 7">
            <a:extLst>
              <a:ext uri="{FF2B5EF4-FFF2-40B4-BE49-F238E27FC236}">
                <a16:creationId xmlns:a16="http://schemas.microsoft.com/office/drawing/2014/main" id="{5A69BF01-25A5-6A55-BCB9-05CAC68D3C23}"/>
              </a:ext>
            </a:extLst>
          </p:cNvPr>
          <p:cNvSpPr/>
          <p:nvPr/>
        </p:nvSpPr>
        <p:spPr>
          <a:xfrm>
            <a:off x="4844823" y="2727661"/>
            <a:ext cx="1932972" cy="955795"/>
          </a:xfrm>
          <a:prstGeom prst="round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2000" b="1" dirty="0">
                <a:solidFill>
                  <a:schemeClr val="bg1"/>
                </a:solidFill>
              </a:rPr>
              <a:t>Python</a:t>
            </a:r>
          </a:p>
          <a:p>
            <a:pPr algn="ctr"/>
            <a:r>
              <a:rPr lang="it-IT" sz="2000" b="1" dirty="0">
                <a:solidFill>
                  <a:schemeClr val="bg1"/>
                </a:solidFill>
              </a:rPr>
              <a:t>Sounddevice</a:t>
            </a:r>
          </a:p>
        </p:txBody>
      </p:sp>
      <p:sp>
        <p:nvSpPr>
          <p:cNvPr id="9" name="Freccia a destra 8">
            <a:extLst>
              <a:ext uri="{FF2B5EF4-FFF2-40B4-BE49-F238E27FC236}">
                <a16:creationId xmlns:a16="http://schemas.microsoft.com/office/drawing/2014/main" id="{9CE536B5-1AD8-0C9C-DBFD-297F4F421178}"/>
              </a:ext>
            </a:extLst>
          </p:cNvPr>
          <p:cNvSpPr/>
          <p:nvPr/>
        </p:nvSpPr>
        <p:spPr>
          <a:xfrm>
            <a:off x="7122852" y="3093149"/>
            <a:ext cx="640764" cy="241032"/>
          </a:xfrm>
          <a:prstGeom prst="rightArrow">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5" name="Rettangolo 4">
            <a:extLst>
              <a:ext uri="{FF2B5EF4-FFF2-40B4-BE49-F238E27FC236}">
                <a16:creationId xmlns:a16="http://schemas.microsoft.com/office/drawing/2014/main" id="{0DB905A0-8B20-82A5-2FF1-6066A5D7CFA0}"/>
              </a:ext>
            </a:extLst>
          </p:cNvPr>
          <p:cNvSpPr/>
          <p:nvPr/>
        </p:nvSpPr>
        <p:spPr>
          <a:xfrm>
            <a:off x="563682" y="308488"/>
            <a:ext cx="5432003" cy="461665"/>
          </a:xfrm>
          <a:prstGeom prst="rect">
            <a:avLst/>
          </a:prstGeom>
          <a:noFill/>
          <a:ln>
            <a:noFill/>
          </a:ln>
        </p:spPr>
        <p:txBody>
          <a:bodyPr wrap="square" lIns="91440" tIns="45720" rIns="91440" bIns="45720">
            <a:spAutoFit/>
          </a:bodyPr>
          <a:lstStyle/>
          <a:p>
            <a:pPr algn="ctr"/>
            <a:r>
              <a:rPr lang="it-IT" sz="2400"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MICROPHONE INTEGRATION</a:t>
            </a:r>
          </a:p>
        </p:txBody>
      </p:sp>
      <p:pic>
        <p:nvPicPr>
          <p:cNvPr id="11" name="Immagine 10">
            <a:extLst>
              <a:ext uri="{FF2B5EF4-FFF2-40B4-BE49-F238E27FC236}">
                <a16:creationId xmlns:a16="http://schemas.microsoft.com/office/drawing/2014/main" id="{B0009AB0-F076-77EA-20BE-221AA7CEDB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75" y="13818"/>
            <a:ext cx="1199418" cy="1199418"/>
          </a:xfrm>
          <a:prstGeom prst="rect">
            <a:avLst/>
          </a:prstGeom>
        </p:spPr>
      </p:pic>
      <p:sp>
        <p:nvSpPr>
          <p:cNvPr id="19" name="CasellaDiTesto 18">
            <a:extLst>
              <a:ext uri="{FF2B5EF4-FFF2-40B4-BE49-F238E27FC236}">
                <a16:creationId xmlns:a16="http://schemas.microsoft.com/office/drawing/2014/main" id="{A1301493-314D-C07B-131B-F84F7582DE33}"/>
              </a:ext>
            </a:extLst>
          </p:cNvPr>
          <p:cNvSpPr txBox="1"/>
          <p:nvPr/>
        </p:nvSpPr>
        <p:spPr>
          <a:xfrm>
            <a:off x="2187840" y="3690132"/>
            <a:ext cx="2054942" cy="400110"/>
          </a:xfrm>
          <a:prstGeom prst="rect">
            <a:avLst/>
          </a:prstGeom>
          <a:noFill/>
        </p:spPr>
        <p:txBody>
          <a:bodyPr wrap="square" rtlCol="0" anchor="ctr">
            <a:spAutoFit/>
          </a:bodyPr>
          <a:lstStyle/>
          <a:p>
            <a:pPr algn="ctr"/>
            <a:r>
              <a:rPr lang="it-IT" sz="2000" b="1" dirty="0">
                <a:solidFill>
                  <a:schemeClr val="bg1"/>
                </a:solidFill>
                <a:latin typeface="Alata" pitchFamily="2" charset="0"/>
                <a:cs typeface="Alata" pitchFamily="2" charset="0"/>
              </a:rPr>
              <a:t>Microphone</a:t>
            </a:r>
          </a:p>
        </p:txBody>
      </p:sp>
      <p:pic>
        <p:nvPicPr>
          <p:cNvPr id="21" name="Immagine 20" descr="Immagine che contiene schermata, Policromia, Elementi grafici, Blu elettrico&#10;&#10;Il contenuto generato dall'IA potrebbe non essere corretto.">
            <a:extLst>
              <a:ext uri="{FF2B5EF4-FFF2-40B4-BE49-F238E27FC236}">
                <a16:creationId xmlns:a16="http://schemas.microsoft.com/office/drawing/2014/main" id="{BC85277E-AF4D-4A40-6619-D1B7508738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04794" y="2782764"/>
            <a:ext cx="845588" cy="845588"/>
          </a:xfrm>
          <a:prstGeom prst="rect">
            <a:avLst/>
          </a:prstGeom>
        </p:spPr>
      </p:pic>
      <p:sp>
        <p:nvSpPr>
          <p:cNvPr id="23" name="CasellaDiTesto 22">
            <a:extLst>
              <a:ext uri="{FF2B5EF4-FFF2-40B4-BE49-F238E27FC236}">
                <a16:creationId xmlns:a16="http://schemas.microsoft.com/office/drawing/2014/main" id="{6D2B281A-6541-582C-E9DB-87125992372A}"/>
              </a:ext>
            </a:extLst>
          </p:cNvPr>
          <p:cNvSpPr txBox="1"/>
          <p:nvPr/>
        </p:nvSpPr>
        <p:spPr>
          <a:xfrm>
            <a:off x="7500117" y="3628352"/>
            <a:ext cx="2054942" cy="707886"/>
          </a:xfrm>
          <a:prstGeom prst="rect">
            <a:avLst/>
          </a:prstGeom>
          <a:noFill/>
        </p:spPr>
        <p:txBody>
          <a:bodyPr wrap="square" rtlCol="0" anchor="ctr">
            <a:spAutoFit/>
          </a:bodyPr>
          <a:lstStyle/>
          <a:p>
            <a:pPr algn="ctr"/>
            <a:r>
              <a:rPr lang="it-IT" sz="2000" b="1" dirty="0">
                <a:solidFill>
                  <a:schemeClr val="bg1"/>
                </a:solidFill>
                <a:latin typeface="Alata" pitchFamily="2" charset="0"/>
                <a:cs typeface="Alata" pitchFamily="2" charset="0"/>
              </a:rPr>
              <a:t>Raw audio signal</a:t>
            </a:r>
          </a:p>
        </p:txBody>
      </p:sp>
    </p:spTree>
    <p:extLst>
      <p:ext uri="{BB962C8B-B14F-4D97-AF65-F5344CB8AC3E}">
        <p14:creationId xmlns:p14="http://schemas.microsoft.com/office/powerpoint/2010/main" val="42945230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6C9A4F-5A75-5AE1-3D6B-7D0EEE025C34}"/>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5F14AD6-7555-D035-BC73-F4A249BDEF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9CE900FF-9912-4005-BDCE-FA522E88E8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8E14024A-2670-0887-2B46-E1529E7E85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F445F097-94A3-4568-3958-563F2BFB0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B3B060B6-D518-5606-4230-6C9D6FFC6F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DDE05EB7-429C-167F-5124-67454731CB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6935337F-6C6F-22F7-7CB3-64659B608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69C869BA-1D9B-5A49-518B-FD07043F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ttangolo 4">
            <a:extLst>
              <a:ext uri="{FF2B5EF4-FFF2-40B4-BE49-F238E27FC236}">
                <a16:creationId xmlns:a16="http://schemas.microsoft.com/office/drawing/2014/main" id="{476A91BC-83E5-1E7B-35F8-309B1DF5DACD}"/>
              </a:ext>
            </a:extLst>
          </p:cNvPr>
          <p:cNvSpPr/>
          <p:nvPr/>
        </p:nvSpPr>
        <p:spPr>
          <a:xfrm>
            <a:off x="-360931" y="271656"/>
            <a:ext cx="4813478" cy="461665"/>
          </a:xfrm>
          <a:prstGeom prst="rect">
            <a:avLst/>
          </a:prstGeom>
          <a:noFill/>
          <a:ln>
            <a:noFill/>
          </a:ln>
        </p:spPr>
        <p:txBody>
          <a:bodyPr wrap="square" lIns="91440" tIns="45720" rIns="91440" bIns="45720">
            <a:spAutoFit/>
          </a:bodyPr>
          <a:lstStyle/>
          <a:p>
            <a:pPr algn="ctr"/>
            <a:r>
              <a:rPr lang="it-IT" sz="2400"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EAR MODULE</a:t>
            </a:r>
          </a:p>
        </p:txBody>
      </p:sp>
      <p:pic>
        <p:nvPicPr>
          <p:cNvPr id="2" name="Immagine 1">
            <a:extLst>
              <a:ext uri="{FF2B5EF4-FFF2-40B4-BE49-F238E27FC236}">
                <a16:creationId xmlns:a16="http://schemas.microsoft.com/office/drawing/2014/main" id="{F97A547D-C11A-3904-C13F-D1FCCE763A5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141988" y="1391548"/>
            <a:ext cx="1102514" cy="1102515"/>
          </a:xfrm>
          <a:prstGeom prst="rect">
            <a:avLst/>
          </a:prstGeom>
        </p:spPr>
      </p:pic>
      <p:pic>
        <p:nvPicPr>
          <p:cNvPr id="4" name="Immagine 3" descr="Immagine che contiene Elementi grafici, Carattere, grafica, simbolo&#10;&#10;Il contenuto generato dall'IA potrebbe non essere corretto.">
            <a:extLst>
              <a:ext uri="{FF2B5EF4-FFF2-40B4-BE49-F238E27FC236}">
                <a16:creationId xmlns:a16="http://schemas.microsoft.com/office/drawing/2014/main" id="{AC69ACB9-AC4D-6006-5D8F-D503ED112B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6645" y="112551"/>
            <a:ext cx="778225" cy="778225"/>
          </a:xfrm>
          <a:prstGeom prst="rect">
            <a:avLst/>
          </a:prstGeom>
        </p:spPr>
      </p:pic>
      <p:pic>
        <p:nvPicPr>
          <p:cNvPr id="7" name="Immagine 6" descr="Immagine che contiene schermata, Policromia, Elementi grafici, Blu elettrico&#10;&#10;Il contenuto generato dall'IA potrebbe non essere corretto.">
            <a:extLst>
              <a:ext uri="{FF2B5EF4-FFF2-40B4-BE49-F238E27FC236}">
                <a16:creationId xmlns:a16="http://schemas.microsoft.com/office/drawing/2014/main" id="{8EA8B74D-670E-ED23-3A46-E69BE041369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3647" y="3474603"/>
            <a:ext cx="845588" cy="845588"/>
          </a:xfrm>
          <a:prstGeom prst="rect">
            <a:avLst/>
          </a:prstGeom>
        </p:spPr>
      </p:pic>
      <p:sp>
        <p:nvSpPr>
          <p:cNvPr id="8" name="Rettangolo con angoli arrotondati 7">
            <a:extLst>
              <a:ext uri="{FF2B5EF4-FFF2-40B4-BE49-F238E27FC236}">
                <a16:creationId xmlns:a16="http://schemas.microsoft.com/office/drawing/2014/main" id="{778A84CF-F79C-DFF3-7A2A-EC471B47B142}"/>
              </a:ext>
            </a:extLst>
          </p:cNvPr>
          <p:cNvSpPr/>
          <p:nvPr/>
        </p:nvSpPr>
        <p:spPr>
          <a:xfrm>
            <a:off x="2049864" y="4956660"/>
            <a:ext cx="2213259" cy="1001143"/>
          </a:xfrm>
          <a:prstGeom prst="round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latin typeface="Alata" pitchFamily="2" charset="0"/>
                <a:cs typeface="Alata" pitchFamily="2" charset="0"/>
              </a:rPr>
              <a:t>Audio </a:t>
            </a:r>
          </a:p>
          <a:p>
            <a:pPr algn="ctr"/>
            <a:r>
              <a:rPr lang="it-IT" dirty="0">
                <a:latin typeface="Alata" pitchFamily="2" charset="0"/>
                <a:cs typeface="Alata" pitchFamily="2" charset="0"/>
              </a:rPr>
              <a:t>pre-processing Pipeline</a:t>
            </a:r>
          </a:p>
        </p:txBody>
      </p:sp>
      <p:pic>
        <p:nvPicPr>
          <p:cNvPr id="10" name="Immagine 9">
            <a:extLst>
              <a:ext uri="{FF2B5EF4-FFF2-40B4-BE49-F238E27FC236}">
                <a16:creationId xmlns:a16="http://schemas.microsoft.com/office/drawing/2014/main" id="{070B0B2C-0CE1-DB45-A508-412ECB438745}"/>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4829239" y="3264016"/>
            <a:ext cx="1266761" cy="1266761"/>
          </a:xfrm>
          <a:prstGeom prst="rect">
            <a:avLst/>
          </a:prstGeom>
        </p:spPr>
      </p:pic>
      <p:pic>
        <p:nvPicPr>
          <p:cNvPr id="21" name="Immagine 20" descr="Immagine che contiene cerchio, schermata&#10;&#10;Il contenuto generato dall'IA potrebbe non essere corretto.">
            <a:extLst>
              <a:ext uri="{FF2B5EF4-FFF2-40B4-BE49-F238E27FC236}">
                <a16:creationId xmlns:a16="http://schemas.microsoft.com/office/drawing/2014/main" id="{38726F65-F7AD-16B2-835D-134B694B29C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57779" y="2630735"/>
            <a:ext cx="952509" cy="952509"/>
          </a:xfrm>
          <a:prstGeom prst="rect">
            <a:avLst/>
          </a:prstGeom>
        </p:spPr>
      </p:pic>
      <p:cxnSp>
        <p:nvCxnSpPr>
          <p:cNvPr id="41" name="Connettore curvo 40">
            <a:extLst>
              <a:ext uri="{FF2B5EF4-FFF2-40B4-BE49-F238E27FC236}">
                <a16:creationId xmlns:a16="http://schemas.microsoft.com/office/drawing/2014/main" id="{CED5D66D-E841-3E4D-688F-B8A0867C38E8}"/>
              </a:ext>
            </a:extLst>
          </p:cNvPr>
          <p:cNvCxnSpPr>
            <a:cxnSpLocks/>
            <a:stCxn id="7" idx="2"/>
            <a:endCxn id="8" idx="1"/>
          </p:cNvCxnSpPr>
          <p:nvPr/>
        </p:nvCxnSpPr>
        <p:spPr>
          <a:xfrm rot="16200000" flipH="1">
            <a:off x="1059632" y="4466999"/>
            <a:ext cx="1137041" cy="843423"/>
          </a:xfrm>
          <a:prstGeom prst="curvedConnector2">
            <a:avLst/>
          </a:prstGeom>
          <a:ln w="38100">
            <a:solidFill>
              <a:schemeClr val="accent6">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3" name="Connettore curvo 42">
            <a:extLst>
              <a:ext uri="{FF2B5EF4-FFF2-40B4-BE49-F238E27FC236}">
                <a16:creationId xmlns:a16="http://schemas.microsoft.com/office/drawing/2014/main" id="{609340AA-C977-FAA1-D4BE-7A839035F5C8}"/>
              </a:ext>
            </a:extLst>
          </p:cNvPr>
          <p:cNvCxnSpPr>
            <a:cxnSpLocks/>
            <a:stCxn id="8" idx="3"/>
            <a:endCxn id="10" idx="2"/>
          </p:cNvCxnSpPr>
          <p:nvPr/>
        </p:nvCxnSpPr>
        <p:spPr>
          <a:xfrm flipV="1">
            <a:off x="4263123" y="4530777"/>
            <a:ext cx="1199497" cy="926455"/>
          </a:xfrm>
          <a:prstGeom prst="curvedConnector2">
            <a:avLst/>
          </a:prstGeom>
          <a:ln w="38100">
            <a:solidFill>
              <a:schemeClr val="accent6">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5" name="Connettore curvo 44">
            <a:extLst>
              <a:ext uri="{FF2B5EF4-FFF2-40B4-BE49-F238E27FC236}">
                <a16:creationId xmlns:a16="http://schemas.microsoft.com/office/drawing/2014/main" id="{56D7D4EB-6225-6287-E70D-8E3A21ED3E9E}"/>
              </a:ext>
            </a:extLst>
          </p:cNvPr>
          <p:cNvCxnSpPr>
            <a:cxnSpLocks/>
            <a:stCxn id="10" idx="0"/>
            <a:endCxn id="19" idx="1"/>
          </p:cNvCxnSpPr>
          <p:nvPr/>
        </p:nvCxnSpPr>
        <p:spPr>
          <a:xfrm rot="5400000" flipH="1" flipV="1">
            <a:off x="5318775" y="2076581"/>
            <a:ext cx="1331280" cy="1043590"/>
          </a:xfrm>
          <a:prstGeom prst="curvedConnector2">
            <a:avLst/>
          </a:prstGeom>
          <a:ln w="38100">
            <a:solidFill>
              <a:schemeClr val="accent6">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7" name="Connettore curvo 46">
            <a:extLst>
              <a:ext uri="{FF2B5EF4-FFF2-40B4-BE49-F238E27FC236}">
                <a16:creationId xmlns:a16="http://schemas.microsoft.com/office/drawing/2014/main" id="{50112884-8F12-34F0-CCB0-AC819FA61FCE}"/>
              </a:ext>
            </a:extLst>
          </p:cNvPr>
          <p:cNvCxnSpPr>
            <a:cxnSpLocks/>
            <a:stCxn id="19" idx="3"/>
            <a:endCxn id="21" idx="0"/>
          </p:cNvCxnSpPr>
          <p:nvPr/>
        </p:nvCxnSpPr>
        <p:spPr>
          <a:xfrm>
            <a:off x="8571811" y="1932736"/>
            <a:ext cx="1262223" cy="697999"/>
          </a:xfrm>
          <a:prstGeom prst="curvedConnector2">
            <a:avLst/>
          </a:prstGeom>
          <a:ln w="38100">
            <a:solidFill>
              <a:schemeClr val="accent6">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9" name="Connettore 2 48">
            <a:extLst>
              <a:ext uri="{FF2B5EF4-FFF2-40B4-BE49-F238E27FC236}">
                <a16:creationId xmlns:a16="http://schemas.microsoft.com/office/drawing/2014/main" id="{6F39FA27-BD8A-89FE-C2E5-6C0C28B46931}"/>
              </a:ext>
            </a:extLst>
          </p:cNvPr>
          <p:cNvCxnSpPr>
            <a:stCxn id="21" idx="2"/>
          </p:cNvCxnSpPr>
          <p:nvPr/>
        </p:nvCxnSpPr>
        <p:spPr>
          <a:xfrm flipH="1">
            <a:off x="9834033" y="3583244"/>
            <a:ext cx="1" cy="606791"/>
          </a:xfrm>
          <a:prstGeom prst="straightConnector1">
            <a:avLst/>
          </a:prstGeom>
          <a:ln w="38100">
            <a:solidFill>
              <a:schemeClr val="accent6">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2" name="Connettore 2 51">
            <a:extLst>
              <a:ext uri="{FF2B5EF4-FFF2-40B4-BE49-F238E27FC236}">
                <a16:creationId xmlns:a16="http://schemas.microsoft.com/office/drawing/2014/main" id="{623499F0-81EF-81DE-839A-2FD1E184701F}"/>
              </a:ext>
            </a:extLst>
          </p:cNvPr>
          <p:cNvCxnSpPr>
            <a:cxnSpLocks/>
            <a:stCxn id="36" idx="2"/>
            <a:endCxn id="53" idx="0"/>
          </p:cNvCxnSpPr>
          <p:nvPr/>
        </p:nvCxnSpPr>
        <p:spPr>
          <a:xfrm>
            <a:off x="9834031" y="5132160"/>
            <a:ext cx="1" cy="1009781"/>
          </a:xfrm>
          <a:prstGeom prst="straightConnector1">
            <a:avLst/>
          </a:prstGeom>
          <a:ln w="38100">
            <a:solidFill>
              <a:schemeClr val="accent6">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3" name="CasellaDiTesto 52">
            <a:extLst>
              <a:ext uri="{FF2B5EF4-FFF2-40B4-BE49-F238E27FC236}">
                <a16:creationId xmlns:a16="http://schemas.microsoft.com/office/drawing/2014/main" id="{A44AD748-C41C-5789-45CA-E188FF398B08}"/>
              </a:ext>
            </a:extLst>
          </p:cNvPr>
          <p:cNvSpPr txBox="1"/>
          <p:nvPr/>
        </p:nvSpPr>
        <p:spPr>
          <a:xfrm>
            <a:off x="8859193" y="6141941"/>
            <a:ext cx="1949677" cy="400110"/>
          </a:xfrm>
          <a:prstGeom prst="rect">
            <a:avLst/>
          </a:prstGeom>
          <a:noFill/>
        </p:spPr>
        <p:txBody>
          <a:bodyPr wrap="square" rtlCol="0">
            <a:spAutoFit/>
          </a:bodyPr>
          <a:lstStyle/>
          <a:p>
            <a:pPr algn="ctr"/>
            <a:r>
              <a:rPr lang="it-IT" sz="2000" dirty="0">
                <a:solidFill>
                  <a:schemeClr val="bg1"/>
                </a:solidFill>
                <a:latin typeface="Alata" pitchFamily="2" charset="0"/>
                <a:cs typeface="Alata" pitchFamily="2" charset="0"/>
              </a:rPr>
              <a:t>Classifications</a:t>
            </a:r>
          </a:p>
        </p:txBody>
      </p:sp>
      <p:sp>
        <p:nvSpPr>
          <p:cNvPr id="54" name="CasellaDiTesto 53">
            <a:extLst>
              <a:ext uri="{FF2B5EF4-FFF2-40B4-BE49-F238E27FC236}">
                <a16:creationId xmlns:a16="http://schemas.microsoft.com/office/drawing/2014/main" id="{EFA77961-377A-EC68-5521-DA6410FD6407}"/>
              </a:ext>
            </a:extLst>
          </p:cNvPr>
          <p:cNvSpPr txBox="1"/>
          <p:nvPr/>
        </p:nvSpPr>
        <p:spPr>
          <a:xfrm>
            <a:off x="10256849" y="2858266"/>
            <a:ext cx="1713042" cy="707886"/>
          </a:xfrm>
          <a:prstGeom prst="rect">
            <a:avLst/>
          </a:prstGeom>
          <a:noFill/>
        </p:spPr>
        <p:txBody>
          <a:bodyPr wrap="square" rtlCol="0">
            <a:spAutoFit/>
          </a:bodyPr>
          <a:lstStyle/>
          <a:p>
            <a:pPr algn="ctr"/>
            <a:r>
              <a:rPr lang="it-IT" sz="2000" dirty="0">
                <a:solidFill>
                  <a:schemeClr val="bg1"/>
                </a:solidFill>
                <a:latin typeface="Alata" pitchFamily="2" charset="0"/>
                <a:cs typeface="Alata" pitchFamily="2" charset="0"/>
              </a:rPr>
              <a:t>Audio</a:t>
            </a:r>
          </a:p>
          <a:p>
            <a:pPr algn="ctr"/>
            <a:r>
              <a:rPr lang="it-IT" sz="2000" dirty="0">
                <a:solidFill>
                  <a:schemeClr val="bg1"/>
                </a:solidFill>
                <a:latin typeface="Alata" pitchFamily="2" charset="0"/>
                <a:cs typeface="Alata" pitchFamily="2" charset="0"/>
              </a:rPr>
              <a:t>Embeddings</a:t>
            </a:r>
          </a:p>
        </p:txBody>
      </p:sp>
      <p:sp>
        <p:nvSpPr>
          <p:cNvPr id="55" name="CasellaDiTesto 54">
            <a:extLst>
              <a:ext uri="{FF2B5EF4-FFF2-40B4-BE49-F238E27FC236}">
                <a16:creationId xmlns:a16="http://schemas.microsoft.com/office/drawing/2014/main" id="{1B2A7621-F816-1CEB-8F50-EA5A8DD801DE}"/>
              </a:ext>
            </a:extLst>
          </p:cNvPr>
          <p:cNvSpPr txBox="1"/>
          <p:nvPr/>
        </p:nvSpPr>
        <p:spPr>
          <a:xfrm>
            <a:off x="5496258" y="4407683"/>
            <a:ext cx="1713042" cy="707886"/>
          </a:xfrm>
          <a:prstGeom prst="rect">
            <a:avLst/>
          </a:prstGeom>
          <a:noFill/>
        </p:spPr>
        <p:txBody>
          <a:bodyPr wrap="square" rtlCol="0">
            <a:spAutoFit/>
          </a:bodyPr>
          <a:lstStyle/>
          <a:p>
            <a:pPr algn="ctr"/>
            <a:r>
              <a:rPr lang="it-IT" sz="2000" dirty="0">
                <a:solidFill>
                  <a:schemeClr val="bg1"/>
                </a:solidFill>
                <a:latin typeface="Alata" pitchFamily="2" charset="0"/>
                <a:cs typeface="Alata" pitchFamily="2" charset="0"/>
              </a:rPr>
              <a:t>Processed</a:t>
            </a:r>
          </a:p>
          <a:p>
            <a:pPr algn="ctr"/>
            <a:r>
              <a:rPr lang="it-IT" sz="2000" dirty="0">
                <a:solidFill>
                  <a:schemeClr val="bg1"/>
                </a:solidFill>
                <a:latin typeface="Alata" pitchFamily="2" charset="0"/>
                <a:cs typeface="Alata" pitchFamily="2" charset="0"/>
              </a:rPr>
              <a:t>Audio</a:t>
            </a:r>
          </a:p>
        </p:txBody>
      </p:sp>
      <p:sp>
        <p:nvSpPr>
          <p:cNvPr id="56" name="CasellaDiTesto 55">
            <a:extLst>
              <a:ext uri="{FF2B5EF4-FFF2-40B4-BE49-F238E27FC236}">
                <a16:creationId xmlns:a16="http://schemas.microsoft.com/office/drawing/2014/main" id="{B5BCD105-2640-383D-CCE2-3BCE00556D2C}"/>
              </a:ext>
            </a:extLst>
          </p:cNvPr>
          <p:cNvSpPr txBox="1"/>
          <p:nvPr/>
        </p:nvSpPr>
        <p:spPr>
          <a:xfrm>
            <a:off x="1381582" y="3590045"/>
            <a:ext cx="1713042" cy="707886"/>
          </a:xfrm>
          <a:prstGeom prst="rect">
            <a:avLst/>
          </a:prstGeom>
          <a:noFill/>
        </p:spPr>
        <p:txBody>
          <a:bodyPr wrap="square" rtlCol="0">
            <a:spAutoFit/>
          </a:bodyPr>
          <a:lstStyle/>
          <a:p>
            <a:pPr algn="ctr"/>
            <a:r>
              <a:rPr lang="it-IT" sz="2000" dirty="0">
                <a:solidFill>
                  <a:schemeClr val="bg1"/>
                </a:solidFill>
                <a:latin typeface="Alata" pitchFamily="2" charset="0"/>
                <a:cs typeface="Alata" pitchFamily="2" charset="0"/>
              </a:rPr>
              <a:t>Raw</a:t>
            </a:r>
          </a:p>
          <a:p>
            <a:pPr algn="ctr"/>
            <a:r>
              <a:rPr lang="it-IT" sz="2000" dirty="0">
                <a:solidFill>
                  <a:schemeClr val="bg1"/>
                </a:solidFill>
                <a:latin typeface="Alata" pitchFamily="2" charset="0"/>
                <a:cs typeface="Alata" pitchFamily="2" charset="0"/>
              </a:rPr>
              <a:t>Audio</a:t>
            </a:r>
          </a:p>
        </p:txBody>
      </p:sp>
      <p:cxnSp>
        <p:nvCxnSpPr>
          <p:cNvPr id="59" name="Connettore curvo 58">
            <a:extLst>
              <a:ext uri="{FF2B5EF4-FFF2-40B4-BE49-F238E27FC236}">
                <a16:creationId xmlns:a16="http://schemas.microsoft.com/office/drawing/2014/main" id="{E41F50BA-5D7B-7400-724F-CCDD756B3904}"/>
              </a:ext>
            </a:extLst>
          </p:cNvPr>
          <p:cNvCxnSpPr>
            <a:stCxn id="2" idx="1"/>
          </p:cNvCxnSpPr>
          <p:nvPr/>
        </p:nvCxnSpPr>
        <p:spPr>
          <a:xfrm rot="10800000" flipV="1">
            <a:off x="1064870" y="1942806"/>
            <a:ext cx="1077118" cy="1486194"/>
          </a:xfrm>
          <a:prstGeom prst="curvedConnector2">
            <a:avLst/>
          </a:prstGeom>
          <a:ln w="38100">
            <a:solidFill>
              <a:schemeClr val="accent6">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6" name="Gruppo 5">
            <a:extLst>
              <a:ext uri="{FF2B5EF4-FFF2-40B4-BE49-F238E27FC236}">
                <a16:creationId xmlns:a16="http://schemas.microsoft.com/office/drawing/2014/main" id="{19B9AA39-F132-3D00-A3F7-6E823798D69A}"/>
              </a:ext>
            </a:extLst>
          </p:cNvPr>
          <p:cNvGrpSpPr/>
          <p:nvPr/>
        </p:nvGrpSpPr>
        <p:grpSpPr>
          <a:xfrm>
            <a:off x="6506210" y="1475275"/>
            <a:ext cx="2065601" cy="914922"/>
            <a:chOff x="8172901" y="4320191"/>
            <a:chExt cx="3282976" cy="1454137"/>
          </a:xfrm>
        </p:grpSpPr>
        <p:grpSp>
          <p:nvGrpSpPr>
            <p:cNvPr id="9" name="Gruppo 8">
              <a:extLst>
                <a:ext uri="{FF2B5EF4-FFF2-40B4-BE49-F238E27FC236}">
                  <a16:creationId xmlns:a16="http://schemas.microsoft.com/office/drawing/2014/main" id="{E11DF207-2C5A-BF22-7602-B60FAA649F82}"/>
                </a:ext>
              </a:extLst>
            </p:cNvPr>
            <p:cNvGrpSpPr/>
            <p:nvPr/>
          </p:nvGrpSpPr>
          <p:grpSpPr>
            <a:xfrm>
              <a:off x="8172901" y="4320191"/>
              <a:ext cx="3282976" cy="1454137"/>
              <a:chOff x="3608175" y="1406013"/>
              <a:chExt cx="5368677" cy="2377962"/>
            </a:xfrm>
          </p:grpSpPr>
          <p:sp>
            <p:nvSpPr>
              <p:cNvPr id="19" name="Rettangolo con angoli arrotondati 18">
                <a:extLst>
                  <a:ext uri="{FF2B5EF4-FFF2-40B4-BE49-F238E27FC236}">
                    <a16:creationId xmlns:a16="http://schemas.microsoft.com/office/drawing/2014/main" id="{67DDBEB8-9D47-FF5F-ECDB-DB2D2920060B}"/>
                  </a:ext>
                </a:extLst>
              </p:cNvPr>
              <p:cNvSpPr/>
              <p:nvPr/>
            </p:nvSpPr>
            <p:spPr>
              <a:xfrm>
                <a:off x="3608175" y="1406013"/>
                <a:ext cx="5368677" cy="2377962"/>
              </a:xfrm>
              <a:prstGeom prst="roundRect">
                <a:avLst/>
              </a:prstGeom>
              <a:noFill/>
              <a:ln>
                <a:solidFill>
                  <a:srgbClr val="00B0F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it-IT" dirty="0"/>
              </a:p>
            </p:txBody>
          </p:sp>
          <p:pic>
            <p:nvPicPr>
              <p:cNvPr id="25" name="Immagine 24" descr="Immagine che contiene Carattere, Elementi grafici, grafica, logo&#10;&#10;Il contenuto generato dall'IA potrebbe non essere corretto.">
                <a:extLst>
                  <a:ext uri="{FF2B5EF4-FFF2-40B4-BE49-F238E27FC236}">
                    <a16:creationId xmlns:a16="http://schemas.microsoft.com/office/drawing/2014/main" id="{8918E9D6-759A-0FE2-2BE8-D4A3813E171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14957" y="1641326"/>
                <a:ext cx="4367630" cy="674252"/>
              </a:xfrm>
              <a:prstGeom prst="rect">
                <a:avLst/>
              </a:prstGeom>
            </p:spPr>
          </p:pic>
        </p:grpSp>
        <p:sp>
          <p:nvSpPr>
            <p:cNvPr id="15" name="CasellaDiTesto 14">
              <a:extLst>
                <a:ext uri="{FF2B5EF4-FFF2-40B4-BE49-F238E27FC236}">
                  <a16:creationId xmlns:a16="http://schemas.microsoft.com/office/drawing/2014/main" id="{8FE2A481-08ED-1BE6-9366-A761A183B678}"/>
                </a:ext>
              </a:extLst>
            </p:cNvPr>
            <p:cNvSpPr txBox="1"/>
            <p:nvPr/>
          </p:nvSpPr>
          <p:spPr>
            <a:xfrm>
              <a:off x="8827849" y="5062799"/>
              <a:ext cx="1990845" cy="635917"/>
            </a:xfrm>
            <a:prstGeom prst="rect">
              <a:avLst/>
            </a:prstGeom>
            <a:noFill/>
          </p:spPr>
          <p:txBody>
            <a:bodyPr wrap="square" rtlCol="0">
              <a:spAutoFit/>
            </a:bodyPr>
            <a:lstStyle/>
            <a:p>
              <a:pPr algn="ctr"/>
              <a:r>
                <a:rPr lang="it-IT" sz="2000" dirty="0">
                  <a:solidFill>
                    <a:schemeClr val="bg1"/>
                  </a:solidFill>
                  <a:latin typeface="Alata" pitchFamily="2" charset="0"/>
                  <a:cs typeface="Alata" pitchFamily="2" charset="0"/>
                </a:rPr>
                <a:t>YAMNet</a:t>
              </a:r>
            </a:p>
          </p:txBody>
        </p:sp>
      </p:grpSp>
      <p:grpSp>
        <p:nvGrpSpPr>
          <p:cNvPr id="33" name="Gruppo 32">
            <a:extLst>
              <a:ext uri="{FF2B5EF4-FFF2-40B4-BE49-F238E27FC236}">
                <a16:creationId xmlns:a16="http://schemas.microsoft.com/office/drawing/2014/main" id="{B14934E5-DF70-16BB-703A-6DBBE97F142F}"/>
              </a:ext>
            </a:extLst>
          </p:cNvPr>
          <p:cNvGrpSpPr/>
          <p:nvPr/>
        </p:nvGrpSpPr>
        <p:grpSpPr>
          <a:xfrm>
            <a:off x="8801230" y="4217238"/>
            <a:ext cx="2065601" cy="914922"/>
            <a:chOff x="8172901" y="4320191"/>
            <a:chExt cx="3282976" cy="1454137"/>
          </a:xfrm>
        </p:grpSpPr>
        <p:grpSp>
          <p:nvGrpSpPr>
            <p:cNvPr id="34" name="Gruppo 33">
              <a:extLst>
                <a:ext uri="{FF2B5EF4-FFF2-40B4-BE49-F238E27FC236}">
                  <a16:creationId xmlns:a16="http://schemas.microsoft.com/office/drawing/2014/main" id="{9239A972-66CB-0395-96DF-DFFB69B5824D}"/>
                </a:ext>
              </a:extLst>
            </p:cNvPr>
            <p:cNvGrpSpPr/>
            <p:nvPr/>
          </p:nvGrpSpPr>
          <p:grpSpPr>
            <a:xfrm>
              <a:off x="8172901" y="4320191"/>
              <a:ext cx="3282976" cy="1454137"/>
              <a:chOff x="3608175" y="1406013"/>
              <a:chExt cx="5368677" cy="2377962"/>
            </a:xfrm>
          </p:grpSpPr>
          <p:sp>
            <p:nvSpPr>
              <p:cNvPr id="36" name="Rettangolo con angoli arrotondati 35">
                <a:extLst>
                  <a:ext uri="{FF2B5EF4-FFF2-40B4-BE49-F238E27FC236}">
                    <a16:creationId xmlns:a16="http://schemas.microsoft.com/office/drawing/2014/main" id="{E00A574D-3355-1594-30D9-7CFD6B408141}"/>
                  </a:ext>
                </a:extLst>
              </p:cNvPr>
              <p:cNvSpPr/>
              <p:nvPr/>
            </p:nvSpPr>
            <p:spPr>
              <a:xfrm>
                <a:off x="3608175" y="1406013"/>
                <a:ext cx="5368677" cy="2377962"/>
              </a:xfrm>
              <a:prstGeom prst="roundRect">
                <a:avLst/>
              </a:prstGeom>
              <a:noFill/>
              <a:ln>
                <a:solidFill>
                  <a:srgbClr val="00B0F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it-IT" dirty="0"/>
              </a:p>
            </p:txBody>
          </p:sp>
          <p:pic>
            <p:nvPicPr>
              <p:cNvPr id="37" name="Immagine 36" descr="Immagine che contiene Carattere, Elementi grafici, grafica, logo&#10;&#10;Il contenuto generato dall'IA potrebbe non essere corretto.">
                <a:extLst>
                  <a:ext uri="{FF2B5EF4-FFF2-40B4-BE49-F238E27FC236}">
                    <a16:creationId xmlns:a16="http://schemas.microsoft.com/office/drawing/2014/main" id="{63A1A55D-89A3-1A9E-30A7-EA729F9E581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14957" y="1641326"/>
                <a:ext cx="4367630" cy="674252"/>
              </a:xfrm>
              <a:prstGeom prst="rect">
                <a:avLst/>
              </a:prstGeom>
            </p:spPr>
          </p:pic>
        </p:grpSp>
        <p:sp>
          <p:nvSpPr>
            <p:cNvPr id="35" name="CasellaDiTesto 34">
              <a:extLst>
                <a:ext uri="{FF2B5EF4-FFF2-40B4-BE49-F238E27FC236}">
                  <a16:creationId xmlns:a16="http://schemas.microsoft.com/office/drawing/2014/main" id="{AA4720DF-6AFD-AFD4-87E3-93B8DC262494}"/>
                </a:ext>
              </a:extLst>
            </p:cNvPr>
            <p:cNvSpPr txBox="1"/>
            <p:nvPr/>
          </p:nvSpPr>
          <p:spPr>
            <a:xfrm>
              <a:off x="8827849" y="5062799"/>
              <a:ext cx="1990845" cy="635917"/>
            </a:xfrm>
            <a:prstGeom prst="rect">
              <a:avLst/>
            </a:prstGeom>
            <a:noFill/>
          </p:spPr>
          <p:txBody>
            <a:bodyPr wrap="square" rtlCol="0">
              <a:spAutoFit/>
            </a:bodyPr>
            <a:lstStyle/>
            <a:p>
              <a:pPr algn="ctr"/>
              <a:r>
                <a:rPr lang="it-IT" sz="2000" dirty="0">
                  <a:solidFill>
                    <a:schemeClr val="bg1"/>
                  </a:solidFill>
                  <a:latin typeface="Alata" pitchFamily="2" charset="0"/>
                  <a:cs typeface="Alata" pitchFamily="2" charset="0"/>
                </a:rPr>
                <a:t>FFN</a:t>
              </a:r>
            </a:p>
          </p:txBody>
        </p:sp>
      </p:grpSp>
    </p:spTree>
    <p:extLst>
      <p:ext uri="{BB962C8B-B14F-4D97-AF65-F5344CB8AC3E}">
        <p14:creationId xmlns:p14="http://schemas.microsoft.com/office/powerpoint/2010/main" val="28260984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C396AB-2D43-AEC5-8F05-9409499B09AD}"/>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CB9A162D-CDF5-8A9F-DD8C-576E580E28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1F4115B-9799-B0AF-2141-CA8C54FF15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B3C51FCA-9B58-5DCD-A8C2-6E5903A669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A6FA1578-3B0C-8A05-6384-F9AE9642E4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D60DBBFB-043C-AD36-5F0B-8A083EC104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ED1448A1-F324-BF62-7F27-98EBE83D6F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89249FF8-52A1-AD96-36BB-6FB7AAE83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BBC311D5-949D-847F-7F5C-88AB8A577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ttangolo 4">
            <a:extLst>
              <a:ext uri="{FF2B5EF4-FFF2-40B4-BE49-F238E27FC236}">
                <a16:creationId xmlns:a16="http://schemas.microsoft.com/office/drawing/2014/main" id="{7E52C967-06B2-2089-4164-230101EF3376}"/>
              </a:ext>
            </a:extLst>
          </p:cNvPr>
          <p:cNvSpPr/>
          <p:nvPr/>
        </p:nvSpPr>
        <p:spPr>
          <a:xfrm>
            <a:off x="783647" y="271626"/>
            <a:ext cx="4813478" cy="461665"/>
          </a:xfrm>
          <a:prstGeom prst="rect">
            <a:avLst/>
          </a:prstGeom>
          <a:noFill/>
          <a:ln>
            <a:noFill/>
          </a:ln>
        </p:spPr>
        <p:txBody>
          <a:bodyPr wrap="square" lIns="91440" tIns="45720" rIns="91440" bIns="45720">
            <a:spAutoFit/>
          </a:bodyPr>
          <a:lstStyle/>
          <a:p>
            <a:pPr algn="ctr"/>
            <a:r>
              <a:rPr lang="it-IT" sz="2400"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COMMUNICATIONS MODULE</a:t>
            </a:r>
          </a:p>
        </p:txBody>
      </p:sp>
      <p:pic>
        <p:nvPicPr>
          <p:cNvPr id="4" name="Immagine 3" descr="Immagine che contiene Elementi grafici, Carattere, grafica, simbolo&#10;&#10;Il contenuto generato dall'IA potrebbe non essere corretto.">
            <a:extLst>
              <a:ext uri="{FF2B5EF4-FFF2-40B4-BE49-F238E27FC236}">
                <a16:creationId xmlns:a16="http://schemas.microsoft.com/office/drawing/2014/main" id="{32FD3983-2CC7-DA9D-AB74-AF7C638B8B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645" y="112551"/>
            <a:ext cx="778225" cy="778225"/>
          </a:xfrm>
          <a:prstGeom prst="rect">
            <a:avLst/>
          </a:prstGeom>
        </p:spPr>
      </p:pic>
      <p:sp>
        <p:nvSpPr>
          <p:cNvPr id="3" name="Rettangolo 2">
            <a:extLst>
              <a:ext uri="{FF2B5EF4-FFF2-40B4-BE49-F238E27FC236}">
                <a16:creationId xmlns:a16="http://schemas.microsoft.com/office/drawing/2014/main" id="{A1373CB5-ED1C-2A27-AD05-EB1929D091C1}"/>
              </a:ext>
            </a:extLst>
          </p:cNvPr>
          <p:cNvSpPr/>
          <p:nvPr/>
        </p:nvSpPr>
        <p:spPr>
          <a:xfrm>
            <a:off x="604950" y="1156262"/>
            <a:ext cx="7237024" cy="1877437"/>
          </a:xfrm>
          <a:prstGeom prst="rect">
            <a:avLst/>
          </a:prstGeom>
          <a:noFill/>
          <a:ln>
            <a:noFill/>
          </a:ln>
        </p:spPr>
        <p:txBody>
          <a:bodyPr wrap="square" lIns="91440" tIns="45720" rIns="91440" bIns="45720">
            <a:spAutoFit/>
          </a:bodyPr>
          <a:lstStyle/>
          <a:p>
            <a:r>
              <a:rPr lang="it-IT"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LEVERAGES TELEGRAM APIs TO SEND 2 TYPES OF ALERT </a:t>
            </a:r>
            <a:r>
              <a:rPr lang="it-IT" sz="20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a:t>
            </a:r>
          </a:p>
          <a:p>
            <a:pPr marL="800100" lvl="1" indent="-342900">
              <a:buFont typeface="Arial" panose="020B0604020202020204" pitchFamily="34" charset="0"/>
              <a:buChar char="•"/>
            </a:pPr>
            <a:r>
              <a:rPr lang="it-IT" sz="16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Visual Alert : </a:t>
            </a:r>
          </a:p>
          <a:p>
            <a:pPr lvl="2"/>
            <a:r>
              <a:rPr lang="it-IT" sz="16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when a vulnerable occupant is detected through image, it sends a message and the image containing the ROI.</a:t>
            </a:r>
          </a:p>
          <a:p>
            <a:pPr marL="800100" lvl="1" indent="-342900">
              <a:buFont typeface="Arial" panose="020B0604020202020204" pitchFamily="34" charset="0"/>
              <a:buChar char="•"/>
            </a:pPr>
            <a:r>
              <a:rPr lang="it-IT" sz="16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Sound Alert : </a:t>
            </a:r>
          </a:p>
          <a:p>
            <a:pPr lvl="2"/>
            <a:r>
              <a:rPr lang="it-IT" sz="16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When the occupant is detected through sound, it send a message and the audio containing the sound.</a:t>
            </a:r>
          </a:p>
        </p:txBody>
      </p:sp>
      <p:pic>
        <p:nvPicPr>
          <p:cNvPr id="7" name="Immagine 6" descr="Immagine che contiene testo, schermata, mammifero, aria aperta&#10;&#10;Il contenuto generato dall'IA potrebbe non essere corretto.">
            <a:extLst>
              <a:ext uri="{FF2B5EF4-FFF2-40B4-BE49-F238E27FC236}">
                <a16:creationId xmlns:a16="http://schemas.microsoft.com/office/drawing/2014/main" id="{E29D7322-F213-4952-205C-081E7533A6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9094" y="3335573"/>
            <a:ext cx="3010439" cy="2840469"/>
          </a:xfrm>
          <a:prstGeom prst="rect">
            <a:avLst/>
          </a:prstGeom>
          <a:ln>
            <a:solidFill>
              <a:srgbClr val="FF9900"/>
            </a:solidFill>
          </a:ln>
        </p:spPr>
      </p:pic>
      <p:pic>
        <p:nvPicPr>
          <p:cNvPr id="10" name="Immagine 9">
            <a:extLst>
              <a:ext uri="{FF2B5EF4-FFF2-40B4-BE49-F238E27FC236}">
                <a16:creationId xmlns:a16="http://schemas.microsoft.com/office/drawing/2014/main" id="{7DBDC915-1571-31B7-7587-4EB310C5E37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554352" y="3335573"/>
            <a:ext cx="4587582" cy="2814313"/>
          </a:xfrm>
          <a:prstGeom prst="rect">
            <a:avLst/>
          </a:prstGeom>
          <a:ln>
            <a:solidFill>
              <a:srgbClr val="FF9900"/>
            </a:solidFill>
          </a:ln>
        </p:spPr>
      </p:pic>
    </p:spTree>
    <p:extLst>
      <p:ext uri="{BB962C8B-B14F-4D97-AF65-F5344CB8AC3E}">
        <p14:creationId xmlns:p14="http://schemas.microsoft.com/office/powerpoint/2010/main" val="36481141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3B5122-EE92-64A0-2133-14ACEB7E36C3}"/>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703212E-5D66-AF2A-DE8D-3AC4E4D90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B60D97D4-89D8-8538-714A-68CF29D7E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F02D39F7-25B2-C5B0-3224-376D58C16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4EBA943B-F3EF-EA06-02EF-9C2EA23A8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B2CB4CA3-A55A-43C7-3988-3287AC05C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DFB7465C-4110-6466-64C5-BC2EABA56B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6339B0E3-C5AB-9748-4BCD-0B61D8F017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B82BF673-D35F-72FB-68ED-B7D8399593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ttangolo 4">
            <a:extLst>
              <a:ext uri="{FF2B5EF4-FFF2-40B4-BE49-F238E27FC236}">
                <a16:creationId xmlns:a16="http://schemas.microsoft.com/office/drawing/2014/main" id="{8649403D-22CA-B324-AC59-EA3C9794B83C}"/>
              </a:ext>
            </a:extLst>
          </p:cNvPr>
          <p:cNvSpPr/>
          <p:nvPr/>
        </p:nvSpPr>
        <p:spPr>
          <a:xfrm>
            <a:off x="954363" y="271624"/>
            <a:ext cx="4813478" cy="461665"/>
          </a:xfrm>
          <a:prstGeom prst="rect">
            <a:avLst/>
          </a:prstGeom>
          <a:noFill/>
          <a:ln>
            <a:noFill/>
          </a:ln>
        </p:spPr>
        <p:txBody>
          <a:bodyPr wrap="square" lIns="91440" tIns="45720" rIns="91440" bIns="45720">
            <a:spAutoFit/>
          </a:bodyPr>
          <a:lstStyle/>
          <a:p>
            <a:r>
              <a:rPr lang="it-IT" sz="2400"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DECISION LOGIC</a:t>
            </a:r>
          </a:p>
        </p:txBody>
      </p:sp>
      <p:pic>
        <p:nvPicPr>
          <p:cNvPr id="7" name="Immagine 6" descr="Immagine che contiene Elementi grafici, grafica, cerchio, clipart&#10;&#10;Il contenuto generato dall'IA potrebbe non essere corretto.">
            <a:extLst>
              <a:ext uri="{FF2B5EF4-FFF2-40B4-BE49-F238E27FC236}">
                <a16:creationId xmlns:a16="http://schemas.microsoft.com/office/drawing/2014/main" id="{FDB5B635-DA3B-01D1-88A4-865127E459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2315" y="155531"/>
            <a:ext cx="693853" cy="693853"/>
          </a:xfrm>
          <a:prstGeom prst="rect">
            <a:avLst/>
          </a:prstGeom>
        </p:spPr>
      </p:pic>
      <p:grpSp>
        <p:nvGrpSpPr>
          <p:cNvPr id="3" name="Gruppo 2">
            <a:extLst>
              <a:ext uri="{FF2B5EF4-FFF2-40B4-BE49-F238E27FC236}">
                <a16:creationId xmlns:a16="http://schemas.microsoft.com/office/drawing/2014/main" id="{2FCDAC97-D815-FFAC-F7FA-EBC72F064A33}"/>
              </a:ext>
            </a:extLst>
          </p:cNvPr>
          <p:cNvGrpSpPr/>
          <p:nvPr/>
        </p:nvGrpSpPr>
        <p:grpSpPr>
          <a:xfrm>
            <a:off x="1340166" y="1794832"/>
            <a:ext cx="9358078" cy="3576824"/>
            <a:chOff x="2313559" y="1794832"/>
            <a:chExt cx="9358078" cy="3576824"/>
          </a:xfrm>
        </p:grpSpPr>
        <p:pic>
          <p:nvPicPr>
            <p:cNvPr id="12" name="Picture 11">
              <a:extLst>
                <a:ext uri="{FF2B5EF4-FFF2-40B4-BE49-F238E27FC236}">
                  <a16:creationId xmlns:a16="http://schemas.microsoft.com/office/drawing/2014/main" id="{978C3BC0-5A55-11B7-7A1F-323128212D21}"/>
                </a:ext>
              </a:extLst>
            </p:cNvPr>
            <p:cNvPicPr>
              <a:picLocks noChangeAspect="1"/>
            </p:cNvPicPr>
            <p:nvPr/>
          </p:nvPicPr>
          <p:blipFill>
            <a:blip r:embed="rId3">
              <a:extLst>
                <a:ext uri="{28A0092B-C50C-407E-A947-70E740481C1C}">
                  <a14:useLocalDpi xmlns:a14="http://schemas.microsoft.com/office/drawing/2010/main" val="0"/>
                </a:ext>
              </a:extLst>
            </a:blip>
            <a:srcRect l="71047"/>
            <a:stretch>
              <a:fillRect/>
            </a:stretch>
          </p:blipFill>
          <p:spPr>
            <a:xfrm>
              <a:off x="8442960" y="1794832"/>
              <a:ext cx="3228677" cy="3576824"/>
            </a:xfrm>
            <a:prstGeom prst="rect">
              <a:avLst/>
            </a:prstGeom>
          </p:spPr>
        </p:pic>
        <p:pic>
          <p:nvPicPr>
            <p:cNvPr id="2" name="Picture 11">
              <a:extLst>
                <a:ext uri="{FF2B5EF4-FFF2-40B4-BE49-F238E27FC236}">
                  <a16:creationId xmlns:a16="http://schemas.microsoft.com/office/drawing/2014/main" id="{F8BAACF9-660C-0EF3-2E02-A2253C99C1D9}"/>
                </a:ext>
              </a:extLst>
            </p:cNvPr>
            <p:cNvPicPr>
              <a:picLocks noChangeAspect="1"/>
            </p:cNvPicPr>
            <p:nvPr/>
          </p:nvPicPr>
          <p:blipFill>
            <a:blip r:embed="rId3">
              <a:extLst>
                <a:ext uri="{28A0092B-C50C-407E-A947-70E740481C1C}">
                  <a14:useLocalDpi xmlns:a14="http://schemas.microsoft.com/office/drawing/2010/main" val="0"/>
                </a:ext>
              </a:extLst>
            </a:blip>
            <a:srcRect r="45034"/>
            <a:stretch>
              <a:fillRect/>
            </a:stretch>
          </p:blipFill>
          <p:spPr>
            <a:xfrm>
              <a:off x="2313559" y="1794832"/>
              <a:ext cx="6129400" cy="3576824"/>
            </a:xfrm>
            <a:prstGeom prst="rect">
              <a:avLst/>
            </a:prstGeom>
          </p:spPr>
        </p:pic>
      </p:grpSp>
    </p:spTree>
    <p:extLst>
      <p:ext uri="{BB962C8B-B14F-4D97-AF65-F5344CB8AC3E}">
        <p14:creationId xmlns:p14="http://schemas.microsoft.com/office/powerpoint/2010/main" val="29624219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12CE11-CB26-6229-1566-344218319356}"/>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DD332B6F-0003-773D-6695-53D2DBD52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C52C7466-CCD5-04BB-DAC7-D92D25013B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B0ABAD40-F709-689F-295C-D72CED1CE7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03E2F9F4-1114-3A4D-0A0A-8EE84544DB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42A846BD-3C43-CA55-2464-9A389CDF7C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FFF68E62-9D4E-072E-FCAE-82C88F5549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F00E78E5-3101-3382-4CAB-11B863E0EE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E48C91B4-3807-0CD6-F673-9925CDB08F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ttangolo 4">
            <a:extLst>
              <a:ext uri="{FF2B5EF4-FFF2-40B4-BE49-F238E27FC236}">
                <a16:creationId xmlns:a16="http://schemas.microsoft.com/office/drawing/2014/main" id="{3C9AFFDF-1025-0447-B461-AE763F0E7D8C}"/>
              </a:ext>
            </a:extLst>
          </p:cNvPr>
          <p:cNvSpPr/>
          <p:nvPr/>
        </p:nvSpPr>
        <p:spPr>
          <a:xfrm>
            <a:off x="426757" y="246448"/>
            <a:ext cx="4263229" cy="461665"/>
          </a:xfrm>
          <a:prstGeom prst="rect">
            <a:avLst/>
          </a:prstGeom>
          <a:noFill/>
          <a:ln>
            <a:noFill/>
          </a:ln>
        </p:spPr>
        <p:txBody>
          <a:bodyPr wrap="square" lIns="91440" tIns="45720" rIns="91440" bIns="45720">
            <a:spAutoFit/>
          </a:bodyPr>
          <a:lstStyle/>
          <a:p>
            <a:r>
              <a:rPr lang="it-IT" sz="24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GUARDIAN : FIRST VERSION</a:t>
            </a:r>
            <a:endParaRPr lang="it-IT" sz="2400"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endParaRPr>
          </a:p>
        </p:txBody>
      </p:sp>
      <p:sp>
        <p:nvSpPr>
          <p:cNvPr id="2" name="Rettangolo 1">
            <a:extLst>
              <a:ext uri="{FF2B5EF4-FFF2-40B4-BE49-F238E27FC236}">
                <a16:creationId xmlns:a16="http://schemas.microsoft.com/office/drawing/2014/main" id="{98473256-789B-5899-0BB9-0100947C5812}"/>
              </a:ext>
            </a:extLst>
          </p:cNvPr>
          <p:cNvSpPr/>
          <p:nvPr/>
        </p:nvSpPr>
        <p:spPr>
          <a:xfrm>
            <a:off x="8080678" y="1661224"/>
            <a:ext cx="4553281" cy="2308324"/>
          </a:xfrm>
          <a:prstGeom prst="rect">
            <a:avLst/>
          </a:prstGeom>
          <a:noFill/>
          <a:ln>
            <a:noFill/>
          </a:ln>
        </p:spPr>
        <p:txBody>
          <a:bodyPr wrap="square" lIns="91440" tIns="45720" rIns="91440" bIns="45720">
            <a:spAutoFit/>
          </a:bodyPr>
          <a:lstStyle/>
          <a:p>
            <a:r>
              <a:rPr lang="it-IT" sz="24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SEQUENTIAL APPROACH :</a:t>
            </a:r>
          </a:p>
          <a:p>
            <a:pPr marL="914400" lvl="1" indent="-457200">
              <a:buFont typeface="+mj-lt"/>
              <a:buAutoNum type="arabicPeriod"/>
            </a:pPr>
            <a:r>
              <a:rPr lang="it-IT" sz="20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Acquire image</a:t>
            </a:r>
          </a:p>
          <a:p>
            <a:pPr marL="914400" lvl="1" indent="-457200">
              <a:buFont typeface="+mj-lt"/>
              <a:buAutoNum type="arabicPeriod"/>
            </a:pPr>
            <a:r>
              <a:rPr lang="it-IT" sz="2000"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Record audio</a:t>
            </a:r>
          </a:p>
          <a:p>
            <a:pPr marL="914400" lvl="1" indent="-457200">
              <a:buFont typeface="+mj-lt"/>
              <a:buAutoNum type="arabicPeriod"/>
            </a:pPr>
            <a:r>
              <a:rPr lang="it-IT" sz="20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Inference on image</a:t>
            </a:r>
          </a:p>
          <a:p>
            <a:pPr marL="914400" lvl="1" indent="-457200">
              <a:buFont typeface="+mj-lt"/>
              <a:buAutoNum type="arabicPeriod"/>
            </a:pPr>
            <a:r>
              <a:rPr lang="it-IT" sz="2000"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Inference on audio</a:t>
            </a:r>
          </a:p>
          <a:p>
            <a:pPr marL="914400" lvl="1" indent="-457200">
              <a:buFont typeface="+mj-lt"/>
              <a:buAutoNum type="arabicPeriod"/>
            </a:pPr>
            <a:r>
              <a:rPr lang="it-IT" sz="20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Compute output, and if</a:t>
            </a:r>
          </a:p>
          <a:p>
            <a:pPr lvl="1"/>
            <a:r>
              <a:rPr lang="it-IT" sz="2000"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        needeed send the alert</a:t>
            </a:r>
          </a:p>
        </p:txBody>
      </p:sp>
      <p:sp>
        <p:nvSpPr>
          <p:cNvPr id="9" name="Rettangolo 8">
            <a:extLst>
              <a:ext uri="{FF2B5EF4-FFF2-40B4-BE49-F238E27FC236}">
                <a16:creationId xmlns:a16="http://schemas.microsoft.com/office/drawing/2014/main" id="{52E017BB-56B4-12B7-794B-65FB7FFA905C}"/>
              </a:ext>
            </a:extLst>
          </p:cNvPr>
          <p:cNvSpPr/>
          <p:nvPr/>
        </p:nvSpPr>
        <p:spPr>
          <a:xfrm>
            <a:off x="604950" y="1661224"/>
            <a:ext cx="6629876" cy="1384995"/>
          </a:xfrm>
          <a:prstGeom prst="rect">
            <a:avLst/>
          </a:prstGeom>
          <a:noFill/>
          <a:ln>
            <a:noFill/>
          </a:ln>
        </p:spPr>
        <p:txBody>
          <a:bodyPr wrap="square" lIns="91440" tIns="45720" rIns="91440" bIns="45720">
            <a:spAutoFit/>
          </a:bodyPr>
          <a:lstStyle/>
          <a:p>
            <a:r>
              <a:rPr lang="it-IT" sz="24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CHARACTERISICS :</a:t>
            </a:r>
          </a:p>
          <a:p>
            <a:pPr marL="914400" lvl="1" indent="-457200">
              <a:buFont typeface="+mj-lt"/>
              <a:buAutoNum type="arabicPeriod"/>
            </a:pPr>
            <a:r>
              <a:rPr lang="it-IT" sz="20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Sequential approach</a:t>
            </a:r>
          </a:p>
          <a:p>
            <a:pPr marL="914400" lvl="1" indent="-457200">
              <a:buFont typeface="+mj-lt"/>
              <a:buAutoNum type="arabicPeriod"/>
            </a:pPr>
            <a:r>
              <a:rPr lang="it-IT" sz="20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Yolo 26 Nano 480 (Image Model)</a:t>
            </a:r>
            <a:endParaRPr lang="it-IT" sz="2000"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endParaRPr>
          </a:p>
          <a:p>
            <a:pPr marL="914400" lvl="1" indent="-457200">
              <a:buFont typeface="+mj-lt"/>
              <a:buAutoNum type="arabicPeriod"/>
            </a:pPr>
            <a:r>
              <a:rPr lang="it-IT" sz="2000"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Inference on audio (Spectrogram on 5s audio)</a:t>
            </a:r>
          </a:p>
        </p:txBody>
      </p:sp>
      <p:sp>
        <p:nvSpPr>
          <p:cNvPr id="10" name="Rettangolo 9">
            <a:extLst>
              <a:ext uri="{FF2B5EF4-FFF2-40B4-BE49-F238E27FC236}">
                <a16:creationId xmlns:a16="http://schemas.microsoft.com/office/drawing/2014/main" id="{7E10E0B7-A7A8-6FD9-403B-6E96C4313112}"/>
              </a:ext>
            </a:extLst>
          </p:cNvPr>
          <p:cNvSpPr/>
          <p:nvPr/>
        </p:nvSpPr>
        <p:spPr>
          <a:xfrm>
            <a:off x="604950" y="4363746"/>
            <a:ext cx="10122044" cy="1077218"/>
          </a:xfrm>
          <a:prstGeom prst="rect">
            <a:avLst/>
          </a:prstGeom>
          <a:noFill/>
          <a:ln>
            <a:noFill/>
          </a:ln>
        </p:spPr>
        <p:txBody>
          <a:bodyPr wrap="square" lIns="91440" tIns="45720" rIns="91440" bIns="45720">
            <a:spAutoFit/>
          </a:bodyPr>
          <a:lstStyle/>
          <a:p>
            <a:r>
              <a:rPr lang="it-IT" sz="24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PROBLEMS:</a:t>
            </a:r>
          </a:p>
          <a:p>
            <a:pPr marL="914400" lvl="1" indent="-457200">
              <a:buFont typeface="+mj-lt"/>
              <a:buAutoNum type="arabicPeriod"/>
            </a:pPr>
            <a:r>
              <a:rPr lang="en-US" sz="20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Recording the audio was the main bottleneck (waiting 5 seconds) </a:t>
            </a:r>
          </a:p>
          <a:p>
            <a:pPr marL="914400" lvl="1" indent="-457200">
              <a:buFont typeface="+mj-lt"/>
              <a:buAutoNum type="arabicPeriod"/>
            </a:pPr>
            <a:r>
              <a:rPr lang="it-IT" sz="20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Output each 6 seconds on average</a:t>
            </a:r>
          </a:p>
        </p:txBody>
      </p:sp>
    </p:spTree>
    <p:extLst>
      <p:ext uri="{BB962C8B-B14F-4D97-AF65-F5344CB8AC3E}">
        <p14:creationId xmlns:p14="http://schemas.microsoft.com/office/powerpoint/2010/main" val="8014353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C34A81-D8D3-B01D-ACE4-225CB62459DD}"/>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7C481670-B1EA-81BA-C26B-E59DE7EB1D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3EC99117-A9CD-628A-E900-E2C7956686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181706CB-8AB8-1937-B673-14D966A075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C9AEDCBF-5E35-5930-43C4-7985FBECA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E9DCDF05-4439-415E-D12E-7452F918AF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F82BC72D-2B19-C75C-8542-C22D480D1E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1F152C72-2899-62A4-7280-36D400E138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68138DB2-5DAA-7A64-96D4-F4C6559A5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ttangolo 33">
            <a:extLst>
              <a:ext uri="{FF2B5EF4-FFF2-40B4-BE49-F238E27FC236}">
                <a16:creationId xmlns:a16="http://schemas.microsoft.com/office/drawing/2014/main" id="{9F876479-5761-2779-50AC-2D46261C1758}"/>
              </a:ext>
            </a:extLst>
          </p:cNvPr>
          <p:cNvSpPr/>
          <p:nvPr/>
        </p:nvSpPr>
        <p:spPr>
          <a:xfrm>
            <a:off x="5180002" y="2767045"/>
            <a:ext cx="4577862" cy="1323439"/>
          </a:xfrm>
          <a:prstGeom prst="rect">
            <a:avLst/>
          </a:prstGeom>
          <a:noFill/>
          <a:ln>
            <a:noFill/>
          </a:ln>
        </p:spPr>
        <p:txBody>
          <a:bodyPr wrap="square" lIns="91440" tIns="45720" rIns="91440" bIns="45720">
            <a:spAutoFit/>
          </a:bodyPr>
          <a:lstStyle/>
          <a:p>
            <a:r>
              <a:rPr lang="it-IT" sz="40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INFERENCE TIME</a:t>
            </a:r>
          </a:p>
          <a:p>
            <a:r>
              <a:rPr lang="it-IT" sz="40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COMPARISON</a:t>
            </a:r>
            <a:endParaRPr lang="it-IT" sz="4000"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endParaRPr>
          </a:p>
        </p:txBody>
      </p:sp>
      <p:pic>
        <p:nvPicPr>
          <p:cNvPr id="3" name="Immagine 2" descr="Immagine che contiene orologio&#10;&#10;Il contenuto generato dall'IA potrebbe non essere corretto.">
            <a:extLst>
              <a:ext uri="{FF2B5EF4-FFF2-40B4-BE49-F238E27FC236}">
                <a16:creationId xmlns:a16="http://schemas.microsoft.com/office/drawing/2014/main" id="{647E568C-7981-E876-A58C-7EA62A5A60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4136" y="1999835"/>
            <a:ext cx="2858330" cy="2858330"/>
          </a:xfrm>
          <a:prstGeom prst="rect">
            <a:avLst/>
          </a:prstGeom>
        </p:spPr>
      </p:pic>
    </p:spTree>
    <p:extLst>
      <p:ext uri="{BB962C8B-B14F-4D97-AF65-F5344CB8AC3E}">
        <p14:creationId xmlns:p14="http://schemas.microsoft.com/office/powerpoint/2010/main" val="27653914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6BBA7FC-C10E-F7BA-3F73-AF4F568AC706}"/>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C58594F-5F05-819A-397C-09EEBF9BAD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9A91D36E-1833-7D88-B481-FB30ACB3F4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B7127EC7-2871-A61F-EE93-986195A101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C0D45B52-2226-739E-72F4-293C595696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F6DD4076-C15B-CB86-E074-657333C76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16976492-5F6A-B819-9808-ACE1719754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5318C05F-089B-318F-55C8-04A78DEBA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DBD9E70B-FC53-5B46-F1B4-546AD51A3A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ttangolo 33">
            <a:extLst>
              <a:ext uri="{FF2B5EF4-FFF2-40B4-BE49-F238E27FC236}">
                <a16:creationId xmlns:a16="http://schemas.microsoft.com/office/drawing/2014/main" id="{E8ADD365-01F6-C54E-67A7-FCBDB0E729D0}"/>
              </a:ext>
            </a:extLst>
          </p:cNvPr>
          <p:cNvSpPr/>
          <p:nvPr/>
        </p:nvSpPr>
        <p:spPr>
          <a:xfrm>
            <a:off x="1319244" y="225586"/>
            <a:ext cx="4577862" cy="830997"/>
          </a:xfrm>
          <a:prstGeom prst="rect">
            <a:avLst/>
          </a:prstGeom>
          <a:noFill/>
          <a:ln>
            <a:noFill/>
          </a:ln>
        </p:spPr>
        <p:txBody>
          <a:bodyPr wrap="square" lIns="91440" tIns="45720" rIns="91440" bIns="45720">
            <a:spAutoFit/>
          </a:bodyPr>
          <a:lstStyle/>
          <a:p>
            <a:r>
              <a:rPr lang="it-IT" sz="24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INFERENCE TIME</a:t>
            </a:r>
          </a:p>
          <a:p>
            <a:r>
              <a:rPr lang="it-IT" sz="24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COMPARISON</a:t>
            </a:r>
            <a:endParaRPr lang="it-IT" sz="2400"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endParaRPr>
          </a:p>
        </p:txBody>
      </p:sp>
      <p:pic>
        <p:nvPicPr>
          <p:cNvPr id="3" name="Immagine 2" descr="Immagine che contiene orologio&#10;&#10;Il contenuto generato dall'IA potrebbe non essere corretto.">
            <a:extLst>
              <a:ext uri="{FF2B5EF4-FFF2-40B4-BE49-F238E27FC236}">
                <a16:creationId xmlns:a16="http://schemas.microsoft.com/office/drawing/2014/main" id="{54B623CC-1321-0CAB-62F3-BD785692CE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9478"/>
            <a:ext cx="1321126" cy="1321126"/>
          </a:xfrm>
          <a:prstGeom prst="rect">
            <a:avLst/>
          </a:prstGeom>
        </p:spPr>
      </p:pic>
      <p:sp>
        <p:nvSpPr>
          <p:cNvPr id="2" name="Rettangolo 1">
            <a:extLst>
              <a:ext uri="{FF2B5EF4-FFF2-40B4-BE49-F238E27FC236}">
                <a16:creationId xmlns:a16="http://schemas.microsoft.com/office/drawing/2014/main" id="{552BD3FC-FE1D-0202-CB76-27C3B8E7D1BF}"/>
              </a:ext>
            </a:extLst>
          </p:cNvPr>
          <p:cNvSpPr/>
          <p:nvPr/>
        </p:nvSpPr>
        <p:spPr>
          <a:xfrm>
            <a:off x="2299982" y="1680651"/>
            <a:ext cx="2117130" cy="369332"/>
          </a:xfrm>
          <a:prstGeom prst="rect">
            <a:avLst/>
          </a:prstGeom>
          <a:noFill/>
          <a:ln>
            <a:noFill/>
          </a:ln>
        </p:spPr>
        <p:txBody>
          <a:bodyPr wrap="square" lIns="91440" tIns="45720" rIns="91440" bIns="45720">
            <a:spAutoFit/>
          </a:bodyPr>
          <a:lstStyle/>
          <a:p>
            <a:r>
              <a:rPr lang="it-IT"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IMAGE MODELS</a:t>
            </a:r>
          </a:p>
        </p:txBody>
      </p:sp>
      <p:sp>
        <p:nvSpPr>
          <p:cNvPr id="4" name="Rettangolo 3">
            <a:extLst>
              <a:ext uri="{FF2B5EF4-FFF2-40B4-BE49-F238E27FC236}">
                <a16:creationId xmlns:a16="http://schemas.microsoft.com/office/drawing/2014/main" id="{38532700-0554-7984-9DB8-708E02E0CAEF}"/>
              </a:ext>
            </a:extLst>
          </p:cNvPr>
          <p:cNvSpPr/>
          <p:nvPr/>
        </p:nvSpPr>
        <p:spPr>
          <a:xfrm>
            <a:off x="8204586" y="1920684"/>
            <a:ext cx="2117130" cy="369332"/>
          </a:xfrm>
          <a:prstGeom prst="rect">
            <a:avLst/>
          </a:prstGeom>
          <a:noFill/>
          <a:ln>
            <a:noFill/>
          </a:ln>
        </p:spPr>
        <p:txBody>
          <a:bodyPr wrap="square" lIns="91440" tIns="45720" rIns="91440" bIns="45720">
            <a:spAutoFit/>
          </a:bodyPr>
          <a:lstStyle/>
          <a:p>
            <a:r>
              <a:rPr lang="it-IT"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SOUND MODELS</a:t>
            </a:r>
          </a:p>
        </p:txBody>
      </p:sp>
      <p:graphicFrame>
        <p:nvGraphicFramePr>
          <p:cNvPr id="7" name="Grafico 6">
            <a:extLst>
              <a:ext uri="{FF2B5EF4-FFF2-40B4-BE49-F238E27FC236}">
                <a16:creationId xmlns:a16="http://schemas.microsoft.com/office/drawing/2014/main" id="{6335CDFD-6FB5-90CF-CFB0-50A2611F97AE}"/>
              </a:ext>
            </a:extLst>
          </p:cNvPr>
          <p:cNvGraphicFramePr/>
          <p:nvPr>
            <p:extLst>
              <p:ext uri="{D42A27DB-BD31-4B8C-83A1-F6EECF244321}">
                <p14:modId xmlns:p14="http://schemas.microsoft.com/office/powerpoint/2010/main" val="1506502233"/>
              </p:ext>
            </p:extLst>
          </p:nvPr>
        </p:nvGraphicFramePr>
        <p:xfrm>
          <a:off x="133432" y="1920685"/>
          <a:ext cx="5919258" cy="375840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Grafico 7">
            <a:extLst>
              <a:ext uri="{FF2B5EF4-FFF2-40B4-BE49-F238E27FC236}">
                <a16:creationId xmlns:a16="http://schemas.microsoft.com/office/drawing/2014/main" id="{282251A2-C19E-389D-602D-DB36CA434D10}"/>
              </a:ext>
            </a:extLst>
          </p:cNvPr>
          <p:cNvGraphicFramePr/>
          <p:nvPr>
            <p:extLst>
              <p:ext uri="{D42A27DB-BD31-4B8C-83A1-F6EECF244321}">
                <p14:modId xmlns:p14="http://schemas.microsoft.com/office/powerpoint/2010/main" val="1844056971"/>
              </p:ext>
            </p:extLst>
          </p:nvPr>
        </p:nvGraphicFramePr>
        <p:xfrm>
          <a:off x="6139312" y="1920685"/>
          <a:ext cx="5832638" cy="375840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9521976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652B2BF-B211-175B-5489-F895BD208DF8}"/>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21D9951-F53C-8023-E18E-D0239EFF61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6B72570F-1CB0-C116-BD49-055436839A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EA563CE6-EB8D-6400-25E2-64C91A386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9D65D4F2-FFAB-13EE-9CCB-9511687E36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CCF62407-FDD7-A8B6-3082-998598BD1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4DDC1CAC-2747-E406-1E09-1F512557B1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98063A85-450D-E6E5-8075-02D76D1557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6D306233-0A62-50B7-8116-3FBDFB69C7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ttangolo 4">
            <a:extLst>
              <a:ext uri="{FF2B5EF4-FFF2-40B4-BE49-F238E27FC236}">
                <a16:creationId xmlns:a16="http://schemas.microsoft.com/office/drawing/2014/main" id="{65B694B8-DD96-0707-C3D5-5027270DBCC8}"/>
              </a:ext>
            </a:extLst>
          </p:cNvPr>
          <p:cNvSpPr/>
          <p:nvPr/>
        </p:nvSpPr>
        <p:spPr>
          <a:xfrm>
            <a:off x="5596441" y="3136612"/>
            <a:ext cx="3947789" cy="707886"/>
          </a:xfrm>
          <a:prstGeom prst="rect">
            <a:avLst/>
          </a:prstGeom>
          <a:noFill/>
          <a:ln>
            <a:noFill/>
          </a:ln>
        </p:spPr>
        <p:txBody>
          <a:bodyPr wrap="square" lIns="91440" tIns="45720" rIns="91440" bIns="45720">
            <a:spAutoFit/>
          </a:bodyPr>
          <a:lstStyle/>
          <a:p>
            <a:r>
              <a:rPr lang="it-IT" sz="40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OPTIMIZATION</a:t>
            </a:r>
            <a:endParaRPr lang="it-IT" sz="4000"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endParaRPr>
          </a:p>
        </p:txBody>
      </p:sp>
      <p:pic>
        <p:nvPicPr>
          <p:cNvPr id="3" name="Immagine 2" descr="Immagine che contiene Blu intenso, orologio, cerchio, notte&#10;&#10;Il contenuto generato dall'IA potrebbe non essere corretto.">
            <a:extLst>
              <a:ext uri="{FF2B5EF4-FFF2-40B4-BE49-F238E27FC236}">
                <a16:creationId xmlns:a16="http://schemas.microsoft.com/office/drawing/2014/main" id="{54106A1D-F316-64F1-DF9A-2B54E14A95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7771" y="1892625"/>
            <a:ext cx="3072751" cy="3072751"/>
          </a:xfrm>
          <a:prstGeom prst="rect">
            <a:avLst/>
          </a:prstGeom>
        </p:spPr>
      </p:pic>
    </p:spTree>
    <p:extLst>
      <p:ext uri="{BB962C8B-B14F-4D97-AF65-F5344CB8AC3E}">
        <p14:creationId xmlns:p14="http://schemas.microsoft.com/office/powerpoint/2010/main" val="17524917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E20792C-9E69-C279-7DE2-4E46FD209EE9}"/>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F4F727C-C92B-2CBF-9AC3-6268F85D2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EC50F6B-735E-BA13-48EA-E18B3A83AE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9A990DC2-855C-EBCE-2331-1A6F64848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6737EA19-8210-AE8F-F270-D0833F23C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490C609C-B8C4-A39E-A6CD-3348C4777D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552B4605-7365-60BA-A324-89472C8507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BD2A47ED-CA67-A20B-B380-1FF3DACF9E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EF30A05E-4FC9-C320-FD33-546FDDE912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ttangolo 3">
            <a:extLst>
              <a:ext uri="{FF2B5EF4-FFF2-40B4-BE49-F238E27FC236}">
                <a16:creationId xmlns:a16="http://schemas.microsoft.com/office/drawing/2014/main" id="{59159638-404E-0271-85D4-59AF86A975D5}"/>
              </a:ext>
            </a:extLst>
          </p:cNvPr>
          <p:cNvSpPr/>
          <p:nvPr/>
        </p:nvSpPr>
        <p:spPr>
          <a:xfrm>
            <a:off x="1907324" y="2397713"/>
            <a:ext cx="8377352" cy="1692771"/>
          </a:xfrm>
          <a:prstGeom prst="rect">
            <a:avLst/>
          </a:prstGeom>
          <a:noFill/>
          <a:ln>
            <a:noFill/>
          </a:ln>
        </p:spPr>
        <p:txBody>
          <a:bodyPr wrap="square" lIns="91440" tIns="45720" rIns="91440" bIns="45720">
            <a:spAutoFit/>
          </a:bodyPr>
          <a:lstStyle/>
          <a:p>
            <a:r>
              <a:rPr lang="it-IT" sz="24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IMPROVEMENTS:</a:t>
            </a:r>
          </a:p>
          <a:p>
            <a:pPr marL="914400" lvl="1" indent="-457200">
              <a:buFont typeface="+mj-lt"/>
              <a:buAutoNum type="arabicPeriod"/>
            </a:pPr>
            <a:r>
              <a:rPr lang="it-IT" sz="20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Parallel approach (Exploiting Multiprocessing library and IPC)</a:t>
            </a:r>
          </a:p>
          <a:p>
            <a:pPr marL="914400" lvl="1" indent="-457200">
              <a:buFont typeface="+mj-lt"/>
              <a:buAutoNum type="arabicPeriod"/>
            </a:pPr>
            <a:r>
              <a:rPr lang="it-IT" sz="20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Audio model improvements, dataset optimizations, needs shorter audio (3 seconds)</a:t>
            </a:r>
          </a:p>
          <a:p>
            <a:pPr marL="914400" lvl="1" indent="-457200">
              <a:buFont typeface="+mj-lt"/>
              <a:buAutoNum type="arabicPeriod"/>
            </a:pPr>
            <a:r>
              <a:rPr lang="it-IT" sz="20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Switch to YOLO 26 Nano 640</a:t>
            </a:r>
            <a:endParaRPr lang="it-IT" sz="2000"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endParaRPr>
          </a:p>
        </p:txBody>
      </p:sp>
      <p:sp>
        <p:nvSpPr>
          <p:cNvPr id="2" name="Rettangolo 1">
            <a:extLst>
              <a:ext uri="{FF2B5EF4-FFF2-40B4-BE49-F238E27FC236}">
                <a16:creationId xmlns:a16="http://schemas.microsoft.com/office/drawing/2014/main" id="{23D15182-9AF2-2ECA-1D52-884AAB862B87}"/>
              </a:ext>
            </a:extLst>
          </p:cNvPr>
          <p:cNvSpPr/>
          <p:nvPr/>
        </p:nvSpPr>
        <p:spPr>
          <a:xfrm>
            <a:off x="1137659" y="391155"/>
            <a:ext cx="3091210" cy="461665"/>
          </a:xfrm>
          <a:prstGeom prst="rect">
            <a:avLst/>
          </a:prstGeom>
          <a:noFill/>
          <a:ln>
            <a:noFill/>
          </a:ln>
        </p:spPr>
        <p:txBody>
          <a:bodyPr wrap="square" lIns="91440" tIns="45720" rIns="91440" bIns="45720">
            <a:spAutoFit/>
          </a:bodyPr>
          <a:lstStyle/>
          <a:p>
            <a:r>
              <a:rPr lang="it-IT" sz="24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OPTIMIZATION</a:t>
            </a:r>
            <a:endParaRPr lang="it-IT" sz="2400"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endParaRPr>
          </a:p>
        </p:txBody>
      </p:sp>
      <p:pic>
        <p:nvPicPr>
          <p:cNvPr id="3" name="Immagine 2" descr="Immagine che contiene Blu intenso, orologio, cerchio, notte&#10;&#10;Il contenuto generato dall'IA potrebbe non essere corretto.">
            <a:extLst>
              <a:ext uri="{FF2B5EF4-FFF2-40B4-BE49-F238E27FC236}">
                <a16:creationId xmlns:a16="http://schemas.microsoft.com/office/drawing/2014/main" id="{930FF974-0002-C92B-1FE1-A6CC86F20F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77" y="-5"/>
            <a:ext cx="1243987" cy="1243987"/>
          </a:xfrm>
          <a:prstGeom prst="rect">
            <a:avLst/>
          </a:prstGeom>
        </p:spPr>
      </p:pic>
    </p:spTree>
    <p:extLst>
      <p:ext uri="{BB962C8B-B14F-4D97-AF65-F5344CB8AC3E}">
        <p14:creationId xmlns:p14="http://schemas.microsoft.com/office/powerpoint/2010/main" val="40159959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59C79C-D3A9-D83F-E267-A095710ED415}"/>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DA6AE1A-343A-17A9-049F-A686F1EE73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2E463676-9C50-1816-3BBF-7467CBEE5A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6EE0268F-DAA6-5A94-7774-9F9E1DC8D3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0C711A33-FCB7-F4BB-61D3-947BDCCF7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4AB26D55-9A39-71E6-5802-58D8F85C59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063BC38C-586C-3EBE-A870-659DDC163B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43BD0CD5-8E62-946A-6783-B426812C26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483A36D0-721A-7A5F-6873-7E669F753C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Immagine 5" descr="Immagine che contiene Elementi grafici, Carattere, grafica, simbolo&#10;&#10;Il contenuto generato dall'IA potrebbe non essere corretto.">
            <a:extLst>
              <a:ext uri="{FF2B5EF4-FFF2-40B4-BE49-F238E27FC236}">
                <a16:creationId xmlns:a16="http://schemas.microsoft.com/office/drawing/2014/main" id="{2214F6CC-08F1-FF2A-9065-E2B3E04E52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78691" y="2023011"/>
            <a:ext cx="935210" cy="935210"/>
          </a:xfrm>
          <a:prstGeom prst="rect">
            <a:avLst/>
          </a:prstGeom>
        </p:spPr>
      </p:pic>
      <p:pic>
        <p:nvPicPr>
          <p:cNvPr id="9" name="Immagine 8" descr="Immagine che contiene cerchio, cartone animato, creatività, arte&#10;&#10;Il contenuto generato dall'IA potrebbe non essere corretto.">
            <a:extLst>
              <a:ext uri="{FF2B5EF4-FFF2-40B4-BE49-F238E27FC236}">
                <a16:creationId xmlns:a16="http://schemas.microsoft.com/office/drawing/2014/main" id="{96274435-0504-E297-C200-7F202D6980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590" y="1860552"/>
            <a:ext cx="1266372" cy="1266372"/>
          </a:xfrm>
          <a:prstGeom prst="rect">
            <a:avLst/>
          </a:prstGeom>
        </p:spPr>
      </p:pic>
      <p:pic>
        <p:nvPicPr>
          <p:cNvPr id="15" name="Immagine 14" descr="Immagine che contiene disegno, cuore, arte&#10;&#10;Il contenuto generato dall'IA potrebbe non essere corretto.">
            <a:extLst>
              <a:ext uri="{FF2B5EF4-FFF2-40B4-BE49-F238E27FC236}">
                <a16:creationId xmlns:a16="http://schemas.microsoft.com/office/drawing/2014/main" id="{E7102674-B5E2-46BF-980F-008D41FB9F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78932" y="3960117"/>
            <a:ext cx="944692" cy="873840"/>
          </a:xfrm>
          <a:prstGeom prst="rect">
            <a:avLst/>
          </a:prstGeom>
        </p:spPr>
      </p:pic>
      <p:sp>
        <p:nvSpPr>
          <p:cNvPr id="19" name="Freccia bidirezionale orizzontale 18">
            <a:extLst>
              <a:ext uri="{FF2B5EF4-FFF2-40B4-BE49-F238E27FC236}">
                <a16:creationId xmlns:a16="http://schemas.microsoft.com/office/drawing/2014/main" id="{A1E2EC24-B209-761A-1361-31EAF037AA2F}"/>
              </a:ext>
            </a:extLst>
          </p:cNvPr>
          <p:cNvSpPr/>
          <p:nvPr/>
        </p:nvSpPr>
        <p:spPr>
          <a:xfrm rot="2605935">
            <a:off x="7583915" y="3264162"/>
            <a:ext cx="1445342" cy="433567"/>
          </a:xfrm>
          <a:prstGeom prst="leftRightArrow">
            <a:avLst/>
          </a:prstGeom>
          <a:solidFill>
            <a:schemeClr val="tx2">
              <a:lumMod val="50000"/>
              <a:lumOff val="50000"/>
            </a:schemeClr>
          </a:solidFill>
          <a:ln>
            <a:solidFill>
              <a:srgbClr val="1546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5" name="Freccia bidirezionale orizzontale 24">
            <a:extLst>
              <a:ext uri="{FF2B5EF4-FFF2-40B4-BE49-F238E27FC236}">
                <a16:creationId xmlns:a16="http://schemas.microsoft.com/office/drawing/2014/main" id="{CDDE9CE5-03FF-F1F1-AEC5-E0417ACAAF50}"/>
              </a:ext>
            </a:extLst>
          </p:cNvPr>
          <p:cNvSpPr/>
          <p:nvPr/>
        </p:nvSpPr>
        <p:spPr>
          <a:xfrm rot="19023334">
            <a:off x="9442912" y="3271430"/>
            <a:ext cx="1445342" cy="433567"/>
          </a:xfrm>
          <a:prstGeom prst="leftRightArrow">
            <a:avLst/>
          </a:prstGeom>
          <a:solidFill>
            <a:schemeClr val="tx2">
              <a:lumMod val="50000"/>
              <a:lumOff val="50000"/>
            </a:schemeClr>
          </a:solidFill>
          <a:ln>
            <a:solidFill>
              <a:srgbClr val="1546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pic>
        <p:nvPicPr>
          <p:cNvPr id="27" name="Immagine 26" descr="Immagine che contiene Elementi grafici, Carattere, grafica, simbolo&#10;&#10;Il contenuto generato dall'IA potrebbe non essere corretto.">
            <a:extLst>
              <a:ext uri="{FF2B5EF4-FFF2-40B4-BE49-F238E27FC236}">
                <a16:creationId xmlns:a16="http://schemas.microsoft.com/office/drawing/2014/main" id="{EE93DF88-5D7D-5411-9D1E-88D8814F38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7559" y="5076973"/>
            <a:ext cx="763739" cy="763739"/>
          </a:xfrm>
          <a:prstGeom prst="rect">
            <a:avLst/>
          </a:prstGeom>
        </p:spPr>
      </p:pic>
      <p:pic>
        <p:nvPicPr>
          <p:cNvPr id="29" name="Immagine 28" descr="Immagine che contiene cerchio, cartone animato, creatività, arte&#10;&#10;Il contenuto generato dall'IA potrebbe non essere corretto.">
            <a:extLst>
              <a:ext uri="{FF2B5EF4-FFF2-40B4-BE49-F238E27FC236}">
                <a16:creationId xmlns:a16="http://schemas.microsoft.com/office/drawing/2014/main" id="{780BDF89-D1F7-DD3E-5C9F-5889B30D3F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5888" y="3452266"/>
            <a:ext cx="944771" cy="944771"/>
          </a:xfrm>
          <a:prstGeom prst="rect">
            <a:avLst/>
          </a:prstGeom>
        </p:spPr>
      </p:pic>
      <p:pic>
        <p:nvPicPr>
          <p:cNvPr id="30" name="Immagine 29" descr="Immagine che contiene disegno, cuore, arte&#10;&#10;Il contenuto generato dall'IA potrebbe non essere corretto.">
            <a:extLst>
              <a:ext uri="{FF2B5EF4-FFF2-40B4-BE49-F238E27FC236}">
                <a16:creationId xmlns:a16="http://schemas.microsoft.com/office/drawing/2014/main" id="{82189036-030A-8A5E-11F2-ABD01CF7FE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8950" y="1988573"/>
            <a:ext cx="944692" cy="873840"/>
          </a:xfrm>
          <a:prstGeom prst="rect">
            <a:avLst/>
          </a:prstGeom>
        </p:spPr>
      </p:pic>
      <p:sp>
        <p:nvSpPr>
          <p:cNvPr id="31" name="CasellaDiTesto 30">
            <a:extLst>
              <a:ext uri="{FF2B5EF4-FFF2-40B4-BE49-F238E27FC236}">
                <a16:creationId xmlns:a16="http://schemas.microsoft.com/office/drawing/2014/main" id="{FB5CE60F-AF9D-2C09-5590-DFEA975529BA}"/>
              </a:ext>
            </a:extLst>
          </p:cNvPr>
          <p:cNvSpPr txBox="1"/>
          <p:nvPr/>
        </p:nvSpPr>
        <p:spPr>
          <a:xfrm>
            <a:off x="1522279" y="3452266"/>
            <a:ext cx="5274113" cy="1200329"/>
          </a:xfrm>
          <a:prstGeom prst="rect">
            <a:avLst/>
          </a:prstGeom>
          <a:noFill/>
        </p:spPr>
        <p:txBody>
          <a:bodyPr wrap="square" rtlCol="0">
            <a:spAutoFit/>
          </a:bodyPr>
          <a:lstStyle/>
          <a:p>
            <a:r>
              <a:rPr lang="it-IT" dirty="0">
                <a:solidFill>
                  <a:schemeClr val="bg1"/>
                </a:solidFill>
                <a:latin typeface="Alata" pitchFamily="2" charset="0"/>
                <a:cs typeface="Alata" pitchFamily="2" charset="0"/>
              </a:rPr>
              <a:t>EYE PROCESS : STANDALONE PROCESS , INITIALIZE CAMERA, ACQUIRE THE IMAGE, PROCESS IT, MAKE INFERENCE , PROVIDE DETECTIONS AS OUTPUT</a:t>
            </a:r>
          </a:p>
        </p:txBody>
      </p:sp>
      <p:sp>
        <p:nvSpPr>
          <p:cNvPr id="32" name="CasellaDiTesto 31">
            <a:extLst>
              <a:ext uri="{FF2B5EF4-FFF2-40B4-BE49-F238E27FC236}">
                <a16:creationId xmlns:a16="http://schemas.microsoft.com/office/drawing/2014/main" id="{9C18FF8F-0002-05E6-FDA1-3241AFD956CE}"/>
              </a:ext>
            </a:extLst>
          </p:cNvPr>
          <p:cNvSpPr txBox="1"/>
          <p:nvPr/>
        </p:nvSpPr>
        <p:spPr>
          <a:xfrm>
            <a:off x="1522279" y="4997177"/>
            <a:ext cx="6311185" cy="923330"/>
          </a:xfrm>
          <a:prstGeom prst="rect">
            <a:avLst/>
          </a:prstGeom>
          <a:noFill/>
        </p:spPr>
        <p:txBody>
          <a:bodyPr wrap="square" rtlCol="0">
            <a:spAutoFit/>
          </a:bodyPr>
          <a:lstStyle/>
          <a:p>
            <a:r>
              <a:rPr lang="it-IT" dirty="0">
                <a:solidFill>
                  <a:schemeClr val="bg1"/>
                </a:solidFill>
                <a:latin typeface="Alata" pitchFamily="2" charset="0"/>
                <a:cs typeface="Alata" pitchFamily="2" charset="0"/>
              </a:rPr>
              <a:t>EAR PROCESS : STANDALONE PROCESS , INITIALIZE MICROPHONE, RECORD AN AUDIO, PROCESS IT, MAKE INFERENCE , PROVIDE DETECTIONS AS OUTPUT</a:t>
            </a:r>
          </a:p>
        </p:txBody>
      </p:sp>
      <p:sp>
        <p:nvSpPr>
          <p:cNvPr id="33" name="CasellaDiTesto 32">
            <a:extLst>
              <a:ext uri="{FF2B5EF4-FFF2-40B4-BE49-F238E27FC236}">
                <a16:creationId xmlns:a16="http://schemas.microsoft.com/office/drawing/2014/main" id="{55A4CE90-E5AF-7579-4FA3-E925B6F7F70D}"/>
              </a:ext>
            </a:extLst>
          </p:cNvPr>
          <p:cNvSpPr txBox="1"/>
          <p:nvPr/>
        </p:nvSpPr>
        <p:spPr>
          <a:xfrm>
            <a:off x="1548052" y="1733015"/>
            <a:ext cx="3832201" cy="1200329"/>
          </a:xfrm>
          <a:prstGeom prst="rect">
            <a:avLst/>
          </a:prstGeom>
          <a:noFill/>
        </p:spPr>
        <p:txBody>
          <a:bodyPr wrap="square" rtlCol="0">
            <a:spAutoFit/>
          </a:bodyPr>
          <a:lstStyle/>
          <a:p>
            <a:r>
              <a:rPr lang="it-IT" dirty="0">
                <a:solidFill>
                  <a:schemeClr val="bg1"/>
                </a:solidFill>
                <a:latin typeface="Alata" pitchFamily="2" charset="0"/>
                <a:cs typeface="Alata" pitchFamily="2" charset="0"/>
              </a:rPr>
              <a:t>BRAIN PROCESS : MAIN PROCESS, STARTS EYE AND EAR PROCESS, WAITS THEIR OUTPUT, EVALUTE THE STATE, SEND ALERT MESSAGES</a:t>
            </a:r>
          </a:p>
        </p:txBody>
      </p:sp>
      <p:sp>
        <p:nvSpPr>
          <p:cNvPr id="34" name="Rettangolo 33">
            <a:extLst>
              <a:ext uri="{FF2B5EF4-FFF2-40B4-BE49-F238E27FC236}">
                <a16:creationId xmlns:a16="http://schemas.microsoft.com/office/drawing/2014/main" id="{66BEEE45-C713-7AB5-511F-E560665D5EE8}"/>
              </a:ext>
            </a:extLst>
          </p:cNvPr>
          <p:cNvSpPr/>
          <p:nvPr/>
        </p:nvSpPr>
        <p:spPr>
          <a:xfrm>
            <a:off x="426757" y="246448"/>
            <a:ext cx="4931824" cy="461665"/>
          </a:xfrm>
          <a:prstGeom prst="rect">
            <a:avLst/>
          </a:prstGeom>
          <a:noFill/>
          <a:ln>
            <a:noFill/>
          </a:ln>
        </p:spPr>
        <p:txBody>
          <a:bodyPr wrap="square" lIns="91440" tIns="45720" rIns="91440" bIns="45720">
            <a:spAutoFit/>
          </a:bodyPr>
          <a:lstStyle/>
          <a:p>
            <a:r>
              <a:rPr lang="it-IT" sz="24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GUARDIAN : OPTIMIZED VERSION</a:t>
            </a:r>
            <a:endParaRPr lang="it-IT" sz="2400"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endParaRPr>
          </a:p>
        </p:txBody>
      </p:sp>
    </p:spTree>
    <p:extLst>
      <p:ext uri="{BB962C8B-B14F-4D97-AF65-F5344CB8AC3E}">
        <p14:creationId xmlns:p14="http://schemas.microsoft.com/office/powerpoint/2010/main" val="32151216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EC18CCA-F93E-656D-FC1F-C0C7B9B8B660}"/>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02AF63C-7A06-1804-86A0-1E9C24A790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3D70A08D-91DE-5B8D-AE67-AB6BB3F1AA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77A02AE4-02DF-8508-D6FD-0FC7A1A735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C7A3ED3E-299E-C308-6567-59293A6120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5439C889-E192-08D5-B9A2-F039F2F5CC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ACA39744-4EE1-2E2E-4386-8FF23D414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6AECBA20-9DF2-6EB4-F0C3-BF66E61E9A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D2F31CDC-ACB5-C181-6501-F55E673343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ttangolo 33">
            <a:extLst>
              <a:ext uri="{FF2B5EF4-FFF2-40B4-BE49-F238E27FC236}">
                <a16:creationId xmlns:a16="http://schemas.microsoft.com/office/drawing/2014/main" id="{35E83815-602F-046B-FE3B-FF835F9489A8}"/>
              </a:ext>
            </a:extLst>
          </p:cNvPr>
          <p:cNvSpPr/>
          <p:nvPr/>
        </p:nvSpPr>
        <p:spPr>
          <a:xfrm>
            <a:off x="426757" y="246448"/>
            <a:ext cx="4931824" cy="461665"/>
          </a:xfrm>
          <a:prstGeom prst="rect">
            <a:avLst/>
          </a:prstGeom>
          <a:noFill/>
          <a:ln>
            <a:noFill/>
          </a:ln>
        </p:spPr>
        <p:txBody>
          <a:bodyPr wrap="square" lIns="91440" tIns="45720" rIns="91440" bIns="45720">
            <a:spAutoFit/>
          </a:bodyPr>
          <a:lstStyle/>
          <a:p>
            <a:r>
              <a:rPr lang="it-IT" sz="24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GUARDIAN : OPTIMIZED VERSION</a:t>
            </a:r>
            <a:endParaRPr lang="it-IT" sz="2400"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endParaRPr>
          </a:p>
        </p:txBody>
      </p:sp>
      <p:pic>
        <p:nvPicPr>
          <p:cNvPr id="4" name="Immagine 3" descr="Immagine che contiene persona, Viso umano, veicolo, automobile&#10;&#10;Il contenuto generato dall'IA potrebbe non essere corretto.">
            <a:extLst>
              <a:ext uri="{FF2B5EF4-FFF2-40B4-BE49-F238E27FC236}">
                <a16:creationId xmlns:a16="http://schemas.microsoft.com/office/drawing/2014/main" id="{39556616-C0A8-AFE3-B9FD-7D66A30B0DC0}"/>
              </a:ext>
            </a:extLst>
          </p:cNvPr>
          <p:cNvPicPr>
            <a:picLocks noChangeAspect="1"/>
          </p:cNvPicPr>
          <p:nvPr/>
        </p:nvPicPr>
        <p:blipFill>
          <a:blip r:embed="rId2">
            <a:extLst>
              <a:ext uri="{28A0092B-C50C-407E-A947-70E740481C1C}">
                <a14:useLocalDpi xmlns:a14="http://schemas.microsoft.com/office/drawing/2010/main" val="0"/>
              </a:ext>
            </a:extLst>
          </a:blip>
          <a:srcRect t="18134" b="17499"/>
          <a:stretch>
            <a:fillRect/>
          </a:stretch>
        </p:blipFill>
        <p:spPr>
          <a:xfrm>
            <a:off x="1748290" y="1849839"/>
            <a:ext cx="3011314" cy="1938297"/>
          </a:xfrm>
          <a:prstGeom prst="rect">
            <a:avLst/>
          </a:prstGeom>
        </p:spPr>
      </p:pic>
      <p:pic>
        <p:nvPicPr>
          <p:cNvPr id="6" name="Immagine 5" descr="Immagine che contiene Viso umano, persona, veicolo, automobile&#10;&#10;Il contenuto generato dall'IA potrebbe non essere corretto.">
            <a:extLst>
              <a:ext uri="{FF2B5EF4-FFF2-40B4-BE49-F238E27FC236}">
                <a16:creationId xmlns:a16="http://schemas.microsoft.com/office/drawing/2014/main" id="{473110CA-C50D-76A8-0698-A0CC3A1FD1B3}"/>
              </a:ext>
            </a:extLst>
          </p:cNvPr>
          <p:cNvPicPr>
            <a:picLocks noChangeAspect="1"/>
          </p:cNvPicPr>
          <p:nvPr/>
        </p:nvPicPr>
        <p:blipFill>
          <a:blip r:embed="rId3">
            <a:extLst>
              <a:ext uri="{28A0092B-C50C-407E-A947-70E740481C1C}">
                <a14:useLocalDpi xmlns:a14="http://schemas.microsoft.com/office/drawing/2010/main" val="0"/>
              </a:ext>
            </a:extLst>
          </a:blip>
          <a:srcRect t="16902" b="18732"/>
          <a:stretch>
            <a:fillRect/>
          </a:stretch>
        </p:blipFill>
        <p:spPr>
          <a:xfrm>
            <a:off x="7223931" y="1810753"/>
            <a:ext cx="3011314" cy="1938297"/>
          </a:xfrm>
          <a:prstGeom prst="rect">
            <a:avLst/>
          </a:prstGeom>
        </p:spPr>
      </p:pic>
      <p:pic>
        <p:nvPicPr>
          <p:cNvPr id="8" name="Immagine 7" descr="Immagine che contiene persona, Viso umano, veicolo, vestiti&#10;&#10;Il contenuto generato dall'IA potrebbe non essere corretto.">
            <a:extLst>
              <a:ext uri="{FF2B5EF4-FFF2-40B4-BE49-F238E27FC236}">
                <a16:creationId xmlns:a16="http://schemas.microsoft.com/office/drawing/2014/main" id="{AE40572E-A405-9A9D-D784-975A756284B4}"/>
              </a:ext>
            </a:extLst>
          </p:cNvPr>
          <p:cNvPicPr>
            <a:picLocks noChangeAspect="1"/>
          </p:cNvPicPr>
          <p:nvPr/>
        </p:nvPicPr>
        <p:blipFill>
          <a:blip r:embed="rId4">
            <a:extLst>
              <a:ext uri="{28A0092B-C50C-407E-A947-70E740481C1C}">
                <a14:useLocalDpi xmlns:a14="http://schemas.microsoft.com/office/drawing/2010/main" val="0"/>
              </a:ext>
            </a:extLst>
          </a:blip>
          <a:srcRect t="16535" b="16155"/>
          <a:stretch>
            <a:fillRect/>
          </a:stretch>
        </p:blipFill>
        <p:spPr>
          <a:xfrm>
            <a:off x="1748290" y="4357756"/>
            <a:ext cx="3011314" cy="2026939"/>
          </a:xfrm>
          <a:prstGeom prst="rect">
            <a:avLst/>
          </a:prstGeom>
        </p:spPr>
      </p:pic>
      <p:pic>
        <p:nvPicPr>
          <p:cNvPr id="10" name="Immagine 9" descr="Immagine che contiene persona, Viso umano, veicolo, vestiti&#10;&#10;Il contenuto generato dall'IA potrebbe non essere corretto.">
            <a:extLst>
              <a:ext uri="{FF2B5EF4-FFF2-40B4-BE49-F238E27FC236}">
                <a16:creationId xmlns:a16="http://schemas.microsoft.com/office/drawing/2014/main" id="{A3F54032-7F48-2D3B-CC85-7D4F8FDE5129}"/>
              </a:ext>
            </a:extLst>
          </p:cNvPr>
          <p:cNvPicPr>
            <a:picLocks noChangeAspect="1"/>
          </p:cNvPicPr>
          <p:nvPr/>
        </p:nvPicPr>
        <p:blipFill>
          <a:blip r:embed="rId5">
            <a:extLst>
              <a:ext uri="{28A0092B-C50C-407E-A947-70E740481C1C}">
                <a14:useLocalDpi xmlns:a14="http://schemas.microsoft.com/office/drawing/2010/main" val="0"/>
              </a:ext>
            </a:extLst>
          </a:blip>
          <a:srcRect t="16535" b="16155"/>
          <a:stretch>
            <a:fillRect/>
          </a:stretch>
        </p:blipFill>
        <p:spPr>
          <a:xfrm>
            <a:off x="7223931" y="4290055"/>
            <a:ext cx="3011314" cy="2026940"/>
          </a:xfrm>
          <a:prstGeom prst="rect">
            <a:avLst/>
          </a:prstGeom>
        </p:spPr>
      </p:pic>
      <p:sp>
        <p:nvSpPr>
          <p:cNvPr id="11" name="CasellaDiTesto 10">
            <a:extLst>
              <a:ext uri="{FF2B5EF4-FFF2-40B4-BE49-F238E27FC236}">
                <a16:creationId xmlns:a16="http://schemas.microsoft.com/office/drawing/2014/main" id="{08519D4B-CDAB-653B-7098-0C72372138B6}"/>
              </a:ext>
            </a:extLst>
          </p:cNvPr>
          <p:cNvSpPr txBox="1"/>
          <p:nvPr/>
        </p:nvSpPr>
        <p:spPr>
          <a:xfrm>
            <a:off x="1381582" y="1164919"/>
            <a:ext cx="3976999" cy="400110"/>
          </a:xfrm>
          <a:prstGeom prst="rect">
            <a:avLst/>
          </a:prstGeom>
          <a:noFill/>
        </p:spPr>
        <p:txBody>
          <a:bodyPr wrap="square" rtlCol="0">
            <a:spAutoFit/>
          </a:bodyPr>
          <a:lstStyle/>
          <a:p>
            <a:pPr algn="ctr"/>
            <a:r>
              <a:rPr lang="it-IT" sz="2000" dirty="0">
                <a:solidFill>
                  <a:schemeClr val="bg1"/>
                </a:solidFill>
                <a:latin typeface="Alata" pitchFamily="2" charset="0"/>
                <a:cs typeface="Alata" pitchFamily="2" charset="0"/>
              </a:rPr>
              <a:t>480 X 480</a:t>
            </a:r>
          </a:p>
        </p:txBody>
      </p:sp>
      <p:sp>
        <p:nvSpPr>
          <p:cNvPr id="13" name="CasellaDiTesto 12">
            <a:extLst>
              <a:ext uri="{FF2B5EF4-FFF2-40B4-BE49-F238E27FC236}">
                <a16:creationId xmlns:a16="http://schemas.microsoft.com/office/drawing/2014/main" id="{C92752C7-BB37-1F12-8C7A-6E8F98A2494D}"/>
              </a:ext>
            </a:extLst>
          </p:cNvPr>
          <p:cNvSpPr txBox="1"/>
          <p:nvPr/>
        </p:nvSpPr>
        <p:spPr>
          <a:xfrm>
            <a:off x="6671514" y="1167602"/>
            <a:ext cx="3976999" cy="400110"/>
          </a:xfrm>
          <a:prstGeom prst="rect">
            <a:avLst/>
          </a:prstGeom>
          <a:noFill/>
        </p:spPr>
        <p:txBody>
          <a:bodyPr wrap="square" rtlCol="0">
            <a:spAutoFit/>
          </a:bodyPr>
          <a:lstStyle/>
          <a:p>
            <a:pPr algn="ctr"/>
            <a:r>
              <a:rPr lang="it-IT" sz="2000" dirty="0">
                <a:solidFill>
                  <a:schemeClr val="bg1"/>
                </a:solidFill>
                <a:latin typeface="Alata" pitchFamily="2" charset="0"/>
                <a:cs typeface="Alata" pitchFamily="2" charset="0"/>
              </a:rPr>
              <a:t>640 X 640</a:t>
            </a:r>
          </a:p>
        </p:txBody>
      </p:sp>
      <p:sp>
        <p:nvSpPr>
          <p:cNvPr id="15" name="Freccia a destra 14">
            <a:extLst>
              <a:ext uri="{FF2B5EF4-FFF2-40B4-BE49-F238E27FC236}">
                <a16:creationId xmlns:a16="http://schemas.microsoft.com/office/drawing/2014/main" id="{9F4CA410-44B0-1DF2-F720-DF63ADE9955D}"/>
              </a:ext>
            </a:extLst>
          </p:cNvPr>
          <p:cNvSpPr/>
          <p:nvPr/>
        </p:nvSpPr>
        <p:spPr>
          <a:xfrm>
            <a:off x="5687329" y="2659385"/>
            <a:ext cx="640764" cy="241032"/>
          </a:xfrm>
          <a:prstGeom prst="rightArrow">
            <a:avLst/>
          </a:prstGeom>
          <a:no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17" name="Freccia a destra 16">
            <a:extLst>
              <a:ext uri="{FF2B5EF4-FFF2-40B4-BE49-F238E27FC236}">
                <a16:creationId xmlns:a16="http://schemas.microsoft.com/office/drawing/2014/main" id="{5E79ADAB-D547-5BD3-3973-01E859ECC98E}"/>
              </a:ext>
            </a:extLst>
          </p:cNvPr>
          <p:cNvSpPr/>
          <p:nvPr/>
        </p:nvSpPr>
        <p:spPr>
          <a:xfrm>
            <a:off x="5686081" y="5250709"/>
            <a:ext cx="640764" cy="241032"/>
          </a:xfrm>
          <a:prstGeom prst="rightArrow">
            <a:avLst/>
          </a:prstGeom>
          <a:no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Tree>
    <p:extLst>
      <p:ext uri="{BB962C8B-B14F-4D97-AF65-F5344CB8AC3E}">
        <p14:creationId xmlns:p14="http://schemas.microsoft.com/office/powerpoint/2010/main" val="41793907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585FB3-170E-8E7E-1CB6-48B6565CD8DF}"/>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91C3983-6DEA-4F83-031C-463056A077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F562AFCA-2962-3D68-52C5-7F39BE5D70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CB91828-DC51-D6CD-1088-E4C1C8DA42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CBF5F204-FD97-0010-7C56-71F4370B6B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6D699F0B-BF2C-2E99-EFB2-627BC552A8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C485BB2D-7A88-DBEA-EAAB-EB49006C9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44C11140-AB66-F7BD-6BE7-4633F66524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707089F8-371B-ABD9-FCD5-B998F29EF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Immagine 8" descr="Immagine che contiene schermata, computer, computer, tecnologia&#10;&#10;Il contenuto generato dall'IA potrebbe non essere corretto.">
            <a:extLst>
              <a:ext uri="{FF2B5EF4-FFF2-40B4-BE49-F238E27FC236}">
                <a16:creationId xmlns:a16="http://schemas.microsoft.com/office/drawing/2014/main" id="{501EE694-D7D7-535E-2172-8678014FAE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6509" y="1539766"/>
            <a:ext cx="3778469" cy="3778469"/>
          </a:xfrm>
          <a:prstGeom prst="rect">
            <a:avLst/>
          </a:prstGeom>
        </p:spPr>
      </p:pic>
      <p:sp>
        <p:nvSpPr>
          <p:cNvPr id="10" name="Rettangolo 9">
            <a:extLst>
              <a:ext uri="{FF2B5EF4-FFF2-40B4-BE49-F238E27FC236}">
                <a16:creationId xmlns:a16="http://schemas.microsoft.com/office/drawing/2014/main" id="{C111B773-3E9E-DFBB-5C27-F615A9CD3002}"/>
              </a:ext>
            </a:extLst>
          </p:cNvPr>
          <p:cNvSpPr/>
          <p:nvPr/>
        </p:nvSpPr>
        <p:spPr>
          <a:xfrm>
            <a:off x="5062013" y="2947178"/>
            <a:ext cx="4813478" cy="707886"/>
          </a:xfrm>
          <a:prstGeom prst="rect">
            <a:avLst/>
          </a:prstGeom>
          <a:noFill/>
          <a:ln>
            <a:noFill/>
          </a:ln>
        </p:spPr>
        <p:txBody>
          <a:bodyPr wrap="square" lIns="91440" tIns="45720" rIns="91440" bIns="45720">
            <a:spAutoFit/>
          </a:bodyPr>
          <a:lstStyle/>
          <a:p>
            <a:pPr algn="ctr"/>
            <a:r>
              <a:rPr lang="it-IT" sz="4000"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LIVE DEMO</a:t>
            </a:r>
          </a:p>
        </p:txBody>
      </p:sp>
    </p:spTree>
    <p:extLst>
      <p:ext uri="{BB962C8B-B14F-4D97-AF65-F5344CB8AC3E}">
        <p14:creationId xmlns:p14="http://schemas.microsoft.com/office/powerpoint/2010/main" val="34384545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AE6F5C4-5C80-4D48-BF17-866952424B94}"/>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74407568-5D97-908F-BE48-64A42603F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66F8BF82-449E-7B26-FBF3-0346F13C89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83FBBCB8-6F7D-A8CA-D518-8A4FD7ABE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7E82571C-F467-9DD6-D2D6-E9A139C42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B82DB41A-6AFA-C1FC-E8C8-4731CE23A3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A2FB71EF-579A-397B-FD98-E1C9B2E662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B31606C2-BFEA-C0E0-14C1-21F6943DB0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EA41EC11-BE52-F05A-81D0-0E115A315F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ttangolo 1">
            <a:extLst>
              <a:ext uri="{FF2B5EF4-FFF2-40B4-BE49-F238E27FC236}">
                <a16:creationId xmlns:a16="http://schemas.microsoft.com/office/drawing/2014/main" id="{E5D5CE8A-CB44-12BF-7569-94E9729E96F5}"/>
              </a:ext>
            </a:extLst>
          </p:cNvPr>
          <p:cNvSpPr/>
          <p:nvPr/>
        </p:nvSpPr>
        <p:spPr>
          <a:xfrm>
            <a:off x="1323554" y="1690418"/>
            <a:ext cx="8377352" cy="3785652"/>
          </a:xfrm>
          <a:prstGeom prst="rect">
            <a:avLst/>
          </a:prstGeom>
          <a:noFill/>
          <a:ln>
            <a:noFill/>
          </a:ln>
        </p:spPr>
        <p:txBody>
          <a:bodyPr wrap="square" lIns="91440" tIns="45720" rIns="91440" bIns="45720">
            <a:spAutoFit/>
          </a:bodyPr>
          <a:lstStyle/>
          <a:p>
            <a:r>
              <a:rPr lang="it-IT" sz="20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POSSIBLE SCENARIOS :</a:t>
            </a:r>
          </a:p>
          <a:p>
            <a:pPr marL="914400" lvl="1" indent="-457200">
              <a:buFont typeface="+mj-lt"/>
              <a:buAutoNum type="arabicPeriod"/>
            </a:pPr>
            <a:r>
              <a:rPr lang="it-IT" sz="20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ADULT IN FOV (FIELD OF VIEW)</a:t>
            </a:r>
          </a:p>
          <a:p>
            <a:pPr marL="914400" lvl="1" indent="-457200">
              <a:buFont typeface="+mj-lt"/>
              <a:buAutoNum type="arabicPeriod"/>
            </a:pPr>
            <a:r>
              <a:rPr lang="it-IT" sz="20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ADULT + BABY IN FOV</a:t>
            </a:r>
          </a:p>
          <a:p>
            <a:pPr marL="914400" lvl="1" indent="-457200">
              <a:buFont typeface="+mj-lt"/>
              <a:buAutoNum type="arabicPeriod"/>
            </a:pPr>
            <a:r>
              <a:rPr lang="it-IT" sz="20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ADULT + PET IN FOV</a:t>
            </a:r>
          </a:p>
          <a:p>
            <a:pPr marL="914400" lvl="1" indent="-457200">
              <a:buFont typeface="+mj-lt"/>
              <a:buAutoNum type="arabicPeriod"/>
            </a:pPr>
            <a:r>
              <a:rPr lang="it-IT" sz="20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BABY ALONE IN FOV</a:t>
            </a:r>
          </a:p>
          <a:p>
            <a:pPr marL="914400" lvl="1" indent="-457200">
              <a:buFont typeface="+mj-lt"/>
              <a:buAutoNum type="arabicPeriod"/>
            </a:pPr>
            <a:r>
              <a:rPr lang="it-IT" sz="20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DOG ALONE IN FOV</a:t>
            </a:r>
          </a:p>
          <a:p>
            <a:pPr marL="914400" lvl="1" indent="-457200">
              <a:buFont typeface="+mj-lt"/>
              <a:buAutoNum type="arabicPeriod"/>
            </a:pPr>
            <a:r>
              <a:rPr lang="it-IT" sz="20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ADULT IN FOV + CHILD CRYING</a:t>
            </a:r>
          </a:p>
          <a:p>
            <a:pPr marL="914400" lvl="1" indent="-457200">
              <a:buFont typeface="+mj-lt"/>
              <a:buAutoNum type="arabicPeriod"/>
            </a:pPr>
            <a:r>
              <a:rPr lang="it-IT" sz="20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CHILD CRYING</a:t>
            </a:r>
          </a:p>
          <a:p>
            <a:pPr marL="914400" lvl="1" indent="-457200">
              <a:buFont typeface="+mj-lt"/>
              <a:buAutoNum type="arabicPeriod"/>
            </a:pPr>
            <a:r>
              <a:rPr lang="it-IT" sz="20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PET SOUNDS</a:t>
            </a:r>
          </a:p>
          <a:p>
            <a:pPr marL="914400" lvl="1" indent="-457200">
              <a:buFont typeface="+mj-lt"/>
              <a:buAutoNum type="arabicPeriod"/>
            </a:pPr>
            <a:r>
              <a:rPr lang="it-IT" sz="20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ADULT SOUNDS</a:t>
            </a:r>
          </a:p>
          <a:p>
            <a:pPr marL="914400" lvl="1" indent="-457200">
              <a:buFont typeface="+mj-lt"/>
              <a:buAutoNum type="arabicPeriod"/>
            </a:pPr>
            <a:r>
              <a:rPr lang="it-IT" sz="20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SILENCE</a:t>
            </a:r>
          </a:p>
          <a:p>
            <a:pPr marL="914400" lvl="1" indent="-457200">
              <a:buFont typeface="+mj-lt"/>
              <a:buAutoNum type="arabicPeriod"/>
            </a:pPr>
            <a:endParaRPr lang="it-IT" sz="200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endParaRPr>
          </a:p>
        </p:txBody>
      </p:sp>
      <p:sp>
        <p:nvSpPr>
          <p:cNvPr id="3" name="Parentesi graffa chiusa 2">
            <a:extLst>
              <a:ext uri="{FF2B5EF4-FFF2-40B4-BE49-F238E27FC236}">
                <a16:creationId xmlns:a16="http://schemas.microsoft.com/office/drawing/2014/main" id="{9F0D7CEC-1383-5FCE-1F8E-D4AB9894B50C}"/>
              </a:ext>
            </a:extLst>
          </p:cNvPr>
          <p:cNvSpPr/>
          <p:nvPr/>
        </p:nvSpPr>
        <p:spPr>
          <a:xfrm>
            <a:off x="6554352" y="2094271"/>
            <a:ext cx="345166" cy="1464549"/>
          </a:xfrm>
          <a:prstGeom prst="rightBrace">
            <a:avLst/>
          </a:prstGeom>
          <a:ln w="28575"/>
        </p:spPr>
        <p:style>
          <a:lnRef idx="1">
            <a:schemeClr val="accent2"/>
          </a:lnRef>
          <a:fillRef idx="0">
            <a:schemeClr val="accent2"/>
          </a:fillRef>
          <a:effectRef idx="0">
            <a:schemeClr val="accent2"/>
          </a:effectRef>
          <a:fontRef idx="minor">
            <a:schemeClr val="tx1"/>
          </a:fontRef>
        </p:style>
        <p:txBody>
          <a:bodyPr rtlCol="0" anchor="ctr"/>
          <a:lstStyle/>
          <a:p>
            <a:pPr algn="ctr"/>
            <a:endParaRPr lang="it-IT" dirty="0"/>
          </a:p>
        </p:txBody>
      </p:sp>
      <p:sp>
        <p:nvSpPr>
          <p:cNvPr id="4" name="CasellaDiTesto 3">
            <a:extLst>
              <a:ext uri="{FF2B5EF4-FFF2-40B4-BE49-F238E27FC236}">
                <a16:creationId xmlns:a16="http://schemas.microsoft.com/office/drawing/2014/main" id="{FBD12F13-CC41-9682-173D-AB8BE4184B04}"/>
              </a:ext>
            </a:extLst>
          </p:cNvPr>
          <p:cNvSpPr txBox="1"/>
          <p:nvPr/>
        </p:nvSpPr>
        <p:spPr>
          <a:xfrm>
            <a:off x="7353200" y="2513775"/>
            <a:ext cx="2937982" cy="923330"/>
          </a:xfrm>
          <a:prstGeom prst="rect">
            <a:avLst/>
          </a:prstGeom>
          <a:noFill/>
        </p:spPr>
        <p:txBody>
          <a:bodyPr wrap="square" rtlCol="0" anchor="ctr">
            <a:spAutoFit/>
          </a:bodyPr>
          <a:lstStyle/>
          <a:p>
            <a:pPr algn="ctr"/>
            <a:r>
              <a:rPr lang="it-IT" dirty="0">
                <a:solidFill>
                  <a:schemeClr val="bg1"/>
                </a:solidFill>
                <a:latin typeface="Alata" pitchFamily="2" charset="0"/>
                <a:cs typeface="Alata" pitchFamily="2" charset="0"/>
              </a:rPr>
              <a:t>IMAGES READ FROM FILE</a:t>
            </a:r>
          </a:p>
          <a:p>
            <a:pPr algn="ctr"/>
            <a:r>
              <a:rPr lang="it-IT" dirty="0">
                <a:solidFill>
                  <a:schemeClr val="bg1"/>
                </a:solidFill>
                <a:latin typeface="Alata" pitchFamily="2" charset="0"/>
                <a:cs typeface="Alata" pitchFamily="2" charset="0"/>
              </a:rPr>
              <a:t>EAR MODULE IN STANDY (NO SOUND)</a:t>
            </a:r>
          </a:p>
        </p:txBody>
      </p:sp>
      <p:sp>
        <p:nvSpPr>
          <p:cNvPr id="6" name="Parentesi graffa chiusa 5">
            <a:extLst>
              <a:ext uri="{FF2B5EF4-FFF2-40B4-BE49-F238E27FC236}">
                <a16:creationId xmlns:a16="http://schemas.microsoft.com/office/drawing/2014/main" id="{BE5ED790-10EA-E37A-8B98-E8E1D62CDE11}"/>
              </a:ext>
            </a:extLst>
          </p:cNvPr>
          <p:cNvSpPr/>
          <p:nvPr/>
        </p:nvSpPr>
        <p:spPr>
          <a:xfrm>
            <a:off x="6569550" y="3952916"/>
            <a:ext cx="329968" cy="1214666"/>
          </a:xfrm>
          <a:prstGeom prst="rightBrace">
            <a:avLst/>
          </a:prstGeom>
          <a:ln w="28575">
            <a:solidFill>
              <a:srgbClr val="16A65E"/>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it-IT" dirty="0"/>
          </a:p>
        </p:txBody>
      </p:sp>
      <p:sp>
        <p:nvSpPr>
          <p:cNvPr id="8" name="CasellaDiTesto 7">
            <a:extLst>
              <a:ext uri="{FF2B5EF4-FFF2-40B4-BE49-F238E27FC236}">
                <a16:creationId xmlns:a16="http://schemas.microsoft.com/office/drawing/2014/main" id="{93AE8023-B01C-0630-A33D-D1DFA7A5C735}"/>
              </a:ext>
            </a:extLst>
          </p:cNvPr>
          <p:cNvSpPr txBox="1"/>
          <p:nvPr/>
        </p:nvSpPr>
        <p:spPr>
          <a:xfrm>
            <a:off x="7353200" y="3952916"/>
            <a:ext cx="2937982" cy="923330"/>
          </a:xfrm>
          <a:prstGeom prst="rect">
            <a:avLst/>
          </a:prstGeom>
          <a:noFill/>
        </p:spPr>
        <p:txBody>
          <a:bodyPr wrap="square" rtlCol="0" anchor="ctr">
            <a:spAutoFit/>
          </a:bodyPr>
          <a:lstStyle/>
          <a:p>
            <a:pPr algn="ctr"/>
            <a:r>
              <a:rPr lang="it-IT" dirty="0">
                <a:solidFill>
                  <a:schemeClr val="bg1"/>
                </a:solidFill>
                <a:latin typeface="Alata" pitchFamily="2" charset="0"/>
                <a:cs typeface="Alata" pitchFamily="2" charset="0"/>
              </a:rPr>
              <a:t>LIVE IMAGES</a:t>
            </a:r>
          </a:p>
          <a:p>
            <a:pPr algn="ctr"/>
            <a:r>
              <a:rPr lang="it-IT" dirty="0">
                <a:solidFill>
                  <a:schemeClr val="bg1"/>
                </a:solidFill>
                <a:latin typeface="Alata" pitchFamily="2" charset="0"/>
                <a:cs typeface="Alata" pitchFamily="2" charset="0"/>
              </a:rPr>
              <a:t>NOTHING IN FOV </a:t>
            </a:r>
          </a:p>
          <a:p>
            <a:pPr algn="ctr"/>
            <a:r>
              <a:rPr lang="it-IT" dirty="0">
                <a:solidFill>
                  <a:schemeClr val="bg1"/>
                </a:solidFill>
                <a:latin typeface="Alata" pitchFamily="2" charset="0"/>
                <a:cs typeface="Alata" pitchFamily="2" charset="0"/>
              </a:rPr>
              <a:t>EAR MODULE ACTIVE</a:t>
            </a:r>
          </a:p>
        </p:txBody>
      </p:sp>
      <p:pic>
        <p:nvPicPr>
          <p:cNvPr id="9" name="Immagine 8" descr="Immagine che contiene schermata, computer, computer, tecnologia&#10;&#10;Il contenuto generato dall'IA potrebbe non essere corretto.">
            <a:extLst>
              <a:ext uri="{FF2B5EF4-FFF2-40B4-BE49-F238E27FC236}">
                <a16:creationId xmlns:a16="http://schemas.microsoft.com/office/drawing/2014/main" id="{94FF2BC5-B9EF-B7A3-58BB-7D888823BF0D}"/>
              </a:ext>
            </a:extLst>
          </p:cNvPr>
          <p:cNvPicPr>
            <a:picLocks noChangeAspect="1"/>
          </p:cNvPicPr>
          <p:nvPr/>
        </p:nvPicPr>
        <p:blipFill>
          <a:blip r:embed="rId2">
            <a:extLst>
              <a:ext uri="{28A0092B-C50C-407E-A947-70E740481C1C}">
                <a14:useLocalDpi xmlns:a14="http://schemas.microsoft.com/office/drawing/2010/main" val="0"/>
              </a:ext>
            </a:extLst>
          </a:blip>
          <a:srcRect l="5922" t="16584" r="7885" b="18100"/>
          <a:stretch>
            <a:fillRect/>
          </a:stretch>
        </p:blipFill>
        <p:spPr>
          <a:xfrm>
            <a:off x="331240" y="212814"/>
            <a:ext cx="1081549" cy="819574"/>
          </a:xfrm>
          <a:prstGeom prst="rect">
            <a:avLst/>
          </a:prstGeom>
        </p:spPr>
      </p:pic>
      <p:sp>
        <p:nvSpPr>
          <p:cNvPr id="10" name="Rettangolo 9">
            <a:extLst>
              <a:ext uri="{FF2B5EF4-FFF2-40B4-BE49-F238E27FC236}">
                <a16:creationId xmlns:a16="http://schemas.microsoft.com/office/drawing/2014/main" id="{76E8F7DB-715F-5B4C-D04E-55E540F80182}"/>
              </a:ext>
            </a:extLst>
          </p:cNvPr>
          <p:cNvSpPr/>
          <p:nvPr/>
        </p:nvSpPr>
        <p:spPr>
          <a:xfrm>
            <a:off x="-22228" y="386614"/>
            <a:ext cx="4813478" cy="461665"/>
          </a:xfrm>
          <a:prstGeom prst="rect">
            <a:avLst/>
          </a:prstGeom>
          <a:noFill/>
          <a:ln>
            <a:noFill/>
          </a:ln>
        </p:spPr>
        <p:txBody>
          <a:bodyPr wrap="square" lIns="91440" tIns="45720" rIns="91440" bIns="45720">
            <a:spAutoFit/>
          </a:bodyPr>
          <a:lstStyle/>
          <a:p>
            <a:pPr algn="ctr"/>
            <a:r>
              <a:rPr lang="it-IT" sz="2400" b="0" cap="none" spc="0" dirty="0">
                <a:ln w="0">
                  <a:solidFill>
                    <a:schemeClr val="bg1"/>
                  </a:solidFill>
                </a:ln>
                <a:solidFill>
                  <a:schemeClr val="bg1"/>
                </a:solidFill>
                <a:effectLst>
                  <a:outerShdw blurRad="38100" dist="25400" dir="5400000" algn="ctr" rotWithShape="0">
                    <a:srgbClr val="6E747A">
                      <a:alpha val="43000"/>
                    </a:srgbClr>
                  </a:outerShdw>
                </a:effectLst>
                <a:latin typeface="Alata" pitchFamily="2" charset="0"/>
                <a:cs typeface="Alata" pitchFamily="2" charset="0"/>
              </a:rPr>
              <a:t>LIVE DEMO</a:t>
            </a:r>
          </a:p>
        </p:txBody>
      </p:sp>
    </p:spTree>
    <p:extLst>
      <p:ext uri="{BB962C8B-B14F-4D97-AF65-F5344CB8AC3E}">
        <p14:creationId xmlns:p14="http://schemas.microsoft.com/office/powerpoint/2010/main" val="25923991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CF29144-739B-B64F-A836-5DBDA39DBBB8}"/>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6EBFC368-A80F-E8E6-6205-0D0D78EEB0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E89004E-E088-E767-D061-C58E38BE9E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7BF08250-9CBF-7D65-6D03-9168E763B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0533505A-E4D3-1CB2-675C-5769759044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E408DE54-1B88-574A-ACD1-490DBC4922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22879389-AEE7-465C-7475-939C04E0B4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66A1301C-7CEA-CA7D-6BE5-5CA8FC4512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4E8F067B-D856-7EC7-49B1-E70240EB4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Immagine 1">
            <a:extLst>
              <a:ext uri="{FF2B5EF4-FFF2-40B4-BE49-F238E27FC236}">
                <a16:creationId xmlns:a16="http://schemas.microsoft.com/office/drawing/2014/main" id="{5666F7F3-B8A9-1CFB-F66E-1005764B442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949247" y="1505401"/>
            <a:ext cx="3847199" cy="3847199"/>
          </a:xfrm>
          <a:prstGeom prst="rect">
            <a:avLst/>
          </a:prstGeom>
        </p:spPr>
      </p:pic>
      <p:sp>
        <p:nvSpPr>
          <p:cNvPr id="5" name="CasellaDiTesto 4">
            <a:extLst>
              <a:ext uri="{FF2B5EF4-FFF2-40B4-BE49-F238E27FC236}">
                <a16:creationId xmlns:a16="http://schemas.microsoft.com/office/drawing/2014/main" id="{C3012B2C-1322-03B3-A040-7FBDF9ABABC5}"/>
              </a:ext>
            </a:extLst>
          </p:cNvPr>
          <p:cNvSpPr txBox="1"/>
          <p:nvPr/>
        </p:nvSpPr>
        <p:spPr>
          <a:xfrm>
            <a:off x="5804641" y="3044279"/>
            <a:ext cx="4438113" cy="769441"/>
          </a:xfrm>
          <a:prstGeom prst="rect">
            <a:avLst/>
          </a:prstGeom>
          <a:noFill/>
        </p:spPr>
        <p:txBody>
          <a:bodyPr wrap="square" lIns="91440" tIns="45720" rIns="91440" bIns="45720" rtlCol="0" anchor="t">
            <a:spAutoFit/>
          </a:bodyPr>
          <a:lstStyle/>
          <a:p>
            <a:r>
              <a:rPr lang="it-IT" sz="4400" dirty="0">
                <a:solidFill>
                  <a:schemeClr val="bg1"/>
                </a:solidFill>
                <a:latin typeface="Alata"/>
                <a:cs typeface="Alata" pitchFamily="2" charset="0"/>
              </a:rPr>
              <a:t>PERFORMANCES</a:t>
            </a:r>
            <a:endParaRPr lang="en-GB" sz="4400" dirty="0">
              <a:solidFill>
                <a:schemeClr val="bg1"/>
              </a:solidFill>
              <a:latin typeface="Alata"/>
              <a:cs typeface="Alata" pitchFamily="2" charset="0"/>
            </a:endParaRPr>
          </a:p>
        </p:txBody>
      </p:sp>
    </p:spTree>
    <p:extLst>
      <p:ext uri="{BB962C8B-B14F-4D97-AF65-F5344CB8AC3E}">
        <p14:creationId xmlns:p14="http://schemas.microsoft.com/office/powerpoint/2010/main" val="6845339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F1ACCB-CBFF-68BD-A6F8-80E90166DD44}"/>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51B3E68-8771-2E22-131B-C25F11DF2B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4D0F6C8B-B4CD-019C-DA2F-88DA075B8A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DFDAF36D-E569-FFC6-51FE-495EE7427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C76F97C5-93E8-2385-45F7-0A30738B92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803B632E-ACF6-ADD4-F8AE-4FB94FFDE5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943D4945-3890-8D09-E79D-73A5E608BF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6BCDBCEE-0B7A-0BA1-BD32-BEF3DC75DF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6C1BF0D7-28AE-3CA4-2D91-9F683D1E97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Immagine 1">
            <a:extLst>
              <a:ext uri="{FF2B5EF4-FFF2-40B4-BE49-F238E27FC236}">
                <a16:creationId xmlns:a16="http://schemas.microsoft.com/office/drawing/2014/main" id="{D0C78E23-430E-29CE-FB7D-293450B5F7B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31064" y="145460"/>
            <a:ext cx="1105166" cy="1105166"/>
          </a:xfrm>
          <a:prstGeom prst="rect">
            <a:avLst/>
          </a:prstGeom>
        </p:spPr>
      </p:pic>
      <p:sp>
        <p:nvSpPr>
          <p:cNvPr id="5" name="CasellaDiTesto 4">
            <a:extLst>
              <a:ext uri="{FF2B5EF4-FFF2-40B4-BE49-F238E27FC236}">
                <a16:creationId xmlns:a16="http://schemas.microsoft.com/office/drawing/2014/main" id="{6FB30C39-5A26-462D-04A2-35C3779F3283}"/>
              </a:ext>
            </a:extLst>
          </p:cNvPr>
          <p:cNvSpPr txBox="1"/>
          <p:nvPr/>
        </p:nvSpPr>
        <p:spPr>
          <a:xfrm>
            <a:off x="1451681" y="467210"/>
            <a:ext cx="4438113" cy="461665"/>
          </a:xfrm>
          <a:prstGeom prst="rect">
            <a:avLst/>
          </a:prstGeom>
          <a:noFill/>
        </p:spPr>
        <p:txBody>
          <a:bodyPr wrap="square" lIns="91440" tIns="45720" rIns="91440" bIns="45720" rtlCol="0" anchor="t">
            <a:spAutoFit/>
          </a:bodyPr>
          <a:lstStyle/>
          <a:p>
            <a:r>
              <a:rPr lang="it-IT" sz="2400" dirty="0">
                <a:solidFill>
                  <a:schemeClr val="bg1"/>
                </a:solidFill>
                <a:latin typeface="Alata"/>
                <a:cs typeface="Alata" pitchFamily="2" charset="0"/>
              </a:rPr>
              <a:t>PERFORMANCES</a:t>
            </a:r>
            <a:endParaRPr lang="en-GB" sz="2400" dirty="0">
              <a:solidFill>
                <a:schemeClr val="bg1"/>
              </a:solidFill>
              <a:latin typeface="Alata"/>
              <a:cs typeface="Alata" pitchFamily="2" charset="0"/>
            </a:endParaRPr>
          </a:p>
        </p:txBody>
      </p:sp>
      <p:sp>
        <p:nvSpPr>
          <p:cNvPr id="7" name="CasellaDiTesto 6">
            <a:extLst>
              <a:ext uri="{FF2B5EF4-FFF2-40B4-BE49-F238E27FC236}">
                <a16:creationId xmlns:a16="http://schemas.microsoft.com/office/drawing/2014/main" id="{497AA771-BEBC-190D-C565-DF52980733F1}"/>
              </a:ext>
            </a:extLst>
          </p:cNvPr>
          <p:cNvSpPr txBox="1"/>
          <p:nvPr/>
        </p:nvSpPr>
        <p:spPr>
          <a:xfrm>
            <a:off x="1390460" y="1525131"/>
            <a:ext cx="9411079" cy="523220"/>
          </a:xfrm>
          <a:prstGeom prst="rect">
            <a:avLst/>
          </a:prstGeom>
          <a:noFill/>
        </p:spPr>
        <p:txBody>
          <a:bodyPr wrap="square" rtlCol="0" anchor="ctr">
            <a:spAutoFit/>
          </a:bodyPr>
          <a:lstStyle/>
          <a:p>
            <a:pPr algn="ctr"/>
            <a:r>
              <a:rPr lang="it-IT" sz="2800" dirty="0">
                <a:solidFill>
                  <a:schemeClr val="bg1"/>
                </a:solidFill>
                <a:latin typeface="Alata" pitchFamily="2" charset="0"/>
                <a:cs typeface="Alata" pitchFamily="2" charset="0"/>
              </a:rPr>
              <a:t>METRICS USED</a:t>
            </a:r>
          </a:p>
        </p:txBody>
      </p:sp>
      <p:sp>
        <p:nvSpPr>
          <p:cNvPr id="10" name="CasellaDiTesto 9">
            <a:extLst>
              <a:ext uri="{FF2B5EF4-FFF2-40B4-BE49-F238E27FC236}">
                <a16:creationId xmlns:a16="http://schemas.microsoft.com/office/drawing/2014/main" id="{8781984C-AA69-A4E8-7FA2-E260F4563ED8}"/>
              </a:ext>
            </a:extLst>
          </p:cNvPr>
          <p:cNvSpPr txBox="1"/>
          <p:nvPr/>
        </p:nvSpPr>
        <p:spPr>
          <a:xfrm>
            <a:off x="678202" y="2297698"/>
            <a:ext cx="2832721" cy="400110"/>
          </a:xfrm>
          <a:prstGeom prst="rect">
            <a:avLst/>
          </a:prstGeom>
          <a:noFill/>
        </p:spPr>
        <p:txBody>
          <a:bodyPr wrap="square" rtlCol="0" anchor="ctr">
            <a:spAutoFit/>
          </a:bodyPr>
          <a:lstStyle/>
          <a:p>
            <a:pPr algn="ctr"/>
            <a:r>
              <a:rPr lang="it-IT" sz="2000" dirty="0">
                <a:solidFill>
                  <a:schemeClr val="bg1"/>
                </a:solidFill>
                <a:latin typeface="Alata" pitchFamily="2" charset="0"/>
                <a:cs typeface="Alata" pitchFamily="2" charset="0"/>
              </a:rPr>
              <a:t>Mean Cycle Time [s]</a:t>
            </a:r>
          </a:p>
        </p:txBody>
      </p:sp>
      <p:sp>
        <p:nvSpPr>
          <p:cNvPr id="3" name="CasellaDiTesto 2">
            <a:extLst>
              <a:ext uri="{FF2B5EF4-FFF2-40B4-BE49-F238E27FC236}">
                <a16:creationId xmlns:a16="http://schemas.microsoft.com/office/drawing/2014/main" id="{85826D43-D379-9D39-108E-A4BF7C4789C8}"/>
              </a:ext>
            </a:extLst>
          </p:cNvPr>
          <p:cNvSpPr txBox="1"/>
          <p:nvPr/>
        </p:nvSpPr>
        <p:spPr>
          <a:xfrm>
            <a:off x="4218906" y="2289255"/>
            <a:ext cx="7675442" cy="400110"/>
          </a:xfrm>
          <a:prstGeom prst="rect">
            <a:avLst/>
          </a:prstGeom>
          <a:noFill/>
        </p:spPr>
        <p:txBody>
          <a:bodyPr wrap="square" rtlCol="0" anchor="ctr">
            <a:spAutoFit/>
          </a:bodyPr>
          <a:lstStyle/>
          <a:p>
            <a:r>
              <a:rPr lang="en-US" sz="2000" dirty="0">
                <a:solidFill>
                  <a:schemeClr val="bg1"/>
                </a:solidFill>
                <a:latin typeface="Alata" pitchFamily="2" charset="0"/>
                <a:cs typeface="Alata" pitchFamily="2" charset="0"/>
              </a:rPr>
              <a:t>Average time elapsed from data acquisition to system output.</a:t>
            </a:r>
            <a:endParaRPr lang="it-IT" sz="2000" dirty="0">
              <a:solidFill>
                <a:schemeClr val="bg1"/>
              </a:solidFill>
              <a:latin typeface="Alata" pitchFamily="2" charset="0"/>
              <a:cs typeface="Alata" pitchFamily="2" charset="0"/>
            </a:endParaRPr>
          </a:p>
        </p:txBody>
      </p:sp>
      <p:sp>
        <p:nvSpPr>
          <p:cNvPr id="6" name="CasellaDiTesto 5">
            <a:extLst>
              <a:ext uri="{FF2B5EF4-FFF2-40B4-BE49-F238E27FC236}">
                <a16:creationId xmlns:a16="http://schemas.microsoft.com/office/drawing/2014/main" id="{E81193A2-FA99-2A5C-733A-4835456120FF}"/>
              </a:ext>
            </a:extLst>
          </p:cNvPr>
          <p:cNvSpPr txBox="1"/>
          <p:nvPr/>
        </p:nvSpPr>
        <p:spPr>
          <a:xfrm>
            <a:off x="678202" y="2935457"/>
            <a:ext cx="2832721" cy="400110"/>
          </a:xfrm>
          <a:prstGeom prst="rect">
            <a:avLst/>
          </a:prstGeom>
          <a:noFill/>
        </p:spPr>
        <p:txBody>
          <a:bodyPr wrap="square" rtlCol="0" anchor="ctr">
            <a:spAutoFit/>
          </a:bodyPr>
          <a:lstStyle/>
          <a:p>
            <a:pPr algn="ctr"/>
            <a:r>
              <a:rPr lang="it-IT" sz="2000" dirty="0">
                <a:solidFill>
                  <a:schemeClr val="bg1"/>
                </a:solidFill>
                <a:latin typeface="Alata" pitchFamily="2" charset="0"/>
                <a:cs typeface="Alata" pitchFamily="2" charset="0"/>
              </a:rPr>
              <a:t>Jitter [s]</a:t>
            </a:r>
          </a:p>
        </p:txBody>
      </p:sp>
      <mc:AlternateContent xmlns:mc="http://schemas.openxmlformats.org/markup-compatibility/2006" xmlns:a14="http://schemas.microsoft.com/office/drawing/2010/main">
        <mc:Choice Requires="a14">
          <p:sp>
            <p:nvSpPr>
              <p:cNvPr id="15" name="CasellaDiTesto 14">
                <a:extLst>
                  <a:ext uri="{FF2B5EF4-FFF2-40B4-BE49-F238E27FC236}">
                    <a16:creationId xmlns:a16="http://schemas.microsoft.com/office/drawing/2014/main" id="{963CB8AD-34F1-0E92-A5AF-11D294C41A74}"/>
                  </a:ext>
                </a:extLst>
              </p:cNvPr>
              <p:cNvSpPr txBox="1"/>
              <p:nvPr/>
            </p:nvSpPr>
            <p:spPr>
              <a:xfrm>
                <a:off x="4218906" y="2913244"/>
                <a:ext cx="7675442" cy="434158"/>
              </a:xfrm>
              <a:prstGeom prst="rect">
                <a:avLst/>
              </a:prstGeom>
              <a:noFill/>
            </p:spPr>
            <p:txBody>
              <a:bodyPr wrap="square" rtlCol="0" anchor="ctr">
                <a:spAutoFit/>
              </a:bodyPr>
              <a:lstStyle/>
              <a:p>
                <a:r>
                  <a:rPr lang="en-US" sz="2000" dirty="0">
                    <a:solidFill>
                      <a:schemeClr val="bg1"/>
                    </a:solidFill>
                    <a:latin typeface="Alata" pitchFamily="2" charset="0"/>
                    <a:cs typeface="Alata" pitchFamily="2" charset="0"/>
                  </a:rPr>
                  <a:t>Standard deviation of</a:t>
                </a:r>
                <a14:m>
                  <m:oMath xmlns:m="http://schemas.openxmlformats.org/officeDocument/2006/math">
                    <m:sSub>
                      <m:sSubPr>
                        <m:ctrlPr>
                          <a:rPr lang="en-US" sz="2000" i="1" smtClean="0">
                            <a:solidFill>
                              <a:schemeClr val="bg1"/>
                            </a:solidFill>
                            <a:latin typeface="Cambria Math" panose="02040503050406030204" pitchFamily="18" charset="0"/>
                            <a:cs typeface="Alata" pitchFamily="2" charset="0"/>
                          </a:rPr>
                        </m:ctrlPr>
                      </m:sSubPr>
                      <m:e>
                        <m:acc>
                          <m:accPr>
                            <m:chr m:val="̅"/>
                            <m:ctrlPr>
                              <a:rPr lang="en-US" sz="2000" i="1" smtClean="0">
                                <a:solidFill>
                                  <a:schemeClr val="bg1"/>
                                </a:solidFill>
                                <a:latin typeface="Cambria Math" panose="02040503050406030204" pitchFamily="18" charset="0"/>
                                <a:cs typeface="Alata" pitchFamily="2" charset="0"/>
                              </a:rPr>
                            </m:ctrlPr>
                          </m:accPr>
                          <m:e>
                            <m:r>
                              <a:rPr lang="it-IT" sz="2000" b="0" i="1" smtClean="0">
                                <a:solidFill>
                                  <a:schemeClr val="bg1"/>
                                </a:solidFill>
                                <a:latin typeface="Cambria Math" panose="02040503050406030204" pitchFamily="18" charset="0"/>
                                <a:cs typeface="Alata" pitchFamily="2" charset="0"/>
                              </a:rPr>
                              <m:t> </m:t>
                            </m:r>
                            <m:r>
                              <m:rPr>
                                <m:sty m:val="p"/>
                              </m:rPr>
                              <a:rPr lang="it-IT" sz="2000" b="0" i="1" smtClean="0">
                                <a:solidFill>
                                  <a:schemeClr val="bg1"/>
                                </a:solidFill>
                                <a:latin typeface="Cambria Math" panose="02040503050406030204" pitchFamily="18" charset="0"/>
                                <a:cs typeface="Alata" pitchFamily="2" charset="0"/>
                              </a:rPr>
                              <m:t>T</m:t>
                            </m:r>
                          </m:e>
                        </m:acc>
                      </m:e>
                      <m:sub>
                        <m:r>
                          <m:rPr>
                            <m:sty m:val="p"/>
                          </m:rPr>
                          <a:rPr lang="it-IT" sz="2000" b="0" i="1" smtClean="0">
                            <a:solidFill>
                              <a:schemeClr val="bg1"/>
                            </a:solidFill>
                            <a:latin typeface="Cambria Math" panose="02040503050406030204" pitchFamily="18" charset="0"/>
                            <a:cs typeface="Alata" pitchFamily="2" charset="0"/>
                          </a:rPr>
                          <m:t>cyc</m:t>
                        </m:r>
                      </m:sub>
                    </m:sSub>
                  </m:oMath>
                </a14:m>
                <a:r>
                  <a:rPr lang="en-US" sz="2000" dirty="0">
                    <a:solidFill>
                      <a:schemeClr val="bg1"/>
                    </a:solidFill>
                    <a:latin typeface="Alata" pitchFamily="2" charset="0"/>
                    <a:cs typeface="Alata" pitchFamily="2" charset="0"/>
                  </a:rPr>
                  <a:t>, indicating timing consistency</a:t>
                </a:r>
                <a:endParaRPr lang="it-IT" sz="2000" dirty="0">
                  <a:solidFill>
                    <a:schemeClr val="bg1"/>
                  </a:solidFill>
                  <a:latin typeface="Alata" pitchFamily="2" charset="0"/>
                  <a:cs typeface="Alata" pitchFamily="2" charset="0"/>
                </a:endParaRPr>
              </a:p>
            </p:txBody>
          </p:sp>
        </mc:Choice>
        <mc:Fallback xmlns="">
          <p:sp>
            <p:nvSpPr>
              <p:cNvPr id="15" name="CasellaDiTesto 14">
                <a:extLst>
                  <a:ext uri="{FF2B5EF4-FFF2-40B4-BE49-F238E27FC236}">
                    <a16:creationId xmlns:a16="http://schemas.microsoft.com/office/drawing/2014/main" id="{963CB8AD-34F1-0E92-A5AF-11D294C41A74}"/>
                  </a:ext>
                </a:extLst>
              </p:cNvPr>
              <p:cNvSpPr txBox="1">
                <a:spLocks noRot="1" noChangeAspect="1" noMove="1" noResize="1" noEditPoints="1" noAdjustHandles="1" noChangeArrowheads="1" noChangeShapeType="1" noTextEdit="1"/>
              </p:cNvSpPr>
              <p:nvPr/>
            </p:nvSpPr>
            <p:spPr>
              <a:xfrm>
                <a:off x="4218906" y="2913244"/>
                <a:ext cx="7675442" cy="434158"/>
              </a:xfrm>
              <a:prstGeom prst="rect">
                <a:avLst/>
              </a:prstGeom>
              <a:blipFill>
                <a:blip r:embed="rId3"/>
                <a:stretch>
                  <a:fillRect l="-794" t="-4225" b="-19718"/>
                </a:stretch>
              </a:blipFill>
            </p:spPr>
            <p:txBody>
              <a:bodyPr/>
              <a:lstStyle/>
              <a:p>
                <a:r>
                  <a:rPr lang="en-US">
                    <a:noFill/>
                  </a:rPr>
                  <a:t> </a:t>
                </a:r>
              </a:p>
            </p:txBody>
          </p:sp>
        </mc:Fallback>
      </mc:AlternateContent>
      <p:sp>
        <p:nvSpPr>
          <p:cNvPr id="19" name="CasellaDiTesto 18">
            <a:extLst>
              <a:ext uri="{FF2B5EF4-FFF2-40B4-BE49-F238E27FC236}">
                <a16:creationId xmlns:a16="http://schemas.microsoft.com/office/drawing/2014/main" id="{9D4F0780-6486-78BC-1AC7-9C569F9C0326}"/>
              </a:ext>
            </a:extLst>
          </p:cNvPr>
          <p:cNvSpPr txBox="1"/>
          <p:nvPr/>
        </p:nvSpPr>
        <p:spPr>
          <a:xfrm>
            <a:off x="447137" y="3521518"/>
            <a:ext cx="3371933" cy="400110"/>
          </a:xfrm>
          <a:prstGeom prst="rect">
            <a:avLst/>
          </a:prstGeom>
          <a:noFill/>
        </p:spPr>
        <p:txBody>
          <a:bodyPr wrap="square" rtlCol="0" anchor="ctr">
            <a:spAutoFit/>
          </a:bodyPr>
          <a:lstStyle/>
          <a:p>
            <a:pPr algn="ctr"/>
            <a:r>
              <a:rPr lang="it-IT" sz="2000" dirty="0">
                <a:solidFill>
                  <a:schemeClr val="bg1"/>
                </a:solidFill>
                <a:latin typeface="Alata" pitchFamily="2" charset="0"/>
                <a:cs typeface="Alata" pitchFamily="2" charset="0"/>
              </a:rPr>
              <a:t>Throughput [dps/dpm]</a:t>
            </a:r>
          </a:p>
        </p:txBody>
      </p:sp>
      <p:sp>
        <p:nvSpPr>
          <p:cNvPr id="21" name="CasellaDiTesto 20">
            <a:extLst>
              <a:ext uri="{FF2B5EF4-FFF2-40B4-BE49-F238E27FC236}">
                <a16:creationId xmlns:a16="http://schemas.microsoft.com/office/drawing/2014/main" id="{92DE799C-BF13-F0CD-F1B3-98B1E1523143}"/>
              </a:ext>
            </a:extLst>
          </p:cNvPr>
          <p:cNvSpPr txBox="1"/>
          <p:nvPr/>
        </p:nvSpPr>
        <p:spPr>
          <a:xfrm>
            <a:off x="4218906" y="3416234"/>
            <a:ext cx="7675442" cy="707886"/>
          </a:xfrm>
          <a:prstGeom prst="rect">
            <a:avLst/>
          </a:prstGeom>
          <a:noFill/>
        </p:spPr>
        <p:txBody>
          <a:bodyPr wrap="square" rtlCol="0" anchor="ctr">
            <a:spAutoFit/>
          </a:bodyPr>
          <a:lstStyle/>
          <a:p>
            <a:r>
              <a:rPr lang="en-US" sz="2000" dirty="0">
                <a:solidFill>
                  <a:schemeClr val="bg1"/>
                </a:solidFill>
                <a:latin typeface="Alata" pitchFamily="2" charset="0"/>
                <a:cs typeface="Alata" pitchFamily="2" charset="0"/>
              </a:rPr>
              <a:t>Frequency of decision-making (system decisions per second and decision per minute)</a:t>
            </a:r>
            <a:endParaRPr lang="it-IT" sz="2000" dirty="0">
              <a:solidFill>
                <a:schemeClr val="bg1"/>
              </a:solidFill>
              <a:latin typeface="Alata" pitchFamily="2" charset="0"/>
              <a:cs typeface="Alata" pitchFamily="2" charset="0"/>
            </a:endParaRPr>
          </a:p>
        </p:txBody>
      </p:sp>
      <p:sp>
        <p:nvSpPr>
          <p:cNvPr id="23" name="CasellaDiTesto 22">
            <a:extLst>
              <a:ext uri="{FF2B5EF4-FFF2-40B4-BE49-F238E27FC236}">
                <a16:creationId xmlns:a16="http://schemas.microsoft.com/office/drawing/2014/main" id="{5C36EC7F-1B1E-B74E-64C0-C38BEB1CACA7}"/>
              </a:ext>
            </a:extLst>
          </p:cNvPr>
          <p:cNvSpPr txBox="1"/>
          <p:nvPr/>
        </p:nvSpPr>
        <p:spPr>
          <a:xfrm>
            <a:off x="678200" y="4252312"/>
            <a:ext cx="2832721" cy="400110"/>
          </a:xfrm>
          <a:prstGeom prst="rect">
            <a:avLst/>
          </a:prstGeom>
          <a:noFill/>
        </p:spPr>
        <p:txBody>
          <a:bodyPr wrap="square" rtlCol="0" anchor="ctr">
            <a:spAutoFit/>
          </a:bodyPr>
          <a:lstStyle/>
          <a:p>
            <a:pPr algn="ctr"/>
            <a:r>
              <a:rPr lang="it-IT" sz="2000" dirty="0">
                <a:solidFill>
                  <a:schemeClr val="bg1"/>
                </a:solidFill>
                <a:latin typeface="Alata" pitchFamily="2" charset="0"/>
                <a:cs typeface="Alata" pitchFamily="2" charset="0"/>
              </a:rPr>
              <a:t>CPU Load [%]</a:t>
            </a:r>
          </a:p>
        </p:txBody>
      </p:sp>
      <p:sp>
        <p:nvSpPr>
          <p:cNvPr id="25" name="CasellaDiTesto 24">
            <a:extLst>
              <a:ext uri="{FF2B5EF4-FFF2-40B4-BE49-F238E27FC236}">
                <a16:creationId xmlns:a16="http://schemas.microsoft.com/office/drawing/2014/main" id="{A5736E9A-EB68-3525-C445-FD11089EB7F4}"/>
              </a:ext>
            </a:extLst>
          </p:cNvPr>
          <p:cNvSpPr txBox="1"/>
          <p:nvPr/>
        </p:nvSpPr>
        <p:spPr>
          <a:xfrm>
            <a:off x="4218906" y="4118208"/>
            <a:ext cx="7675442" cy="707886"/>
          </a:xfrm>
          <a:prstGeom prst="rect">
            <a:avLst/>
          </a:prstGeom>
          <a:noFill/>
        </p:spPr>
        <p:txBody>
          <a:bodyPr wrap="square" rtlCol="0" anchor="ctr">
            <a:spAutoFit/>
          </a:bodyPr>
          <a:lstStyle/>
          <a:p>
            <a:r>
              <a:rPr lang="en-US" sz="2000" dirty="0">
                <a:solidFill>
                  <a:schemeClr val="bg1"/>
                </a:solidFill>
                <a:latin typeface="Alata" pitchFamily="2" charset="0"/>
                <a:cs typeface="Alata" pitchFamily="2" charset="0"/>
              </a:rPr>
              <a:t>Represents the computational demand of the system’s processes relative to the Raspberry Pi’s processing capacity</a:t>
            </a:r>
            <a:endParaRPr lang="it-IT" sz="2000" dirty="0">
              <a:solidFill>
                <a:schemeClr val="bg1"/>
              </a:solidFill>
              <a:latin typeface="Alata" pitchFamily="2" charset="0"/>
              <a:cs typeface="Alata" pitchFamily="2" charset="0"/>
            </a:endParaRPr>
          </a:p>
        </p:txBody>
      </p:sp>
      <p:sp>
        <p:nvSpPr>
          <p:cNvPr id="27" name="CasellaDiTesto 26">
            <a:extLst>
              <a:ext uri="{FF2B5EF4-FFF2-40B4-BE49-F238E27FC236}">
                <a16:creationId xmlns:a16="http://schemas.microsoft.com/office/drawing/2014/main" id="{10C7468F-7D68-4E9F-0B5A-BCEA80A9CE0B}"/>
              </a:ext>
            </a:extLst>
          </p:cNvPr>
          <p:cNvSpPr txBox="1"/>
          <p:nvPr/>
        </p:nvSpPr>
        <p:spPr>
          <a:xfrm>
            <a:off x="678200" y="4838373"/>
            <a:ext cx="2832721" cy="400110"/>
          </a:xfrm>
          <a:prstGeom prst="rect">
            <a:avLst/>
          </a:prstGeom>
          <a:noFill/>
        </p:spPr>
        <p:txBody>
          <a:bodyPr wrap="square" rtlCol="0" anchor="ctr">
            <a:spAutoFit/>
          </a:bodyPr>
          <a:lstStyle/>
          <a:p>
            <a:pPr algn="ctr"/>
            <a:r>
              <a:rPr lang="it-IT" sz="2000" dirty="0">
                <a:solidFill>
                  <a:schemeClr val="bg1"/>
                </a:solidFill>
                <a:latin typeface="Alata" pitchFamily="2" charset="0"/>
                <a:cs typeface="Alata" pitchFamily="2" charset="0"/>
              </a:rPr>
              <a:t>RAM Usage [Mb] </a:t>
            </a:r>
          </a:p>
        </p:txBody>
      </p:sp>
      <p:sp>
        <p:nvSpPr>
          <p:cNvPr id="29" name="CasellaDiTesto 28">
            <a:extLst>
              <a:ext uri="{FF2B5EF4-FFF2-40B4-BE49-F238E27FC236}">
                <a16:creationId xmlns:a16="http://schemas.microsoft.com/office/drawing/2014/main" id="{0AFD963E-DC65-D023-3619-8A836D987CD8}"/>
              </a:ext>
            </a:extLst>
          </p:cNvPr>
          <p:cNvSpPr txBox="1"/>
          <p:nvPr/>
        </p:nvSpPr>
        <p:spPr>
          <a:xfrm>
            <a:off x="4218906" y="4838373"/>
            <a:ext cx="7675442" cy="400110"/>
          </a:xfrm>
          <a:prstGeom prst="rect">
            <a:avLst/>
          </a:prstGeom>
          <a:noFill/>
        </p:spPr>
        <p:txBody>
          <a:bodyPr wrap="square" rtlCol="0" anchor="ctr">
            <a:spAutoFit/>
          </a:bodyPr>
          <a:lstStyle/>
          <a:p>
            <a:r>
              <a:rPr lang="en-US" sz="2000" dirty="0">
                <a:solidFill>
                  <a:schemeClr val="bg1"/>
                </a:solidFill>
                <a:latin typeface="Alata" pitchFamily="2" charset="0"/>
                <a:cs typeface="Alata" pitchFamily="2" charset="0"/>
              </a:rPr>
              <a:t>Indicates the RAM memory usage of system’s processes</a:t>
            </a:r>
            <a:endParaRPr lang="it-IT" sz="2000" dirty="0">
              <a:solidFill>
                <a:schemeClr val="bg1"/>
              </a:solidFill>
              <a:latin typeface="Alata" pitchFamily="2" charset="0"/>
              <a:cs typeface="Alata" pitchFamily="2" charset="0"/>
            </a:endParaRPr>
          </a:p>
        </p:txBody>
      </p:sp>
      <p:sp>
        <p:nvSpPr>
          <p:cNvPr id="33" name="CasellaDiTesto 32">
            <a:extLst>
              <a:ext uri="{FF2B5EF4-FFF2-40B4-BE49-F238E27FC236}">
                <a16:creationId xmlns:a16="http://schemas.microsoft.com/office/drawing/2014/main" id="{49FBB357-0D26-A930-81F1-9DB6CAC1E4CF}"/>
              </a:ext>
            </a:extLst>
          </p:cNvPr>
          <p:cNvSpPr txBox="1"/>
          <p:nvPr/>
        </p:nvSpPr>
        <p:spPr>
          <a:xfrm>
            <a:off x="678200" y="5424434"/>
            <a:ext cx="2832721" cy="400110"/>
          </a:xfrm>
          <a:prstGeom prst="rect">
            <a:avLst/>
          </a:prstGeom>
          <a:noFill/>
        </p:spPr>
        <p:txBody>
          <a:bodyPr wrap="square" rtlCol="0" anchor="ctr">
            <a:spAutoFit/>
          </a:bodyPr>
          <a:lstStyle/>
          <a:p>
            <a:pPr algn="ctr"/>
            <a:r>
              <a:rPr lang="it-IT" sz="2000" dirty="0">
                <a:solidFill>
                  <a:schemeClr val="bg1"/>
                </a:solidFill>
                <a:latin typeface="Alata" pitchFamily="2" charset="0"/>
                <a:cs typeface="Alata" pitchFamily="2" charset="0"/>
              </a:rPr>
              <a:t>CPU Temperature [°C]</a:t>
            </a:r>
          </a:p>
        </p:txBody>
      </p:sp>
      <p:sp>
        <p:nvSpPr>
          <p:cNvPr id="35" name="CasellaDiTesto 34">
            <a:extLst>
              <a:ext uri="{FF2B5EF4-FFF2-40B4-BE49-F238E27FC236}">
                <a16:creationId xmlns:a16="http://schemas.microsoft.com/office/drawing/2014/main" id="{CEABFA20-E716-A218-04BF-D763BBA82679}"/>
              </a:ext>
            </a:extLst>
          </p:cNvPr>
          <p:cNvSpPr txBox="1"/>
          <p:nvPr/>
        </p:nvSpPr>
        <p:spPr>
          <a:xfrm>
            <a:off x="4218906" y="5325148"/>
            <a:ext cx="7675442" cy="707886"/>
          </a:xfrm>
          <a:prstGeom prst="rect">
            <a:avLst/>
          </a:prstGeom>
          <a:noFill/>
        </p:spPr>
        <p:txBody>
          <a:bodyPr wrap="square" rtlCol="0" anchor="ctr">
            <a:spAutoFit/>
          </a:bodyPr>
          <a:lstStyle/>
          <a:p>
            <a:r>
              <a:rPr lang="en-US" sz="2000" dirty="0">
                <a:solidFill>
                  <a:schemeClr val="bg1"/>
                </a:solidFill>
                <a:latin typeface="Alata" pitchFamily="2" charset="0"/>
                <a:cs typeface="Alata" pitchFamily="2" charset="0"/>
              </a:rPr>
              <a:t>Monitors thermal stability to ensure the system avoids frequency throttling during extended operation</a:t>
            </a:r>
            <a:endParaRPr lang="it-IT" sz="2000" dirty="0">
              <a:solidFill>
                <a:schemeClr val="bg1"/>
              </a:solidFill>
              <a:latin typeface="Alata" pitchFamily="2" charset="0"/>
              <a:cs typeface="Alata" pitchFamily="2" charset="0"/>
            </a:endParaRPr>
          </a:p>
        </p:txBody>
      </p:sp>
    </p:spTree>
    <p:extLst>
      <p:ext uri="{BB962C8B-B14F-4D97-AF65-F5344CB8AC3E}">
        <p14:creationId xmlns:p14="http://schemas.microsoft.com/office/powerpoint/2010/main" val="3590771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9951A54-AE99-8A21-3D5D-84A91F9690C1}"/>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6EEB517-EBA1-F46A-28AF-40FDDC667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E626CA0B-1E75-8314-E2AF-7C8AEDCF1C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60C8095F-3776-A037-8555-0C49ADA98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539DE1E8-4565-C187-3734-F01C9C21F5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6C1B44BC-3036-6838-8ABF-64013BFEE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1AF46224-818C-A63D-D1C9-6B871574F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6179E2AE-8463-9FB9-7027-314E483D7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C9B4F5C5-945B-8409-0730-9D7E3A9B62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Immagine 1">
            <a:extLst>
              <a:ext uri="{FF2B5EF4-FFF2-40B4-BE49-F238E27FC236}">
                <a16:creationId xmlns:a16="http://schemas.microsoft.com/office/drawing/2014/main" id="{1A5F67B8-7020-3CD6-7335-F83425D909B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44315" y="155399"/>
            <a:ext cx="1105166" cy="1105166"/>
          </a:xfrm>
          <a:prstGeom prst="rect">
            <a:avLst/>
          </a:prstGeom>
        </p:spPr>
      </p:pic>
      <p:sp>
        <p:nvSpPr>
          <p:cNvPr id="5" name="CasellaDiTesto 4">
            <a:extLst>
              <a:ext uri="{FF2B5EF4-FFF2-40B4-BE49-F238E27FC236}">
                <a16:creationId xmlns:a16="http://schemas.microsoft.com/office/drawing/2014/main" id="{1B01F864-26D2-9083-EAFD-7294366217C6}"/>
              </a:ext>
            </a:extLst>
          </p:cNvPr>
          <p:cNvSpPr txBox="1"/>
          <p:nvPr/>
        </p:nvSpPr>
        <p:spPr>
          <a:xfrm>
            <a:off x="1464932" y="477149"/>
            <a:ext cx="4438113" cy="461665"/>
          </a:xfrm>
          <a:prstGeom prst="rect">
            <a:avLst/>
          </a:prstGeom>
          <a:noFill/>
        </p:spPr>
        <p:txBody>
          <a:bodyPr wrap="square" lIns="91440" tIns="45720" rIns="91440" bIns="45720" rtlCol="0" anchor="t">
            <a:spAutoFit/>
          </a:bodyPr>
          <a:lstStyle/>
          <a:p>
            <a:r>
              <a:rPr lang="it-IT" sz="2400" dirty="0">
                <a:solidFill>
                  <a:schemeClr val="bg1"/>
                </a:solidFill>
                <a:latin typeface="Alata"/>
                <a:cs typeface="Alata" pitchFamily="2" charset="0"/>
              </a:rPr>
              <a:t>PERFORMANCES</a:t>
            </a:r>
            <a:endParaRPr lang="en-GB" sz="2400" dirty="0">
              <a:solidFill>
                <a:schemeClr val="bg1"/>
              </a:solidFill>
              <a:latin typeface="Alata"/>
              <a:cs typeface="Alata" pitchFamily="2" charset="0"/>
            </a:endParaRPr>
          </a:p>
        </p:txBody>
      </p:sp>
      <p:graphicFrame>
        <p:nvGraphicFramePr>
          <p:cNvPr id="3" name="Tabella 2">
            <a:extLst>
              <a:ext uri="{FF2B5EF4-FFF2-40B4-BE49-F238E27FC236}">
                <a16:creationId xmlns:a16="http://schemas.microsoft.com/office/drawing/2014/main" id="{DA9A98FF-3808-82CE-694E-D74175E1D1C5}"/>
              </a:ext>
            </a:extLst>
          </p:cNvPr>
          <p:cNvGraphicFramePr>
            <a:graphicFrameLocks noGrp="1"/>
          </p:cNvGraphicFramePr>
          <p:nvPr>
            <p:extLst>
              <p:ext uri="{D42A27DB-BD31-4B8C-83A1-F6EECF244321}">
                <p14:modId xmlns:p14="http://schemas.microsoft.com/office/powerpoint/2010/main" val="687665252"/>
              </p:ext>
            </p:extLst>
          </p:nvPr>
        </p:nvGraphicFramePr>
        <p:xfrm>
          <a:off x="549964" y="1756525"/>
          <a:ext cx="11092071" cy="3988008"/>
        </p:xfrm>
        <a:graphic>
          <a:graphicData uri="http://schemas.openxmlformats.org/drawingml/2006/table">
            <a:tbl>
              <a:tblPr firstRow="1" bandRow="1">
                <a:tableStyleId>{5C22544A-7EE6-4342-B048-85BDC9FD1C3A}</a:tableStyleId>
              </a:tblPr>
              <a:tblGrid>
                <a:gridCol w="3697357">
                  <a:extLst>
                    <a:ext uri="{9D8B030D-6E8A-4147-A177-3AD203B41FA5}">
                      <a16:colId xmlns:a16="http://schemas.microsoft.com/office/drawing/2014/main" val="1394843238"/>
                    </a:ext>
                  </a:extLst>
                </a:gridCol>
                <a:gridCol w="3697357">
                  <a:extLst>
                    <a:ext uri="{9D8B030D-6E8A-4147-A177-3AD203B41FA5}">
                      <a16:colId xmlns:a16="http://schemas.microsoft.com/office/drawing/2014/main" val="463144392"/>
                    </a:ext>
                  </a:extLst>
                </a:gridCol>
                <a:gridCol w="3697357">
                  <a:extLst>
                    <a:ext uri="{9D8B030D-6E8A-4147-A177-3AD203B41FA5}">
                      <a16:colId xmlns:a16="http://schemas.microsoft.com/office/drawing/2014/main" val="3194575816"/>
                    </a:ext>
                  </a:extLst>
                </a:gridCol>
              </a:tblGrid>
              <a:tr h="498501">
                <a:tc>
                  <a:txBody>
                    <a:bodyPr/>
                    <a:lstStyle/>
                    <a:p>
                      <a:pPr algn="ctr"/>
                      <a:r>
                        <a:rPr lang="it-IT" sz="2000" dirty="0">
                          <a:solidFill>
                            <a:schemeClr val="bg1"/>
                          </a:solidFill>
                          <a:latin typeface="Alata" pitchFamily="2" charset="0"/>
                          <a:cs typeface="Alata" pitchFamily="2" charset="0"/>
                        </a:rPr>
                        <a:t>Average Metric</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it-IT" sz="2000" dirty="0">
                          <a:solidFill>
                            <a:schemeClr val="bg1"/>
                          </a:solidFill>
                          <a:latin typeface="Alata" pitchFamily="2" charset="0"/>
                          <a:cs typeface="Alata" pitchFamily="2" charset="0"/>
                        </a:rPr>
                        <a:t>V1 (Sequential)</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it-IT" sz="2000" dirty="0">
                          <a:solidFill>
                            <a:schemeClr val="bg1"/>
                          </a:solidFill>
                          <a:latin typeface="Alata" pitchFamily="2" charset="0"/>
                          <a:cs typeface="Alata" pitchFamily="2" charset="0"/>
                        </a:rPr>
                        <a:t>V2(Optimized)</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72564408"/>
                  </a:ext>
                </a:extLst>
              </a:tr>
              <a:tr h="498501">
                <a:tc>
                  <a:txBody>
                    <a:bodyPr/>
                    <a:lstStyle/>
                    <a:p>
                      <a:pPr algn="ctr"/>
                      <a:r>
                        <a:rPr lang="it-IT" sz="2000" dirty="0">
                          <a:solidFill>
                            <a:schemeClr val="bg1"/>
                          </a:solidFill>
                          <a:latin typeface="Alata" pitchFamily="2" charset="0"/>
                          <a:cs typeface="Alata" pitchFamily="2" charset="0"/>
                        </a:rPr>
                        <a:t>Mean Cycle Time [s]</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it-IT" sz="2000" dirty="0">
                          <a:solidFill>
                            <a:schemeClr val="bg1"/>
                          </a:solidFill>
                          <a:latin typeface="Alata" pitchFamily="2" charset="0"/>
                          <a:cs typeface="Alata" pitchFamily="2" charset="0"/>
                        </a:rPr>
                        <a:t>5.9875 ± 0.0084</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it-IT" sz="2000" dirty="0">
                          <a:solidFill>
                            <a:schemeClr val="bg1"/>
                          </a:solidFill>
                          <a:latin typeface="Alata" pitchFamily="2" charset="0"/>
                          <a:cs typeface="Alata" pitchFamily="2" charset="0"/>
                        </a:rPr>
                        <a:t>3.3259 ± 0.003</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19871838"/>
                  </a:ext>
                </a:extLst>
              </a:tr>
              <a:tr h="498501">
                <a:tc>
                  <a:txBody>
                    <a:bodyPr/>
                    <a:lstStyle/>
                    <a:p>
                      <a:pPr algn="ctr"/>
                      <a:r>
                        <a:rPr lang="it-IT" sz="2000" dirty="0">
                          <a:solidFill>
                            <a:schemeClr val="bg1"/>
                          </a:solidFill>
                          <a:latin typeface="Alata" pitchFamily="2" charset="0"/>
                          <a:cs typeface="Alata" pitchFamily="2" charset="0"/>
                        </a:rPr>
                        <a:t>Jitter [s]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it-IT" sz="2000" dirty="0">
                          <a:solidFill>
                            <a:schemeClr val="bg1"/>
                          </a:solidFill>
                          <a:latin typeface="Alata" pitchFamily="2" charset="0"/>
                          <a:cs typeface="Alata" pitchFamily="2" charset="0"/>
                        </a:rPr>
                        <a:t>0.037</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it-IT" sz="2000" dirty="0">
                          <a:solidFill>
                            <a:schemeClr val="bg1"/>
                          </a:solidFill>
                          <a:latin typeface="Alata" pitchFamily="2" charset="0"/>
                          <a:cs typeface="Alata" pitchFamily="2" charset="0"/>
                        </a:rPr>
                        <a:t>0.199</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9459674"/>
                  </a:ext>
                </a:extLst>
              </a:tr>
              <a:tr h="498501">
                <a:tc>
                  <a:txBody>
                    <a:bodyPr/>
                    <a:lstStyle/>
                    <a:p>
                      <a:pPr algn="ctr"/>
                      <a:r>
                        <a:rPr lang="it-IT" sz="2000" dirty="0">
                          <a:solidFill>
                            <a:schemeClr val="bg1"/>
                          </a:solidFill>
                          <a:latin typeface="Alata" pitchFamily="2" charset="0"/>
                          <a:cs typeface="Alata" pitchFamily="2" charset="0"/>
                        </a:rPr>
                        <a:t>Throughput [dps]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it-IT" sz="2000" dirty="0">
                          <a:solidFill>
                            <a:schemeClr val="bg1"/>
                          </a:solidFill>
                          <a:latin typeface="Alata" pitchFamily="2" charset="0"/>
                          <a:cs typeface="Alata" pitchFamily="2" charset="0"/>
                        </a:rPr>
                        <a:t>0.167 ± 0.0002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it-IT" sz="2000" dirty="0">
                          <a:solidFill>
                            <a:schemeClr val="bg1"/>
                          </a:solidFill>
                          <a:latin typeface="Alata" pitchFamily="2" charset="0"/>
                          <a:cs typeface="Alata" pitchFamily="2" charset="0"/>
                        </a:rPr>
                        <a:t>0.3007 ± 0.0003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49826213"/>
                  </a:ext>
                </a:extLst>
              </a:tr>
              <a:tr h="4985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2000" dirty="0">
                          <a:solidFill>
                            <a:schemeClr val="bg1"/>
                          </a:solidFill>
                          <a:latin typeface="Alata" pitchFamily="2" charset="0"/>
                          <a:cs typeface="Alata" pitchFamily="2" charset="0"/>
                        </a:rPr>
                        <a:t>Throughput [dpm]</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it-IT" sz="2000" dirty="0">
                          <a:solidFill>
                            <a:schemeClr val="bg1"/>
                          </a:solidFill>
                          <a:latin typeface="Alata" pitchFamily="2" charset="0"/>
                          <a:cs typeface="Alata" pitchFamily="2" charset="0"/>
                        </a:rPr>
                        <a:t>10.02 ± 0.01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it-IT" sz="2000" dirty="0">
                          <a:solidFill>
                            <a:schemeClr val="bg1"/>
                          </a:solidFill>
                          <a:latin typeface="Alata" pitchFamily="2" charset="0"/>
                          <a:cs typeface="Alata" pitchFamily="2" charset="0"/>
                        </a:rPr>
                        <a:t>18.04 ± 0.002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33381793"/>
                  </a:ext>
                </a:extLst>
              </a:tr>
              <a:tr h="498501">
                <a:tc>
                  <a:txBody>
                    <a:bodyPr/>
                    <a:lstStyle/>
                    <a:p>
                      <a:pPr algn="ctr"/>
                      <a:r>
                        <a:rPr lang="it-IT" sz="2000" dirty="0">
                          <a:solidFill>
                            <a:schemeClr val="bg1"/>
                          </a:solidFill>
                          <a:latin typeface="Alata" pitchFamily="2" charset="0"/>
                          <a:cs typeface="Alata" pitchFamily="2" charset="0"/>
                        </a:rPr>
                        <a:t>CPU Load [%]</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2000" dirty="0">
                          <a:solidFill>
                            <a:schemeClr val="bg1"/>
                          </a:solidFill>
                          <a:latin typeface="Alata" pitchFamily="2" charset="0"/>
                          <a:cs typeface="Alata" pitchFamily="2" charset="0"/>
                        </a:rPr>
                        <a:t>16 ± 6.77</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it-IT" sz="2000" dirty="0">
                          <a:solidFill>
                            <a:schemeClr val="bg1"/>
                          </a:solidFill>
                          <a:latin typeface="Alata" pitchFamily="2" charset="0"/>
                          <a:cs typeface="Alata" pitchFamily="2" charset="0"/>
                        </a:rPr>
                        <a:t>24.31 ± 4.53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07218719"/>
                  </a:ext>
                </a:extLst>
              </a:tr>
              <a:tr h="498501">
                <a:tc>
                  <a:txBody>
                    <a:bodyPr/>
                    <a:lstStyle/>
                    <a:p>
                      <a:pPr algn="ctr"/>
                      <a:r>
                        <a:rPr lang="it-IT" sz="2000" dirty="0">
                          <a:solidFill>
                            <a:schemeClr val="bg1"/>
                          </a:solidFill>
                          <a:latin typeface="Alata" pitchFamily="2" charset="0"/>
                          <a:cs typeface="Alata" pitchFamily="2" charset="0"/>
                        </a:rPr>
                        <a:t>RAM </a:t>
                      </a:r>
                      <a:r>
                        <a:rPr lang="it-IT" sz="2000" dirty="0" err="1">
                          <a:solidFill>
                            <a:schemeClr val="bg1"/>
                          </a:solidFill>
                          <a:latin typeface="Alata" pitchFamily="2" charset="0"/>
                          <a:cs typeface="Alata" pitchFamily="2" charset="0"/>
                        </a:rPr>
                        <a:t>Usage</a:t>
                      </a:r>
                      <a:r>
                        <a:rPr lang="it-IT" sz="2000" dirty="0">
                          <a:solidFill>
                            <a:schemeClr val="bg1"/>
                          </a:solidFill>
                          <a:latin typeface="Alata" pitchFamily="2" charset="0"/>
                          <a:cs typeface="Alata" pitchFamily="2" charset="0"/>
                        </a:rPr>
                        <a:t> [Mb]</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2000" dirty="0">
                          <a:solidFill>
                            <a:schemeClr val="bg1"/>
                          </a:solidFill>
                          <a:latin typeface="Alata" pitchFamily="2" charset="0"/>
                          <a:cs typeface="Alata" pitchFamily="2" charset="0"/>
                        </a:rPr>
                        <a:t>379.75 ± 0.3294</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it-IT" sz="2000" dirty="0">
                          <a:solidFill>
                            <a:schemeClr val="bg1"/>
                          </a:solidFill>
                          <a:latin typeface="Alata" pitchFamily="2" charset="0"/>
                          <a:cs typeface="Alata" pitchFamily="2" charset="0"/>
                        </a:rPr>
                        <a:t>396.8125 ± 2.5408</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74366052"/>
                  </a:ext>
                </a:extLst>
              </a:tr>
              <a:tr h="498501">
                <a:tc>
                  <a:txBody>
                    <a:bodyPr/>
                    <a:lstStyle/>
                    <a:p>
                      <a:pPr algn="ctr"/>
                      <a:r>
                        <a:rPr lang="it-IT" sz="2000">
                          <a:solidFill>
                            <a:schemeClr val="bg1"/>
                          </a:solidFill>
                          <a:latin typeface="Alata" pitchFamily="2" charset="0"/>
                          <a:cs typeface="Alata" pitchFamily="2" charset="0"/>
                        </a:rPr>
                        <a:t>CPU Temperature [°C]</a:t>
                      </a:r>
                      <a:endParaRPr lang="it-IT" sz="2000" dirty="0">
                        <a:solidFill>
                          <a:schemeClr val="bg1"/>
                        </a:solidFill>
                        <a:latin typeface="Alata" pitchFamily="2" charset="0"/>
                        <a:cs typeface="Alata" pitchFamily="2"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2000" dirty="0">
                          <a:solidFill>
                            <a:schemeClr val="bg1"/>
                          </a:solidFill>
                          <a:latin typeface="Alata" pitchFamily="2" charset="0"/>
                          <a:cs typeface="Alata" pitchFamily="2" charset="0"/>
                        </a:rPr>
                        <a:t>55 ± 0.2505</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it-IT" sz="2000" dirty="0">
                          <a:solidFill>
                            <a:schemeClr val="bg1"/>
                          </a:solidFill>
                          <a:latin typeface="Alata" pitchFamily="2" charset="0"/>
                          <a:cs typeface="Alata" pitchFamily="2" charset="0"/>
                        </a:rPr>
                        <a:t>57.7647 ± 1.7267</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23202008"/>
                  </a:ext>
                </a:extLst>
              </a:tr>
            </a:tbl>
          </a:graphicData>
        </a:graphic>
      </p:graphicFrame>
      <p:sp>
        <p:nvSpPr>
          <p:cNvPr id="4" name="CasellaDiTesto 3">
            <a:extLst>
              <a:ext uri="{FF2B5EF4-FFF2-40B4-BE49-F238E27FC236}">
                <a16:creationId xmlns:a16="http://schemas.microsoft.com/office/drawing/2014/main" id="{6A4AE538-2989-8A5E-F1DF-A55DA2D425FC}"/>
              </a:ext>
            </a:extLst>
          </p:cNvPr>
          <p:cNvSpPr txBox="1"/>
          <p:nvPr/>
        </p:nvSpPr>
        <p:spPr>
          <a:xfrm>
            <a:off x="8219769" y="6240493"/>
            <a:ext cx="3342968" cy="369332"/>
          </a:xfrm>
          <a:prstGeom prst="rect">
            <a:avLst/>
          </a:prstGeom>
          <a:noFill/>
        </p:spPr>
        <p:txBody>
          <a:bodyPr wrap="square" rtlCol="0" anchor="ctr">
            <a:spAutoFit/>
          </a:bodyPr>
          <a:lstStyle/>
          <a:p>
            <a:pPr algn="ctr"/>
            <a:r>
              <a:rPr lang="it-IT" dirty="0">
                <a:solidFill>
                  <a:schemeClr val="bg1"/>
                </a:solidFill>
                <a:latin typeface="Alata" pitchFamily="2" charset="0"/>
                <a:cs typeface="Alata" pitchFamily="2" charset="0"/>
              </a:rPr>
              <a:t>CI 99% (EXCLUDED JITTER)</a:t>
            </a:r>
          </a:p>
        </p:txBody>
      </p:sp>
    </p:spTree>
    <p:extLst>
      <p:ext uri="{BB962C8B-B14F-4D97-AF65-F5344CB8AC3E}">
        <p14:creationId xmlns:p14="http://schemas.microsoft.com/office/powerpoint/2010/main" val="21529091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154C56A-C15A-802A-4D71-026530D11286}"/>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84298D45-D249-3B3E-3C1F-77B00041F1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07471DF-F497-2B4C-2B8A-047774DE2B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8305C1FD-7DFF-3680-3B0D-AD91CA1BD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990EFBB0-9A6B-3F5C-7613-DE70403F1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BEAEA82E-A10E-50C8-88A1-6FE28DF661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91FE0AC6-13EA-2459-88A5-624A8CBFA4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7C82C19D-0F27-53BC-D0D6-03F45B9E6C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00E5671E-6527-6C77-E8C6-9D8A72EB5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Immagine 1">
            <a:extLst>
              <a:ext uri="{FF2B5EF4-FFF2-40B4-BE49-F238E27FC236}">
                <a16:creationId xmlns:a16="http://schemas.microsoft.com/office/drawing/2014/main" id="{D1D4D6F5-5862-8A89-BB66-DA006E9C663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31064" y="145460"/>
            <a:ext cx="1105166" cy="1105166"/>
          </a:xfrm>
          <a:prstGeom prst="rect">
            <a:avLst/>
          </a:prstGeom>
        </p:spPr>
      </p:pic>
      <p:sp>
        <p:nvSpPr>
          <p:cNvPr id="5" name="CasellaDiTesto 4">
            <a:extLst>
              <a:ext uri="{FF2B5EF4-FFF2-40B4-BE49-F238E27FC236}">
                <a16:creationId xmlns:a16="http://schemas.microsoft.com/office/drawing/2014/main" id="{CBDCC074-A910-03E5-7E21-78DF06A02A59}"/>
              </a:ext>
            </a:extLst>
          </p:cNvPr>
          <p:cNvSpPr txBox="1"/>
          <p:nvPr/>
        </p:nvSpPr>
        <p:spPr>
          <a:xfrm>
            <a:off x="1451681" y="467210"/>
            <a:ext cx="4438113" cy="461665"/>
          </a:xfrm>
          <a:prstGeom prst="rect">
            <a:avLst/>
          </a:prstGeom>
          <a:noFill/>
        </p:spPr>
        <p:txBody>
          <a:bodyPr wrap="square" lIns="91440" tIns="45720" rIns="91440" bIns="45720" rtlCol="0" anchor="t">
            <a:spAutoFit/>
          </a:bodyPr>
          <a:lstStyle/>
          <a:p>
            <a:r>
              <a:rPr lang="it-IT" sz="2400" dirty="0">
                <a:solidFill>
                  <a:schemeClr val="bg1"/>
                </a:solidFill>
                <a:latin typeface="Alata"/>
                <a:cs typeface="Alata" pitchFamily="2" charset="0"/>
              </a:rPr>
              <a:t>PERFORMANCES</a:t>
            </a:r>
            <a:endParaRPr lang="en-GB" sz="2400" dirty="0">
              <a:solidFill>
                <a:schemeClr val="bg1"/>
              </a:solidFill>
              <a:latin typeface="Alata"/>
              <a:cs typeface="Alata" pitchFamily="2" charset="0"/>
            </a:endParaRPr>
          </a:p>
        </p:txBody>
      </p:sp>
      <p:sp>
        <p:nvSpPr>
          <p:cNvPr id="7" name="CasellaDiTesto 6">
            <a:extLst>
              <a:ext uri="{FF2B5EF4-FFF2-40B4-BE49-F238E27FC236}">
                <a16:creationId xmlns:a16="http://schemas.microsoft.com/office/drawing/2014/main" id="{AFD3108B-55EC-BE34-CFF6-2FC67EA186EC}"/>
              </a:ext>
            </a:extLst>
          </p:cNvPr>
          <p:cNvSpPr txBox="1"/>
          <p:nvPr/>
        </p:nvSpPr>
        <p:spPr>
          <a:xfrm>
            <a:off x="1390460" y="1725917"/>
            <a:ext cx="9411079" cy="461665"/>
          </a:xfrm>
          <a:prstGeom prst="rect">
            <a:avLst/>
          </a:prstGeom>
          <a:noFill/>
        </p:spPr>
        <p:txBody>
          <a:bodyPr wrap="square" rtlCol="0" anchor="ctr">
            <a:spAutoFit/>
          </a:bodyPr>
          <a:lstStyle/>
          <a:p>
            <a:pPr algn="ctr"/>
            <a:r>
              <a:rPr lang="it-IT" sz="2400" dirty="0">
                <a:solidFill>
                  <a:schemeClr val="bg1"/>
                </a:solidFill>
                <a:latin typeface="Alata" pitchFamily="2" charset="0"/>
                <a:cs typeface="Alata" pitchFamily="2" charset="0"/>
              </a:rPr>
              <a:t>Yolo V26 (Converted to TFLite Model)</a:t>
            </a:r>
          </a:p>
        </p:txBody>
      </p:sp>
      <p:sp>
        <p:nvSpPr>
          <p:cNvPr id="8" name="CasellaDiTesto 7">
            <a:extLst>
              <a:ext uri="{FF2B5EF4-FFF2-40B4-BE49-F238E27FC236}">
                <a16:creationId xmlns:a16="http://schemas.microsoft.com/office/drawing/2014/main" id="{E96C52D7-DFA3-B7B3-95EE-1494D3F2AD13}"/>
              </a:ext>
            </a:extLst>
          </p:cNvPr>
          <p:cNvSpPr txBox="1"/>
          <p:nvPr/>
        </p:nvSpPr>
        <p:spPr>
          <a:xfrm>
            <a:off x="1336230" y="4298525"/>
            <a:ext cx="9411079" cy="461665"/>
          </a:xfrm>
          <a:prstGeom prst="rect">
            <a:avLst/>
          </a:prstGeom>
          <a:noFill/>
        </p:spPr>
        <p:txBody>
          <a:bodyPr wrap="square" rtlCol="0" anchor="ctr">
            <a:spAutoFit/>
          </a:bodyPr>
          <a:lstStyle/>
          <a:p>
            <a:pPr algn="ctr"/>
            <a:r>
              <a:rPr lang="it-IT" sz="2400" dirty="0">
                <a:solidFill>
                  <a:schemeClr val="bg1"/>
                </a:solidFill>
                <a:latin typeface="Alata" pitchFamily="2" charset="0"/>
                <a:cs typeface="Alata" pitchFamily="2" charset="0"/>
              </a:rPr>
              <a:t>INFERENCE TIME : [1.4287,1,44] [s] (CI 99%)</a:t>
            </a:r>
          </a:p>
        </p:txBody>
      </p:sp>
      <p:sp>
        <p:nvSpPr>
          <p:cNvPr id="9" name="CasellaDiTesto 8">
            <a:extLst>
              <a:ext uri="{FF2B5EF4-FFF2-40B4-BE49-F238E27FC236}">
                <a16:creationId xmlns:a16="http://schemas.microsoft.com/office/drawing/2014/main" id="{46C03F38-6FBE-969B-8AF3-C47379FCB816}"/>
              </a:ext>
            </a:extLst>
          </p:cNvPr>
          <p:cNvSpPr txBox="1"/>
          <p:nvPr/>
        </p:nvSpPr>
        <p:spPr>
          <a:xfrm>
            <a:off x="1323578" y="2557968"/>
            <a:ext cx="2088215" cy="400110"/>
          </a:xfrm>
          <a:prstGeom prst="rect">
            <a:avLst/>
          </a:prstGeom>
          <a:noFill/>
        </p:spPr>
        <p:txBody>
          <a:bodyPr wrap="square" rtlCol="0" anchor="ctr">
            <a:spAutoFit/>
          </a:bodyPr>
          <a:lstStyle/>
          <a:p>
            <a:pPr algn="ctr"/>
            <a:r>
              <a:rPr lang="it-IT" sz="2000" dirty="0">
                <a:solidFill>
                  <a:schemeClr val="bg1"/>
                </a:solidFill>
                <a:latin typeface="Alata" pitchFamily="2" charset="0"/>
                <a:cs typeface="Alata" pitchFamily="2" charset="0"/>
              </a:rPr>
              <a:t>Size : Nano</a:t>
            </a:r>
          </a:p>
        </p:txBody>
      </p:sp>
      <p:sp>
        <p:nvSpPr>
          <p:cNvPr id="10" name="CasellaDiTesto 9">
            <a:extLst>
              <a:ext uri="{FF2B5EF4-FFF2-40B4-BE49-F238E27FC236}">
                <a16:creationId xmlns:a16="http://schemas.microsoft.com/office/drawing/2014/main" id="{180702FE-6EA5-F587-BD3A-AE4C538DA0EA}"/>
              </a:ext>
            </a:extLst>
          </p:cNvPr>
          <p:cNvSpPr txBox="1"/>
          <p:nvPr/>
        </p:nvSpPr>
        <p:spPr>
          <a:xfrm>
            <a:off x="914175" y="3086479"/>
            <a:ext cx="2832721" cy="400110"/>
          </a:xfrm>
          <a:prstGeom prst="rect">
            <a:avLst/>
          </a:prstGeom>
          <a:noFill/>
        </p:spPr>
        <p:txBody>
          <a:bodyPr wrap="square" rtlCol="0" anchor="ctr">
            <a:spAutoFit/>
          </a:bodyPr>
          <a:lstStyle/>
          <a:p>
            <a:pPr algn="ctr"/>
            <a:r>
              <a:rPr lang="it-IT" sz="2000" dirty="0">
                <a:solidFill>
                  <a:schemeClr val="bg1"/>
                </a:solidFill>
                <a:latin typeface="Alata" pitchFamily="2" charset="0"/>
                <a:cs typeface="Alata" pitchFamily="2" charset="0"/>
              </a:rPr>
              <a:t>Resolution : 640 X 640</a:t>
            </a:r>
          </a:p>
        </p:txBody>
      </p:sp>
      <p:sp>
        <p:nvSpPr>
          <p:cNvPr id="11" name="CasellaDiTesto 10">
            <a:extLst>
              <a:ext uri="{FF2B5EF4-FFF2-40B4-BE49-F238E27FC236}">
                <a16:creationId xmlns:a16="http://schemas.microsoft.com/office/drawing/2014/main" id="{8642CF88-B09F-CA95-2BD1-7B1095ECFC9D}"/>
              </a:ext>
            </a:extLst>
          </p:cNvPr>
          <p:cNvSpPr txBox="1"/>
          <p:nvPr/>
        </p:nvSpPr>
        <p:spPr>
          <a:xfrm>
            <a:off x="4828826" y="2747601"/>
            <a:ext cx="2832721" cy="400110"/>
          </a:xfrm>
          <a:prstGeom prst="rect">
            <a:avLst/>
          </a:prstGeom>
          <a:noFill/>
        </p:spPr>
        <p:txBody>
          <a:bodyPr wrap="square" rtlCol="0" anchor="ctr">
            <a:spAutoFit/>
          </a:bodyPr>
          <a:lstStyle/>
          <a:p>
            <a:pPr algn="ctr"/>
            <a:r>
              <a:rPr lang="it-IT" sz="2000" dirty="0">
                <a:solidFill>
                  <a:schemeClr val="bg1"/>
                </a:solidFill>
                <a:latin typeface="Alata" pitchFamily="2" charset="0"/>
                <a:cs typeface="Alata" pitchFamily="2" charset="0"/>
              </a:rPr>
              <a:t>Recall : 0.893 %</a:t>
            </a:r>
          </a:p>
        </p:txBody>
      </p:sp>
      <p:sp>
        <p:nvSpPr>
          <p:cNvPr id="12" name="CasellaDiTesto 11">
            <a:extLst>
              <a:ext uri="{FF2B5EF4-FFF2-40B4-BE49-F238E27FC236}">
                <a16:creationId xmlns:a16="http://schemas.microsoft.com/office/drawing/2014/main" id="{C1B16FF3-C457-7E8E-2929-F4FBF0A57A43}"/>
              </a:ext>
            </a:extLst>
          </p:cNvPr>
          <p:cNvSpPr txBox="1"/>
          <p:nvPr/>
        </p:nvSpPr>
        <p:spPr>
          <a:xfrm>
            <a:off x="8327782" y="2547546"/>
            <a:ext cx="2832721" cy="400110"/>
          </a:xfrm>
          <a:prstGeom prst="rect">
            <a:avLst/>
          </a:prstGeom>
          <a:noFill/>
        </p:spPr>
        <p:txBody>
          <a:bodyPr wrap="square" rtlCol="0" anchor="ctr">
            <a:spAutoFit/>
          </a:bodyPr>
          <a:lstStyle/>
          <a:p>
            <a:pPr algn="ctr"/>
            <a:r>
              <a:rPr lang="it-IT" sz="2000" dirty="0">
                <a:solidFill>
                  <a:schemeClr val="bg1"/>
                </a:solidFill>
                <a:latin typeface="Alata" pitchFamily="2" charset="0"/>
                <a:cs typeface="Alata" pitchFamily="2" charset="0"/>
              </a:rPr>
              <a:t>mAP50 : 0.923 %</a:t>
            </a:r>
          </a:p>
        </p:txBody>
      </p:sp>
      <p:sp>
        <p:nvSpPr>
          <p:cNvPr id="13" name="CasellaDiTesto 12">
            <a:extLst>
              <a:ext uri="{FF2B5EF4-FFF2-40B4-BE49-F238E27FC236}">
                <a16:creationId xmlns:a16="http://schemas.microsoft.com/office/drawing/2014/main" id="{EAEA9868-91C7-0E34-9E84-8664D3C9D688}"/>
              </a:ext>
            </a:extLst>
          </p:cNvPr>
          <p:cNvSpPr txBox="1"/>
          <p:nvPr/>
        </p:nvSpPr>
        <p:spPr>
          <a:xfrm>
            <a:off x="8316059" y="3086479"/>
            <a:ext cx="2832721" cy="400110"/>
          </a:xfrm>
          <a:prstGeom prst="rect">
            <a:avLst/>
          </a:prstGeom>
          <a:noFill/>
        </p:spPr>
        <p:txBody>
          <a:bodyPr wrap="square" rtlCol="0" anchor="ctr">
            <a:spAutoFit/>
          </a:bodyPr>
          <a:lstStyle/>
          <a:p>
            <a:pPr algn="ctr"/>
            <a:r>
              <a:rPr lang="it-IT" sz="2000" dirty="0">
                <a:solidFill>
                  <a:schemeClr val="bg1"/>
                </a:solidFill>
                <a:latin typeface="Alata" pitchFamily="2" charset="0"/>
                <a:cs typeface="Alata" pitchFamily="2" charset="0"/>
              </a:rPr>
              <a:t>mAP50-95 : 0.675 %</a:t>
            </a:r>
          </a:p>
        </p:txBody>
      </p:sp>
    </p:spTree>
    <p:extLst>
      <p:ext uri="{BB962C8B-B14F-4D97-AF65-F5344CB8AC3E}">
        <p14:creationId xmlns:p14="http://schemas.microsoft.com/office/powerpoint/2010/main" val="4609461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D6EE5E9-6DE7-53D3-17F6-66520AB9D427}"/>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B165745-E167-F72D-3D18-A8DB57BAE8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8A6C45C-CD44-BD1D-483A-9E841D513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73173D69-D5DD-912B-9D9E-F2E3EB3AD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52A16FCA-4AC4-5981-57C2-F6B10DEB6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B2D3AB81-8343-2B43-602B-8589A7B8FE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A961AE0B-9ACF-1AB7-6827-A5EDD76E21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A422F4D9-BD39-4FB8-6F78-5C78C0A3A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FF57C570-EB5B-0DE0-1520-8F61C584D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Immagine 1">
            <a:extLst>
              <a:ext uri="{FF2B5EF4-FFF2-40B4-BE49-F238E27FC236}">
                <a16:creationId xmlns:a16="http://schemas.microsoft.com/office/drawing/2014/main" id="{722BF001-0ECF-237E-753B-494E9415849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31064" y="145460"/>
            <a:ext cx="1105166" cy="1105166"/>
          </a:xfrm>
          <a:prstGeom prst="rect">
            <a:avLst/>
          </a:prstGeom>
        </p:spPr>
      </p:pic>
      <p:sp>
        <p:nvSpPr>
          <p:cNvPr id="5" name="CasellaDiTesto 4">
            <a:extLst>
              <a:ext uri="{FF2B5EF4-FFF2-40B4-BE49-F238E27FC236}">
                <a16:creationId xmlns:a16="http://schemas.microsoft.com/office/drawing/2014/main" id="{82DEBC9F-F307-31F1-B355-8DB1A1A38C08}"/>
              </a:ext>
            </a:extLst>
          </p:cNvPr>
          <p:cNvSpPr txBox="1"/>
          <p:nvPr/>
        </p:nvSpPr>
        <p:spPr>
          <a:xfrm>
            <a:off x="1451681" y="467210"/>
            <a:ext cx="4438113" cy="461665"/>
          </a:xfrm>
          <a:prstGeom prst="rect">
            <a:avLst/>
          </a:prstGeom>
          <a:noFill/>
        </p:spPr>
        <p:txBody>
          <a:bodyPr wrap="square" lIns="91440" tIns="45720" rIns="91440" bIns="45720" rtlCol="0" anchor="t">
            <a:spAutoFit/>
          </a:bodyPr>
          <a:lstStyle/>
          <a:p>
            <a:r>
              <a:rPr lang="it-IT" sz="2400" dirty="0">
                <a:solidFill>
                  <a:schemeClr val="bg1"/>
                </a:solidFill>
                <a:latin typeface="Alata"/>
                <a:cs typeface="Alata" pitchFamily="2" charset="0"/>
              </a:rPr>
              <a:t>PERFORMANCES</a:t>
            </a:r>
            <a:endParaRPr lang="en-GB" sz="2400" dirty="0">
              <a:solidFill>
                <a:schemeClr val="bg1"/>
              </a:solidFill>
              <a:latin typeface="Alata"/>
              <a:cs typeface="Alata" pitchFamily="2" charset="0"/>
            </a:endParaRPr>
          </a:p>
        </p:txBody>
      </p:sp>
      <p:sp>
        <p:nvSpPr>
          <p:cNvPr id="7" name="CasellaDiTesto 6">
            <a:extLst>
              <a:ext uri="{FF2B5EF4-FFF2-40B4-BE49-F238E27FC236}">
                <a16:creationId xmlns:a16="http://schemas.microsoft.com/office/drawing/2014/main" id="{B83185B4-7EEA-4993-71A7-94AC598258CF}"/>
              </a:ext>
            </a:extLst>
          </p:cNvPr>
          <p:cNvSpPr txBox="1"/>
          <p:nvPr/>
        </p:nvSpPr>
        <p:spPr>
          <a:xfrm>
            <a:off x="1390460" y="1555908"/>
            <a:ext cx="9411079" cy="461665"/>
          </a:xfrm>
          <a:prstGeom prst="rect">
            <a:avLst/>
          </a:prstGeom>
          <a:noFill/>
        </p:spPr>
        <p:txBody>
          <a:bodyPr wrap="square" rtlCol="0" anchor="ctr">
            <a:spAutoFit/>
          </a:bodyPr>
          <a:lstStyle/>
          <a:p>
            <a:pPr algn="ctr"/>
            <a:r>
              <a:rPr lang="it-IT" sz="2400" dirty="0">
                <a:solidFill>
                  <a:schemeClr val="bg1"/>
                </a:solidFill>
                <a:latin typeface="Alata" pitchFamily="2" charset="0"/>
                <a:cs typeface="Alata" pitchFamily="2" charset="0"/>
              </a:rPr>
              <a:t>YAMNet+FFN (Converted to TFLite Model)</a:t>
            </a:r>
          </a:p>
        </p:txBody>
      </p:sp>
      <p:sp>
        <p:nvSpPr>
          <p:cNvPr id="8" name="CasellaDiTesto 7">
            <a:extLst>
              <a:ext uri="{FF2B5EF4-FFF2-40B4-BE49-F238E27FC236}">
                <a16:creationId xmlns:a16="http://schemas.microsoft.com/office/drawing/2014/main" id="{7B3A6520-5A36-5766-0819-59F1AE612AB2}"/>
              </a:ext>
            </a:extLst>
          </p:cNvPr>
          <p:cNvSpPr txBox="1"/>
          <p:nvPr/>
        </p:nvSpPr>
        <p:spPr>
          <a:xfrm>
            <a:off x="1336230" y="4329302"/>
            <a:ext cx="9411079" cy="400110"/>
          </a:xfrm>
          <a:prstGeom prst="rect">
            <a:avLst/>
          </a:prstGeom>
          <a:noFill/>
        </p:spPr>
        <p:txBody>
          <a:bodyPr wrap="square" rtlCol="0" anchor="ctr">
            <a:spAutoFit/>
          </a:bodyPr>
          <a:lstStyle/>
          <a:p>
            <a:pPr algn="ctr"/>
            <a:r>
              <a:rPr lang="it-IT" sz="2000" dirty="0">
                <a:solidFill>
                  <a:schemeClr val="bg1"/>
                </a:solidFill>
                <a:latin typeface="Alata" pitchFamily="2" charset="0"/>
                <a:cs typeface="Alata" pitchFamily="2" charset="0"/>
              </a:rPr>
              <a:t>INFERENCE TIME : [0.0187,0,0021] [s] (CI 99%)</a:t>
            </a:r>
          </a:p>
        </p:txBody>
      </p:sp>
      <p:sp>
        <p:nvSpPr>
          <p:cNvPr id="11" name="CasellaDiTesto 10">
            <a:extLst>
              <a:ext uri="{FF2B5EF4-FFF2-40B4-BE49-F238E27FC236}">
                <a16:creationId xmlns:a16="http://schemas.microsoft.com/office/drawing/2014/main" id="{2F0EB559-CB42-4126-E841-45C58E7AC0C1}"/>
              </a:ext>
            </a:extLst>
          </p:cNvPr>
          <p:cNvSpPr txBox="1"/>
          <p:nvPr/>
        </p:nvSpPr>
        <p:spPr>
          <a:xfrm>
            <a:off x="4828826" y="2716824"/>
            <a:ext cx="2832721" cy="461665"/>
          </a:xfrm>
          <a:prstGeom prst="rect">
            <a:avLst/>
          </a:prstGeom>
          <a:noFill/>
        </p:spPr>
        <p:txBody>
          <a:bodyPr wrap="square" rtlCol="0" anchor="ctr">
            <a:spAutoFit/>
          </a:bodyPr>
          <a:lstStyle/>
          <a:p>
            <a:pPr algn="ctr"/>
            <a:r>
              <a:rPr lang="it-IT" sz="2400" dirty="0">
                <a:solidFill>
                  <a:schemeClr val="bg1"/>
                </a:solidFill>
                <a:latin typeface="Alata" pitchFamily="2" charset="0"/>
                <a:cs typeface="Alata" pitchFamily="2" charset="0"/>
              </a:rPr>
              <a:t>Accuracy : 0.88 %</a:t>
            </a:r>
          </a:p>
        </p:txBody>
      </p:sp>
    </p:spTree>
    <p:extLst>
      <p:ext uri="{BB962C8B-B14F-4D97-AF65-F5344CB8AC3E}">
        <p14:creationId xmlns:p14="http://schemas.microsoft.com/office/powerpoint/2010/main" val="468377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6C4393-94F3-517E-946E-8259FC565B1A}"/>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CC6777C-B2A2-66A4-1E77-55ADB52004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7A6C834-3019-F1F7-46FB-E396CFABC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F2C133D3-1FBA-9EC9-9C90-3FDFF7EACD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59A759F0-BEAC-ABA2-21DC-F9ED69680E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1DAAC7E9-39FE-78CE-1B7D-305361B771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85851D7D-9570-9BC5-25E7-4A9628DD44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C3D5CC96-F3E0-862F-1B45-2024B94D3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4140EF0C-D11A-1377-3F77-6CCD2A5756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CasellaDiTesto 4">
            <a:extLst>
              <a:ext uri="{FF2B5EF4-FFF2-40B4-BE49-F238E27FC236}">
                <a16:creationId xmlns:a16="http://schemas.microsoft.com/office/drawing/2014/main" id="{C820E0E3-7B88-6118-F832-408A94010A5D}"/>
              </a:ext>
            </a:extLst>
          </p:cNvPr>
          <p:cNvSpPr txBox="1"/>
          <p:nvPr/>
        </p:nvSpPr>
        <p:spPr>
          <a:xfrm>
            <a:off x="9861755" y="168793"/>
            <a:ext cx="2261116" cy="461665"/>
          </a:xfrm>
          <a:prstGeom prst="rect">
            <a:avLst/>
          </a:prstGeom>
          <a:noFill/>
        </p:spPr>
        <p:txBody>
          <a:bodyPr wrap="square" lIns="91440" tIns="45720" rIns="91440" bIns="45720" rtlCol="0" anchor="t">
            <a:spAutoFit/>
          </a:bodyPr>
          <a:lstStyle/>
          <a:p>
            <a:r>
              <a:rPr lang="it-IT" sz="2400" dirty="0">
                <a:solidFill>
                  <a:schemeClr val="bg1"/>
                </a:solidFill>
                <a:latin typeface="Alata"/>
                <a:cs typeface="Alata" pitchFamily="2" charset="0"/>
              </a:rPr>
              <a:t>CONCLUSION</a:t>
            </a:r>
            <a:endParaRPr lang="en-GB" sz="2400" dirty="0">
              <a:solidFill>
                <a:schemeClr val="bg1"/>
              </a:solidFill>
              <a:latin typeface="Alata"/>
              <a:cs typeface="Alata" pitchFamily="2" charset="0"/>
            </a:endParaRPr>
          </a:p>
        </p:txBody>
      </p:sp>
      <p:sp>
        <p:nvSpPr>
          <p:cNvPr id="3" name="CasellaDiTesto 8">
            <a:extLst>
              <a:ext uri="{FF2B5EF4-FFF2-40B4-BE49-F238E27FC236}">
                <a16:creationId xmlns:a16="http://schemas.microsoft.com/office/drawing/2014/main" id="{DE37B2E9-3C4D-0AA7-BDD2-674721D7E296}"/>
              </a:ext>
            </a:extLst>
          </p:cNvPr>
          <p:cNvSpPr txBox="1"/>
          <p:nvPr/>
        </p:nvSpPr>
        <p:spPr>
          <a:xfrm>
            <a:off x="461954" y="1098362"/>
            <a:ext cx="11293795" cy="4661276"/>
          </a:xfrm>
          <a:prstGeom prst="rect">
            <a:avLst/>
          </a:prstGeom>
          <a:noFill/>
          <a:ln>
            <a:noFill/>
          </a:ln>
        </p:spPr>
        <p:txBody>
          <a:bodyPr wrap="square" rtlCol="0">
            <a:spAutoFit/>
          </a:bodyPr>
          <a:lstStyle/>
          <a:p>
            <a:pPr>
              <a:lnSpc>
                <a:spcPct val="150000"/>
              </a:lnSpc>
            </a:pPr>
            <a:r>
              <a:rPr lang="en-GB" sz="2000" dirty="0">
                <a:ln w="10160">
                  <a:solidFill>
                    <a:schemeClr val="bg1"/>
                  </a:solidFill>
                  <a:prstDash val="solid"/>
                </a:ln>
                <a:solidFill>
                  <a:schemeClr val="bg1"/>
                </a:solidFill>
                <a:effectLst>
                  <a:outerShdw blurRad="38100" dist="22860" dir="5400000" algn="tl" rotWithShape="0">
                    <a:srgbClr val="000000">
                      <a:alpha val="30000"/>
                    </a:srgbClr>
                  </a:outerShdw>
                </a:effectLst>
                <a:latin typeface="Alata" pitchFamily="2" charset="0"/>
                <a:cs typeface="Alata" pitchFamily="2" charset="0"/>
              </a:rPr>
              <a:t>A multimodal Child and Pet Presence Detection (CPPD) prototype was successfully developed and validated to prevent vehicular heatstroke caused by Forgotten Baby Syndrome.</a:t>
            </a:r>
          </a:p>
          <a:p>
            <a:pPr>
              <a:lnSpc>
                <a:spcPct val="150000"/>
              </a:lnSpc>
            </a:pPr>
            <a:r>
              <a:rPr lang="en-GB" sz="2000" dirty="0">
                <a:ln w="10160">
                  <a:solidFill>
                    <a:schemeClr val="bg1"/>
                  </a:solidFill>
                  <a:prstDash val="solid"/>
                </a:ln>
                <a:solidFill>
                  <a:schemeClr val="bg1"/>
                </a:solidFill>
                <a:effectLst>
                  <a:outerShdw blurRad="38100" dist="22860" dir="5400000" algn="tl" rotWithShape="0">
                    <a:srgbClr val="000000">
                      <a:alpha val="30000"/>
                    </a:srgbClr>
                  </a:outerShdw>
                </a:effectLst>
                <a:latin typeface="Alata" pitchFamily="2" charset="0"/>
                <a:cs typeface="Alata" pitchFamily="2" charset="0"/>
              </a:rPr>
              <a:t>The system combines vision and audio processing on a Raspberry Pi 3B+ to overcome limitations of camera-only solutions (e.g., low light, occlusion, blind spots).</a:t>
            </a:r>
          </a:p>
          <a:p>
            <a:pPr>
              <a:lnSpc>
                <a:spcPct val="150000"/>
              </a:lnSpc>
            </a:pPr>
            <a:r>
              <a:rPr lang="en-GB" sz="2000" dirty="0">
                <a:ln w="10160">
                  <a:solidFill>
                    <a:schemeClr val="bg1"/>
                  </a:solidFill>
                  <a:prstDash val="solid"/>
                </a:ln>
                <a:solidFill>
                  <a:schemeClr val="bg1"/>
                </a:solidFill>
                <a:effectLst>
                  <a:outerShdw blurRad="38100" dist="22860" dir="5400000" algn="tl" rotWithShape="0">
                    <a:srgbClr val="000000">
                      <a:alpha val="30000"/>
                    </a:srgbClr>
                  </a:outerShdw>
                </a:effectLst>
                <a:latin typeface="Alata" pitchFamily="2" charset="0"/>
                <a:cs typeface="Alata" pitchFamily="2" charset="0"/>
              </a:rPr>
              <a:t>Optimizing the architecture from sequential to parallel processing reduced detection time from 6s to 3.32s, enhancing real-time responsiveness.</a:t>
            </a:r>
          </a:p>
          <a:p>
            <a:pPr>
              <a:lnSpc>
                <a:spcPct val="150000"/>
              </a:lnSpc>
            </a:pPr>
            <a:r>
              <a:rPr lang="en-GB" sz="2000" dirty="0">
                <a:ln w="10160">
                  <a:solidFill>
                    <a:schemeClr val="bg1"/>
                  </a:solidFill>
                  <a:prstDash val="solid"/>
                </a:ln>
                <a:solidFill>
                  <a:schemeClr val="bg1"/>
                </a:solidFill>
                <a:effectLst>
                  <a:outerShdw blurRad="38100" dist="22860" dir="5400000" algn="tl" rotWithShape="0">
                    <a:srgbClr val="000000">
                      <a:alpha val="30000"/>
                    </a:srgbClr>
                  </a:outerShdw>
                </a:effectLst>
                <a:latin typeface="Alata" pitchFamily="2" charset="0"/>
                <a:cs typeface="Alata" pitchFamily="2" charset="0"/>
              </a:rPr>
              <a:t>Decision-level fusion allows the system to distinguish between safe (adult present) and critical (unattended child/pet) scenarios and send immediate alerts.</a:t>
            </a:r>
          </a:p>
          <a:p>
            <a:pPr>
              <a:lnSpc>
                <a:spcPct val="150000"/>
              </a:lnSpc>
            </a:pPr>
            <a:r>
              <a:rPr lang="en-GB" sz="2000" dirty="0">
                <a:ln w="10160">
                  <a:solidFill>
                    <a:schemeClr val="bg1"/>
                  </a:solidFill>
                  <a:prstDash val="solid"/>
                </a:ln>
                <a:solidFill>
                  <a:schemeClr val="bg1"/>
                </a:solidFill>
                <a:effectLst>
                  <a:outerShdw blurRad="38100" dist="22860" dir="5400000" algn="tl" rotWithShape="0">
                    <a:srgbClr val="000000">
                      <a:alpha val="30000"/>
                    </a:srgbClr>
                  </a:outerShdw>
                </a:effectLst>
                <a:latin typeface="Alata" pitchFamily="2" charset="0"/>
                <a:cs typeface="Alata" pitchFamily="2" charset="0"/>
              </a:rPr>
              <a:t>Results confirm that a low-cost edge-computing solution can deliver reasonable accuracy and fast response, making it a practical automotive safety enhancement.</a:t>
            </a:r>
            <a:endParaRPr lang="it-IT" sz="2000" dirty="0">
              <a:ln w="10160">
                <a:solidFill>
                  <a:schemeClr val="bg1"/>
                </a:solidFill>
                <a:prstDash val="solid"/>
              </a:ln>
              <a:solidFill>
                <a:schemeClr val="bg1"/>
              </a:solidFill>
              <a:effectLst>
                <a:outerShdw blurRad="38100" dist="22860" dir="5400000" algn="tl" rotWithShape="0">
                  <a:srgbClr val="000000">
                    <a:alpha val="30000"/>
                  </a:srgbClr>
                </a:outerShdw>
              </a:effectLst>
              <a:latin typeface="Alata" pitchFamily="2" charset="0"/>
              <a:cs typeface="Alata" pitchFamily="2" charset="0"/>
            </a:endParaRPr>
          </a:p>
        </p:txBody>
      </p:sp>
    </p:spTree>
    <p:extLst>
      <p:ext uri="{BB962C8B-B14F-4D97-AF65-F5344CB8AC3E}">
        <p14:creationId xmlns:p14="http://schemas.microsoft.com/office/powerpoint/2010/main" val="24053261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70555D-CDC2-9E48-EC5E-A36275ABE801}"/>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7D059707-ABB8-7306-F2D3-D23E5F9556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50F8D1F-3AEE-6C72-CF3C-EA5900E9A7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E490682-32AC-C59B-21F4-AD49D14302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A5704068-DFFC-F216-972E-6851F5B3BD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F384DDC9-749A-4BD5-191C-14584DF837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D6888E42-8032-5DD2-7299-782126934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0D10D948-9F74-C590-5A5A-95AE7B888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EFDEBB17-576E-2C11-67FE-CF9720504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CasellaDiTesto 4">
            <a:extLst>
              <a:ext uri="{FF2B5EF4-FFF2-40B4-BE49-F238E27FC236}">
                <a16:creationId xmlns:a16="http://schemas.microsoft.com/office/drawing/2014/main" id="{3D7D61FB-86AF-AD83-4DE8-77DE18C7D4D5}"/>
              </a:ext>
            </a:extLst>
          </p:cNvPr>
          <p:cNvSpPr txBox="1"/>
          <p:nvPr/>
        </p:nvSpPr>
        <p:spPr>
          <a:xfrm>
            <a:off x="3889795" y="2898496"/>
            <a:ext cx="4438113" cy="1077218"/>
          </a:xfrm>
          <a:prstGeom prst="rect">
            <a:avLst/>
          </a:prstGeom>
          <a:noFill/>
        </p:spPr>
        <p:txBody>
          <a:bodyPr wrap="square" lIns="91440" tIns="45720" rIns="91440" bIns="45720" rtlCol="0" anchor="ctr">
            <a:spAutoFit/>
          </a:bodyPr>
          <a:lstStyle/>
          <a:p>
            <a:pPr algn="ctr"/>
            <a:r>
              <a:rPr lang="it-IT" sz="3200" dirty="0">
                <a:solidFill>
                  <a:schemeClr val="bg1"/>
                </a:solidFill>
                <a:latin typeface="Alata"/>
                <a:cs typeface="Alata" pitchFamily="2" charset="0"/>
              </a:rPr>
              <a:t>THANKS FOR YOUR ATTENTION</a:t>
            </a:r>
            <a:endParaRPr lang="en-GB" sz="3200" dirty="0">
              <a:solidFill>
                <a:schemeClr val="bg1"/>
              </a:solidFill>
              <a:latin typeface="Alata"/>
              <a:cs typeface="Alata" pitchFamily="2" charset="0"/>
            </a:endParaRPr>
          </a:p>
        </p:txBody>
      </p:sp>
    </p:spTree>
    <p:extLst>
      <p:ext uri="{BB962C8B-B14F-4D97-AF65-F5344CB8AC3E}">
        <p14:creationId xmlns:p14="http://schemas.microsoft.com/office/powerpoint/2010/main" val="26373661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2E2450E-A8F6-4E00-B6BC-6719C9D3B931}">
  <we:reference id="wa200005566" version="3.0.0.3" store="it-IT" storeType="OMEX"/>
  <we:alternateReferences>
    <we:reference id="WA200005566" version="3.0.0.3"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9EE5293BC3FBD478AD0CE2182A9D097" ma:contentTypeVersion="11" ma:contentTypeDescription="Create a new document." ma:contentTypeScope="" ma:versionID="6761d72665e73a93799e3bb772c29e65">
  <xsd:schema xmlns:xsd="http://www.w3.org/2001/XMLSchema" xmlns:xs="http://www.w3.org/2001/XMLSchema" xmlns:p="http://schemas.microsoft.com/office/2006/metadata/properties" xmlns:ns2="8e114bc7-942e-4ddf-ab07-939adb983b52" xmlns:ns3="e4bfb326-5118-4cdd-ae57-1d0e98a28079" targetNamespace="http://schemas.microsoft.com/office/2006/metadata/properties" ma:root="true" ma:fieldsID="0720ca2e7b1f22717c61d1f26c0670bf" ns2:_="" ns3:_="">
    <xsd:import namespace="8e114bc7-942e-4ddf-ab07-939adb983b52"/>
    <xsd:import namespace="e4bfb326-5118-4cdd-ae57-1d0e98a2807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e114bc7-942e-4ddf-ab07-939adb983b5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4916a575-a2c4-47fb-bb3c-b06084ed5815"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4bfb326-5118-4cdd-ae57-1d0e98a2807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b3c54b8-335e-4269-8c77-e05ba4c0707e}" ma:internalName="TaxCatchAll" ma:showField="CatchAllData" ma:web="e4bfb326-5118-4cdd-ae57-1d0e98a280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e114bc7-942e-4ddf-ab07-939adb983b52">
      <Terms xmlns="http://schemas.microsoft.com/office/infopath/2007/PartnerControls"/>
    </lcf76f155ced4ddcb4097134ff3c332f>
    <TaxCatchAll xmlns="e4bfb326-5118-4cdd-ae57-1d0e98a2807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6B4E9FC-2476-486F-A087-70B2E5C8E741}">
  <ds:schemaRefs>
    <ds:schemaRef ds:uri="8e114bc7-942e-4ddf-ab07-939adb983b52"/>
    <ds:schemaRef ds:uri="e4bfb326-5118-4cdd-ae57-1d0e98a2807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733E8C4-7381-4BD4-A860-6B47F5EE1087}">
  <ds:schemaRefs>
    <ds:schemaRef ds:uri="http://schemas.microsoft.com/office/2006/documentManagement/types"/>
    <ds:schemaRef ds:uri="http://schemas.openxmlformats.org/package/2006/metadata/core-properties"/>
    <ds:schemaRef ds:uri="http://schemas.microsoft.com/office/2006/metadata/properties"/>
    <ds:schemaRef ds:uri="http://www.w3.org/XML/1998/namespace"/>
    <ds:schemaRef ds:uri="8e114bc7-942e-4ddf-ab07-939adb983b52"/>
    <ds:schemaRef ds:uri="http://purl.org/dc/terms/"/>
    <ds:schemaRef ds:uri="e4bfb326-5118-4cdd-ae57-1d0e98a28079"/>
    <ds:schemaRef ds:uri="http://purl.org/dc/dcmitype/"/>
    <ds:schemaRef ds:uri="http://schemas.microsoft.com/office/infopath/2007/PartnerControls"/>
    <ds:schemaRef ds:uri="http://purl.org/dc/elements/1.1/"/>
  </ds:schemaRefs>
</ds:datastoreItem>
</file>

<file path=customXml/itemProps3.xml><?xml version="1.0" encoding="utf-8"?>
<ds:datastoreItem xmlns:ds="http://schemas.openxmlformats.org/officeDocument/2006/customXml" ds:itemID="{2AA30267-48FB-42A9-BE28-0582362C0E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guardian3_new</Template>
  <TotalTime>177</TotalTime>
  <Words>2234</Words>
  <Application>Microsoft Office PowerPoint</Application>
  <PresentationFormat>Widescreen</PresentationFormat>
  <Paragraphs>298</Paragraphs>
  <Slides>36</Slides>
  <Notes>1</Notes>
  <HiddenSlides>0</HiddenSlides>
  <MMClips>0</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36</vt:i4>
      </vt:variant>
    </vt:vector>
  </HeadingPairs>
  <TitlesOfParts>
    <vt:vector size="44" baseType="lpstr">
      <vt:lpstr>Alata</vt:lpstr>
      <vt:lpstr>Aptos</vt:lpstr>
      <vt:lpstr>Aptos Display</vt:lpstr>
      <vt:lpstr>Arial</vt:lpstr>
      <vt:lpstr>Cambria Math</vt:lpstr>
      <vt:lpstr>Cormorant SC Light</vt:lpstr>
      <vt:lpstr>Courier New</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Carlo Pio Pace</dc:creator>
  <cp:lastModifiedBy>Carlo Pio Pace</cp:lastModifiedBy>
  <cp:revision>7</cp:revision>
  <dcterms:created xsi:type="dcterms:W3CDTF">2026-01-20T20:06:44Z</dcterms:created>
  <dcterms:modified xsi:type="dcterms:W3CDTF">2026-02-23T20:37:12Z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0x010100D9EE5293BC3FBD478AD0CE2182A9D097</vt:lpwstr>
  </property>
  <property fmtid="{D5CDD505-2E9C-101B-9397-08002B2CF9AE}" pid="3" name="MediaServiceImageTags">
    <vt:lpwstr/>
  </property>
</Properties>
</file>